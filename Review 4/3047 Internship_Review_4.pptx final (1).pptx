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9" r:id="rId2"/>
    <p:sldId id="260" r:id="rId3"/>
    <p:sldId id="280" r:id="rId4"/>
    <p:sldId id="270" r:id="rId5"/>
    <p:sldId id="282" r:id="rId6"/>
    <p:sldId id="271" r:id="rId7"/>
    <p:sldId id="272" r:id="rId8"/>
    <p:sldId id="274" r:id="rId9"/>
    <p:sldId id="275" r:id="rId10"/>
    <p:sldId id="276" r:id="rId11"/>
    <p:sldId id="277" r:id="rId12"/>
    <p:sldId id="279" r:id="rId13"/>
    <p:sldId id="281" r:id="rId14"/>
    <p:sldId id="278" r:id="rId15"/>
    <p:sldId id="283" r:id="rId16"/>
    <p:sldId id="284" r:id="rId17"/>
    <p:sldId id="285" r:id="rId18"/>
    <p:sldId id="286" r:id="rId19"/>
    <p:sldId id="289" r:id="rId20"/>
    <p:sldId id="290" r:id="rId21"/>
    <p:sldId id="287" r:id="rId22"/>
    <p:sldId id="288" r:id="rId23"/>
    <p:sldId id="266" r:id="rId24"/>
    <p:sldId id="267" r:id="rId25"/>
    <p:sldId id="26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0" autoAdjust="0"/>
    <p:restoredTop sz="94660"/>
  </p:normalViewPr>
  <p:slideViewPr>
    <p:cSldViewPr snapToGrid="0">
      <p:cViewPr>
        <p:scale>
          <a:sx n="60" d="100"/>
          <a:sy n="60" d="100"/>
        </p:scale>
        <p:origin x="824" y="23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1" qsCatId="simple" csTypeId="urn:microsoft.com/office/officeart/2005/8/colors/colorful1#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5C3C918A-4C4A-4DEB-924A-CC330C09FB27}" type="presOf" srcId="{5E92505A-51E0-4F78-B3C5-704ACF8710DE}" destId="{2AAD338D-3122-4454-9A67-16BE024D44E3}"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D1BA1DD0-A52A-47BF-962D-9810C87E1576}" srcId="{5751524B-FB67-4894-A0C5-35151E149D68}" destId="{A59EC69B-8F3F-425B-819F-E8C557946AEE}" srcOrd="2" destOrd="0" parTransId="{0095C3CB-916F-4060-A8DA-DD282FB51587}" sibTransId="{2868AD8D-4E38-46CE-A972-709857BF40AC}"/>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173684" y="811639"/>
          <a:ext cx="1278320"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3DE52A-2F45-45E6-AD0E-D5BEAF609F8E}">
      <dsp:nvSpPr>
        <dsp:cNvPr id="0" name=""/>
        <dsp:cNvSpPr/>
      </dsp:nvSpPr>
      <dsp:spPr>
        <a:xfrm>
          <a:off x="7173684" y="0"/>
          <a:ext cx="1278320" cy="81163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66675" rIns="66675" bIns="66675"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Final Review</a:t>
          </a:r>
        </a:p>
      </dsp:txBody>
      <dsp:txXfrm>
        <a:off x="7173684" y="0"/>
        <a:ext cx="1278320" cy="811639"/>
      </dsp:txXfrm>
    </dsp:sp>
    <dsp:sp modelId="{FC0F1314-3294-4A8C-8DCE-EB53E236164C}">
      <dsp:nvSpPr>
        <dsp:cNvPr id="0" name=""/>
        <dsp:cNvSpPr/>
      </dsp:nvSpPr>
      <dsp:spPr>
        <a:xfrm>
          <a:off x="5898557" y="811639"/>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AAD338D-3122-4454-9A67-16BE024D44E3}">
      <dsp:nvSpPr>
        <dsp:cNvPr id="0" name=""/>
        <dsp:cNvSpPr/>
      </dsp:nvSpPr>
      <dsp:spPr>
        <a:xfrm>
          <a:off x="5898557"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66675" rIns="66675" bIns="66675"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Review 4</a:t>
          </a:r>
        </a:p>
      </dsp:txBody>
      <dsp:txXfrm>
        <a:off x="5898557" y="101454"/>
        <a:ext cx="1278320" cy="710184"/>
      </dsp:txXfrm>
    </dsp:sp>
    <dsp:sp modelId="{2532504F-5FE1-4C97-B485-F05E8885EACC}">
      <dsp:nvSpPr>
        <dsp:cNvPr id="0" name=""/>
        <dsp:cNvSpPr/>
      </dsp:nvSpPr>
      <dsp:spPr>
        <a:xfrm>
          <a:off x="4620236" y="811639"/>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675" tIns="66675" rIns="66675" bIns="66675" numCol="1" spcCol="1270" anchor="t" anchorCtr="0">
          <a:noAutofit/>
        </a:bodyPr>
        <a:lstStyle/>
        <a:p>
          <a:pPr marL="0" lvl="0" indent="0" algn="r" defTabSz="933450">
            <a:lnSpc>
              <a:spcPct val="90000"/>
            </a:lnSpc>
            <a:spcBef>
              <a:spcPct val="0"/>
            </a:spcBef>
            <a:spcAft>
              <a:spcPct val="35000"/>
            </a:spcAft>
            <a:buNone/>
          </a:pPr>
          <a:endParaRPr lang="en-US" sz="2100" kern="1200" dirty="0">
            <a:latin typeface="Times New Roman" panose="02020603050405020304" pitchFamily="18" charset="0"/>
            <a:cs typeface="Times New Roman" panose="02020603050405020304" pitchFamily="18" charset="0"/>
          </a:endParaRPr>
        </a:p>
      </dsp:txBody>
      <dsp:txXfrm>
        <a:off x="4782502" y="811639"/>
        <a:ext cx="1116055" cy="2840736"/>
      </dsp:txXfrm>
    </dsp:sp>
    <dsp:sp modelId="{4C66D42D-7E6D-4563-AFDC-369C30B73F70}">
      <dsp:nvSpPr>
        <dsp:cNvPr id="0" name=""/>
        <dsp:cNvSpPr/>
      </dsp:nvSpPr>
      <dsp:spPr>
        <a:xfrm>
          <a:off x="4620236"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66675" rIns="66675" bIns="66675"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Review 3</a:t>
          </a:r>
        </a:p>
      </dsp:txBody>
      <dsp:txXfrm>
        <a:off x="4620236" y="206156"/>
        <a:ext cx="1278320" cy="608729"/>
      </dsp:txXfrm>
    </dsp:sp>
    <dsp:sp modelId="{06F8D57B-EDF4-4CF4-8700-DC2CA3E3028E}">
      <dsp:nvSpPr>
        <dsp:cNvPr id="0" name=""/>
        <dsp:cNvSpPr/>
      </dsp:nvSpPr>
      <dsp:spPr>
        <a:xfrm>
          <a:off x="3341915" y="811639"/>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675" tIns="66675" rIns="66675" bIns="66675" numCol="1" spcCol="1270" anchor="t" anchorCtr="0">
          <a:noAutofit/>
        </a:bodyPr>
        <a:lstStyle/>
        <a:p>
          <a:pPr marL="0" lvl="0" indent="0" algn="r" defTabSz="933450">
            <a:lnSpc>
              <a:spcPct val="90000"/>
            </a:lnSpc>
            <a:spcBef>
              <a:spcPct val="0"/>
            </a:spcBef>
            <a:spcAft>
              <a:spcPct val="35000"/>
            </a:spcAft>
            <a:buNone/>
          </a:pPr>
          <a:endParaRPr lang="en-US" sz="2100" kern="1200" dirty="0">
            <a:latin typeface="Times New Roman" panose="02020603050405020304" pitchFamily="18" charset="0"/>
            <a:cs typeface="Times New Roman" panose="02020603050405020304" pitchFamily="18" charset="0"/>
          </a:endParaRPr>
        </a:p>
      </dsp:txBody>
      <dsp:txXfrm>
        <a:off x="3504181" y="811639"/>
        <a:ext cx="1116055" cy="2637826"/>
      </dsp:txXfrm>
    </dsp:sp>
    <dsp:sp modelId="{00BB3360-A9BB-4051-A4B1-1216F82F642C}">
      <dsp:nvSpPr>
        <dsp:cNvPr id="0" name=""/>
        <dsp:cNvSpPr/>
      </dsp:nvSpPr>
      <dsp:spPr>
        <a:xfrm>
          <a:off x="3341915"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66675" rIns="66675" bIns="66675"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Review 2</a:t>
          </a:r>
        </a:p>
      </dsp:txBody>
      <dsp:txXfrm>
        <a:off x="3341915" y="304364"/>
        <a:ext cx="1278320" cy="507274"/>
      </dsp:txXfrm>
    </dsp:sp>
    <dsp:sp modelId="{A134CDD1-D85F-44EF-8BEE-9F99A855C1E6}">
      <dsp:nvSpPr>
        <dsp:cNvPr id="0" name=""/>
        <dsp:cNvSpPr/>
      </dsp:nvSpPr>
      <dsp:spPr>
        <a:xfrm>
          <a:off x="2063594" y="811639"/>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675" tIns="66675" rIns="66675" bIns="66675" numCol="1" spcCol="1270" anchor="t" anchorCtr="0">
          <a:noAutofit/>
        </a:bodyPr>
        <a:lstStyle/>
        <a:p>
          <a:pPr marL="0" lvl="0" indent="0" algn="r" defTabSz="933450">
            <a:lnSpc>
              <a:spcPct val="90000"/>
            </a:lnSpc>
            <a:spcBef>
              <a:spcPct val="0"/>
            </a:spcBef>
            <a:spcAft>
              <a:spcPct val="35000"/>
            </a:spcAft>
            <a:buNone/>
          </a:pPr>
          <a:endParaRPr lang="en-US" sz="2100" kern="1200" dirty="0">
            <a:latin typeface="Times New Roman" panose="02020603050405020304" pitchFamily="18" charset="0"/>
            <a:cs typeface="Times New Roman" panose="02020603050405020304" pitchFamily="18" charset="0"/>
          </a:endParaRPr>
        </a:p>
      </dsp:txBody>
      <dsp:txXfrm>
        <a:off x="2225860" y="811639"/>
        <a:ext cx="1116055" cy="2434917"/>
      </dsp:txXfrm>
    </dsp:sp>
    <dsp:sp modelId="{65257024-FAC0-4522-B139-1CC85B547BE8}">
      <dsp:nvSpPr>
        <dsp:cNvPr id="0" name=""/>
        <dsp:cNvSpPr/>
      </dsp:nvSpPr>
      <dsp:spPr>
        <a:xfrm>
          <a:off x="2063594"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66675" rIns="66675" bIns="66675"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Review 1</a:t>
          </a:r>
        </a:p>
      </dsp:txBody>
      <dsp:txXfrm>
        <a:off x="2063594"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presOf axis="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15/04/2026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F66083A-C1B7-4B46-82C5-289BB6E6D5A4}" type="datetime1">
              <a:rPr lang="en-IN" smtClean="0"/>
              <a:t>15/04/26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t>15/04/26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3E8F52-857A-4C89-954C-57943DB51290}" type="datetime1">
              <a:rPr lang="en-IN" smtClean="0"/>
              <a:t>15/04/26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BBD7B4D-DDD6-4CA2-87A0-9BDD5E5268EC}" type="datetime1">
              <a:rPr lang="en-IN" smtClean="0"/>
              <a:t>15/04/26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130D9E5-0635-43A8-8973-488E7408FAF7}" type="datetime1">
              <a:rPr lang="en-IN" smtClean="0"/>
              <a:t>15/04/26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1D0CEA8-D591-4CC9-939A-A3BE6FD93E89}" type="datetime1">
              <a:rPr lang="en-IN" smtClean="0"/>
              <a:t>15/04/26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BE2297-DC8B-48E6-B6D6-34773F9A5984}" type="datetime1">
              <a:rPr lang="en-IN" smtClean="0"/>
              <a:t>15/04/26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C2A547-6E4B-4188-9BD5-035CB9C4BCC5}" type="datetime1">
              <a:rPr lang="en-IN" smtClean="0"/>
              <a:t>15/04/26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706E29-16A1-4AAE-B55B-4E3DB7265605}" type="datetime1">
              <a:rPr lang="en-IN" smtClean="0"/>
              <a:t>15/04/26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FC26915-BE00-456E-A9CA-DB9FE1FD674A}" type="datetime1">
              <a:rPr lang="en-IN" smtClean="0"/>
              <a:t>15/04/26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AA2D233-408A-4415-B919-B7ECAA5043E2}" type="datetime1">
              <a:rPr lang="en-IN" smtClean="0"/>
              <a:t>15/04/26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15/04/26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lang="en-GB"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ctr" rtl="0">
              <a:spcBef>
                <a:spcPts val="0"/>
              </a:spcBef>
              <a:spcAft>
                <a:spcPts val="0"/>
              </a:spcAft>
              <a:buClr>
                <a:srgbClr val="17365D"/>
              </a:buClr>
              <a:buSzPts val="20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Mr. Sakthi S</a:t>
            </a:r>
          </a:p>
          <a:p>
            <a:pPr marL="0" marR="0" lvl="0" indent="0" algn="ctr"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sz="2000"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School of CSE</a:t>
            </a:r>
            <a:endParaRPr sz="2000"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sz="20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Program:</a:t>
            </a:r>
            <a:r>
              <a:rPr lang="en-US" sz="2000" b="1" dirty="0">
                <a:solidFill>
                  <a:schemeClr val="bg2">
                    <a:lumMod val="10000"/>
                  </a:schemeClr>
                </a:solidFill>
                <a:latin typeface="Cambria" panose="02040503050406030204"/>
                <a:ea typeface="Cambria" panose="02040503050406030204"/>
                <a:cs typeface="Verdana" panose="020B0604030504040204"/>
                <a:sym typeface="Verdana" panose="020B0604030504040204"/>
              </a:rPr>
              <a:t> Internship</a:t>
            </a:r>
            <a:endParaRPr lang="en-US" sz="2000" b="1" i="0" u="none" strike="noStrike" cap="none" dirty="0">
              <a:solidFill>
                <a:schemeClr val="bg2">
                  <a:lumMod val="10000"/>
                </a:schemeClr>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a:t>
            </a:r>
            <a:r>
              <a:rPr lang="en-US" sz="2000" b="1" err="1">
                <a:solidFill>
                  <a:schemeClr val="accent1"/>
                </a:solidFill>
                <a:latin typeface="Cambria" panose="02040503050406030204"/>
                <a:ea typeface="Cambria" panose="02040503050406030204"/>
                <a:cs typeface="Verdana" panose="020B0604030504040204"/>
                <a:sym typeface="Verdana" panose="020B0604030504040204"/>
              </a:rPr>
              <a:t>HoD</a:t>
            </a:r>
            <a:r>
              <a:rPr lang="en-US" sz="2000" b="1" dirty="0">
                <a:solidFill>
                  <a:schemeClr val="accent1"/>
                </a:solidFill>
                <a:latin typeface="Cambria" panose="02040503050406030204"/>
                <a:ea typeface="Cambria" panose="02040503050406030204"/>
                <a:cs typeface="Verdana" panose="020B0604030504040204"/>
                <a:sym typeface="Verdana" panose="020B0604030504040204"/>
              </a:rPr>
              <a:t>: </a:t>
            </a:r>
            <a:r>
              <a:rPr lang="en-US" sz="2000" b="1" dirty="0">
                <a:solidFill>
                  <a:schemeClr val="bg2">
                    <a:lumMod val="10000"/>
                  </a:schemeClr>
                </a:solidFill>
                <a:latin typeface="Cambria" panose="02040503050406030204"/>
                <a:ea typeface="Cambria" panose="02040503050406030204"/>
                <a:cs typeface="Verdana" panose="020B0604030504040204"/>
                <a:sym typeface="Verdana" panose="020B0604030504040204"/>
              </a:rPr>
              <a:t>Dr. Blessed Prince</a:t>
            </a:r>
            <a:endParaRPr lang="en-US" sz="2000" b="1">
              <a:solidFill>
                <a:schemeClr val="bg2">
                  <a:lumMod val="10000"/>
                </a:schemeClr>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Program Internship Coordinator: </a:t>
            </a:r>
            <a:r>
              <a:rPr lang="en-US" sz="2000" b="1" dirty="0">
                <a:solidFill>
                  <a:schemeClr val="bg2">
                    <a:lumMod val="10000"/>
                  </a:schemeClr>
                </a:solidFill>
                <a:latin typeface="Cambria" panose="02040503050406030204"/>
                <a:ea typeface="Cambria" panose="02040503050406030204"/>
                <a:cs typeface="Verdana" panose="020B0604030504040204"/>
                <a:sym typeface="Verdana" panose="020B0604030504040204"/>
              </a:rPr>
              <a:t>Ms. Vidya R</a:t>
            </a:r>
            <a:endParaRPr lang="en-US" sz="2000" b="1" i="0" u="none" strike="noStrike" cap="none" dirty="0">
              <a:solidFill>
                <a:schemeClr val="bg2">
                  <a:lumMod val="10000"/>
                </a:schemeClr>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School Internship Coordinator: Dr. </a:t>
            </a:r>
            <a:r>
              <a:rPr lang="en-US" sz="2000" b="1" dirty="0">
                <a:solidFill>
                  <a:srgbClr val="000000"/>
                </a:solidFill>
                <a:latin typeface="Cambria" panose="02040503050406030204"/>
                <a:ea typeface="Cambria" panose="02040503050406030204"/>
                <a:cs typeface="Verdana" panose="020B0604030504040204"/>
                <a:sym typeface="Verdana" panose="020B0604030504040204"/>
              </a:rPr>
              <a:t>Md Ziaur Rahman</a:t>
            </a:r>
            <a:endParaRPr lang="en-US" sz="2000" b="1" dirty="0">
              <a:solidFill>
                <a:schemeClr val="accent1"/>
              </a:solidFill>
              <a:latin typeface="Cambria" panose="02040503050406030204"/>
              <a:ea typeface="Cambria" panose="02040503050406030204"/>
              <a:cs typeface="Verdana" panose="020B0604030504040204"/>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10" name="Table 9"/>
          <p:cNvGraphicFramePr>
            <a:graphicFrameLocks noGrp="1"/>
          </p:cNvGraphicFramePr>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0000"/>
                    </a:ext>
                  </a:extLst>
                </a:gridCol>
                <a:gridCol w="3950282">
                  <a:extLst>
                    <a:ext uri="{9D8B030D-6E8A-4147-A177-3AD203B41FA5}">
                      <a16:colId xmlns:a16="http://schemas.microsoft.com/office/drawing/2014/main" val="2000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endParaRPr lang="en-US"/>
                    </a:p>
                  </a:txBody>
                  <a:tcPr/>
                </a:tc>
                <a:extLst>
                  <a:ext uri="{0D108BD9-81ED-4DB2-BD59-A6C34878D82A}">
                    <a16:rowId xmlns:a16="http://schemas.microsoft.com/office/drawing/2014/main" val="10000"/>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a:ea typeface="Cambria" panose="02040503050406030204"/>
                          <a:cs typeface="Times New Roman" panose="02020603050405020304"/>
                        </a:rPr>
                        <a:t>KARTHIK</a:t>
                      </a:r>
                    </a:p>
                  </a:txBody>
                  <a:tcPr/>
                </a:tc>
                <a:extLst>
                  <a:ext uri="{0D108BD9-81ED-4DB2-BD59-A6C34878D82A}">
                    <a16:rowId xmlns:a16="http://schemas.microsoft.com/office/drawing/2014/main" val="10001"/>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a:ea typeface="Cambria" panose="02040503050406030204"/>
                          <a:cs typeface="Times New Roman" panose="02020603050405020304"/>
                        </a:rPr>
                        <a:t>20231CSE3047</a:t>
                      </a:r>
                      <a:endParaRPr lang="en-US" dirty="0"/>
                    </a:p>
                  </a:txBody>
                  <a:tcPr/>
                </a:tc>
                <a:extLst>
                  <a:ext uri="{0D108BD9-81ED-4DB2-BD59-A6C34878D82A}">
                    <a16:rowId xmlns:a16="http://schemas.microsoft.com/office/drawing/2014/main" val="100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a:ea typeface="Cambria" panose="02040503050406030204"/>
                          <a:cs typeface="Times New Roman" panose="02020603050405020304"/>
                        </a:rPr>
                        <a:t>8CSE07</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graphicFrame>
        <p:nvGraphicFramePr>
          <p:cNvPr id="3" name="Table 2"/>
          <p:cNvGraphicFramePr>
            <a:graphicFrameLocks noGrp="1"/>
          </p:cNvGraphicFramePr>
          <p:nvPr>
            <p:custDataLst>
              <p:tags r:id="rId1"/>
            </p:custDataLst>
          </p:nvPr>
        </p:nvGraphicFramePr>
        <p:xfrm>
          <a:off x="979805" y="0"/>
          <a:ext cx="9084310" cy="3230880"/>
        </p:xfrm>
        <a:graphic>
          <a:graphicData uri="http://schemas.openxmlformats.org/drawingml/2006/table">
            <a:tbl>
              <a:tblPr firstRow="1" bandRow="1">
                <a:tableStyleId>{2D5ABB26-0587-4C30-8999-92F81FD0307C}</a:tableStyleId>
              </a:tblPr>
              <a:tblGrid>
                <a:gridCol w="9084310">
                  <a:extLst>
                    <a:ext uri="{9D8B030D-6E8A-4147-A177-3AD203B41FA5}">
                      <a16:colId xmlns:a16="http://schemas.microsoft.com/office/drawing/2014/main" val="20000"/>
                    </a:ext>
                  </a:extLst>
                </a:gridCol>
              </a:tblGrid>
              <a:tr h="3230880">
                <a:tc>
                  <a:txBody>
                    <a:bodyPr/>
                    <a:lstStyle/>
                    <a:p>
                      <a:pPr lvl="0" algn="ctr">
                        <a:lnSpc>
                          <a:spcPct val="100000"/>
                        </a:lnSpc>
                        <a:spcBef>
                          <a:spcPts val="0"/>
                        </a:spcBef>
                        <a:spcAft>
                          <a:spcPts val="0"/>
                        </a:spcAft>
                        <a:buNone/>
                      </a:pPr>
                      <a:r>
                        <a:rPr lang="en-US" altLang="en-US" sz="2000" b="1" dirty="0">
                          <a:solidFill>
                            <a:schemeClr val="accent1">
                              <a:lumMod val="50000"/>
                            </a:schemeClr>
                          </a:solidFill>
                          <a:latin typeface="Times New Roman" panose="02020603050405020304" pitchFamily="18" charset="0"/>
                          <a:cs typeface="Times New Roman" panose="02020603050405020304" pitchFamily="18" charset="0"/>
                          <a:sym typeface="+mn-ea"/>
                        </a:rPr>
                        <a:t>CSE7302 - INTERNSHIP</a:t>
                      </a:r>
                      <a:br>
                        <a:rPr lang="en-US" sz="2000" b="0" i="0" u="none" strike="noStrike" noProof="0" dirty="0">
                          <a:solidFill>
                            <a:srgbClr val="2F5597"/>
                          </a:solidFill>
                          <a:latin typeface="Times New Roman" panose="02020603050405020304"/>
                          <a:cs typeface="Times New Roman" panose="02020603050405020304"/>
                        </a:rPr>
                      </a:br>
                      <a:r>
                        <a:rPr lang="en-US" sz="2000" b="1" i="0" u="none" strike="noStrike" noProof="0" dirty="0">
                          <a:solidFill>
                            <a:schemeClr val="accent1"/>
                          </a:solidFill>
                          <a:latin typeface="Times New Roman" panose="02020603050405020304"/>
                          <a:cs typeface="Times New Roman" panose="02020603050405020304"/>
                        </a:rPr>
                        <a:t> </a:t>
                      </a:r>
                      <a:r>
                        <a:rPr lang="en-US" sz="2000" b="1" i="0" u="none" strike="noStrike" noProof="0">
                          <a:solidFill>
                            <a:schemeClr val="accent1"/>
                          </a:solidFill>
                          <a:latin typeface="Times New Roman" panose="02020603050405020304"/>
                          <a:cs typeface="Times New Roman" panose="02020603050405020304"/>
                        </a:rPr>
                        <a:t>Review- 4 Presentation</a:t>
                      </a:r>
                      <a:r>
                        <a:rPr lang="en-US" sz="2000" b="0" i="0" u="none" strike="noStrike" noProof="0">
                          <a:solidFill>
                            <a:schemeClr val="accent1"/>
                          </a:solidFill>
                          <a:latin typeface="Times New Roman" panose="02020603050405020304"/>
                          <a:cs typeface="Times New Roman" panose="02020603050405020304"/>
                        </a:rPr>
                        <a:t> </a:t>
                      </a:r>
                    </a:p>
                    <a:p>
                      <a:pPr algn="ctr">
                        <a:buNone/>
                      </a:pPr>
                      <a:r>
                        <a:rPr lang="en-US" sz="2000" b="1" dirty="0">
                          <a:solidFill>
                            <a:schemeClr val="accent1"/>
                          </a:solidFill>
                          <a:latin typeface="Times New Roman" panose="02020603050405020304"/>
                          <a:ea typeface="+mn-lt"/>
                          <a:cs typeface="Times New Roman" panose="02020603050405020304"/>
                          <a:sym typeface="+mn-ea"/>
                        </a:rPr>
                        <a:t>Web-Based Vehicle and Rail Wheel Monitoring System with</a:t>
                      </a:r>
                      <a:endParaRPr lang="en-US" sz="2000" dirty="0">
                        <a:solidFill>
                          <a:schemeClr val="accent1"/>
                        </a:solidFill>
                        <a:latin typeface="Times New Roman" panose="02020603050405020304"/>
                        <a:ea typeface="+mn-lt"/>
                        <a:cs typeface="Times New Roman" panose="02020603050405020304"/>
                      </a:endParaRPr>
                    </a:p>
                    <a:p>
                      <a:pPr algn="ctr">
                        <a:buNone/>
                      </a:pPr>
                      <a:r>
                        <a:rPr lang="en-US" sz="2000" b="1" dirty="0">
                          <a:solidFill>
                            <a:schemeClr val="accent1"/>
                          </a:solidFill>
                          <a:latin typeface="Times New Roman" panose="02020603050405020304"/>
                          <a:ea typeface="+mn-lt"/>
                          <a:cs typeface="Times New Roman" panose="02020603050405020304"/>
                          <a:sym typeface="+mn-ea"/>
                        </a:rPr>
                        <a:t> Object Detection</a:t>
                      </a:r>
                      <a:endParaRPr lang="en-US" sz="2000" dirty="0">
                        <a:solidFill>
                          <a:schemeClr val="accent1"/>
                        </a:solidFill>
                        <a:latin typeface="Times New Roman" panose="02020603050405020304"/>
                        <a:ea typeface="Calibri" panose="020F0502020204030204"/>
                        <a:cs typeface="Times New Roman" panose="02020603050405020304"/>
                      </a:endParaRPr>
                    </a:p>
                    <a:p>
                      <a:pPr lvl="0" algn="ctr">
                        <a:lnSpc>
                          <a:spcPct val="100000"/>
                        </a:lnSpc>
                        <a:spcBef>
                          <a:spcPts val="0"/>
                        </a:spcBef>
                        <a:spcAft>
                          <a:spcPts val="0"/>
                        </a:spcAft>
                        <a:buNone/>
                      </a:pPr>
                      <a:br>
                        <a:rPr lang="en-US" sz="2400" b="0" i="0" u="none" strike="noStrike" noProof="0" dirty="0">
                          <a:solidFill>
                            <a:srgbClr val="0070C0"/>
                          </a:solidFill>
                          <a:latin typeface="Times New Roman" panose="02020603050405020304"/>
                          <a:cs typeface="Times New Roman" panose="02020603050405020304"/>
                        </a:rPr>
                      </a:br>
                      <a:br>
                        <a:rPr lang="en-US" sz="2400" b="0" i="0" u="none" strike="noStrike" noProof="0" dirty="0">
                          <a:solidFill>
                            <a:srgbClr val="0070C0"/>
                          </a:solidFill>
                          <a:latin typeface="Times New Roman" panose="02020603050405020304"/>
                          <a:cs typeface="Times New Roman" panose="02020603050405020304"/>
                        </a:rPr>
                      </a:br>
                      <a:r>
                        <a:rPr lang="en-US" sz="2400" b="0" i="0" u="none" strike="noStrike" noProof="0" dirty="0">
                          <a:solidFill>
                            <a:srgbClr val="0070C0"/>
                          </a:solidFill>
                          <a:latin typeface="Times New Roman" panose="02020603050405020304"/>
                          <a:cs typeface="Times New Roman" panose="02020603050405020304"/>
                        </a:rPr>
                        <a:t> </a:t>
                      </a:r>
                      <a:endParaRPr lang="en-US" dirty="0"/>
                    </a:p>
                    <a:p>
                      <a:pPr lvl="0">
                        <a:buNone/>
                      </a:pPr>
                      <a:endParaRPr lang="en-US" dirty="0"/>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709478" y="274638"/>
            <a:ext cx="10771322"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800734"/>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sym typeface="+mn-ea"/>
              </a:rPr>
              <a:t>About Company or Organization</a:t>
            </a:r>
            <a:endParaRPr lang="en-US"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Objectives of the work</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Literature Review</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Proposed System</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Problem Statement</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System Requirements</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Advantages of Proposed System/Work</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System Design</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System Implementation</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Internship Roadmap</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Github Link</a:t>
            </a:r>
            <a:endParaRPr lang="en-US" sz="2000" b="1" dirty="0">
              <a:solidFill>
                <a:srgbClr val="0070C0"/>
              </a:solidFill>
              <a:latin typeface="Times New Roman" panose="02020603050405020304"/>
              <a:ea typeface="Cambria" panose="02040503050406030204" pitchFamily="18" charset="0"/>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 y="33655"/>
            <a:ext cx="10615295" cy="584200"/>
          </a:xfrm>
          <a:ln>
            <a:solidFill>
              <a:schemeClr val="accent1">
                <a:lumMod val="75000"/>
              </a:schemeClr>
            </a:solidFill>
          </a:ln>
        </p:spPr>
        <p:txBody>
          <a:bodyPr>
            <a:normAutofit fontScale="90000"/>
          </a:bodyPr>
          <a:lstStyle/>
          <a:p>
            <a:r>
              <a:rPr lang="en-US" sz="4000" b="1" dirty="0">
                <a:solidFill>
                  <a:srgbClr val="0070C0"/>
                </a:solidFill>
                <a:latin typeface="Times New Roman" panose="02020603050405020304" pitchFamily="18" charset="0"/>
                <a:cs typeface="Times New Roman" panose="02020603050405020304" pitchFamily="18" charset="0"/>
                <a:sym typeface="+mn-ea"/>
              </a:rPr>
              <a:t>About Company or Organization</a:t>
            </a:r>
            <a:endParaRPr lang="en-US" sz="4000">
              <a:solidFill>
                <a:schemeClr val="accent1"/>
              </a:solidFill>
              <a:latin typeface="Times New Roman" panose="02020603050405020304"/>
              <a:cs typeface="Times New Roman" panose="02020603050405020304"/>
            </a:endParaRPr>
          </a:p>
        </p:txBody>
      </p:sp>
      <p:pic>
        <p:nvPicPr>
          <p:cNvPr id="8" name="Content Placeholder 7" descr="0 Departures from Rail Wheel Factory Siding SWR/South Western Zone - Railway  Enquiry"/>
          <p:cNvPicPr>
            <a:picLocks noGrp="1" noChangeAspect="1"/>
          </p:cNvPicPr>
          <p:nvPr>
            <p:ph idx="1"/>
          </p:nvPr>
        </p:nvPicPr>
        <p:blipFill>
          <a:blip r:embed="rId2"/>
          <a:stretch>
            <a:fillRect/>
          </a:stretch>
        </p:blipFill>
        <p:spPr>
          <a:xfrm>
            <a:off x="5899854" y="1584875"/>
            <a:ext cx="5828580" cy="4002483"/>
          </a:xfrm>
          <a:prstGeom prst="rect">
            <a:avLst/>
          </a:prstGeom>
        </p:spPr>
      </p:pic>
      <p:sp>
        <p:nvSpPr>
          <p:cNvPr id="4" name="Text Placeholder 3"/>
          <p:cNvSpPr>
            <a:spLocks noGrp="1"/>
          </p:cNvSpPr>
          <p:nvPr>
            <p:ph type="body" sz="half" idx="2"/>
          </p:nvPr>
        </p:nvSpPr>
        <p:spPr>
          <a:xfrm>
            <a:off x="279901" y="618223"/>
            <a:ext cx="5159185" cy="4448125"/>
          </a:xfrm>
        </p:spPr>
        <p:txBody>
          <a:bodyPr vert="horz" lIns="91440" tIns="45720" rIns="91440" bIns="45720" rtlCol="0" anchor="t">
            <a:noAutofit/>
          </a:bodyPr>
          <a:lstStyle/>
          <a:p>
            <a:pPr marL="342900" indent="-342900">
              <a:buFont typeface="Wingdings" panose="05000000000000000000" pitchFamily="34" charset="0"/>
              <a:buChar char="Ø"/>
            </a:pPr>
            <a:r>
              <a:rPr lang="en-US" sz="2400" b="1">
                <a:latin typeface="Times New Roman" panose="02020603050405020304"/>
                <a:cs typeface="Times New Roman" panose="02020603050405020304"/>
              </a:rPr>
              <a:t>Organization Name</a:t>
            </a:r>
            <a:endParaRPr lang="en-US" sz="2400">
              <a:ea typeface="Calibri" panose="020F0502020204030204"/>
              <a:cs typeface="Calibri" panose="020F0502020204030204"/>
            </a:endParaRPr>
          </a:p>
          <a:p>
            <a:r>
              <a:rPr lang="en-US" sz="2400">
                <a:latin typeface="Times New Roman" panose="02020603050405020304"/>
                <a:ea typeface="+mn-lt"/>
                <a:cs typeface="Times New Roman" panose="02020603050405020304"/>
              </a:rPr>
              <a:t>Rail Wheel Factory (RWF)</a:t>
            </a:r>
            <a:endParaRPr lang="en-US" sz="2400">
              <a:latin typeface="Times New Roman" panose="02020603050405020304"/>
              <a:cs typeface="Times New Roman" panose="02020603050405020304"/>
            </a:endParaRPr>
          </a:p>
          <a:p>
            <a:pPr marL="285750" indent="-285750">
              <a:buFont typeface="Wingdings" panose="05000000000000000000" pitchFamily="34" charset="0"/>
              <a:buChar char="Ø"/>
            </a:pPr>
            <a:r>
              <a:rPr lang="en-US" sz="2400" b="1">
                <a:latin typeface="Times New Roman" panose="02020603050405020304"/>
                <a:cs typeface="Times New Roman" panose="02020603050405020304"/>
              </a:rPr>
              <a:t>Type</a:t>
            </a:r>
          </a:p>
          <a:p>
            <a:r>
              <a:rPr lang="en-US" sz="2400">
                <a:latin typeface="Times New Roman" panose="02020603050405020304"/>
                <a:ea typeface="+mn-lt"/>
                <a:cs typeface="Times New Roman" panose="02020603050405020304"/>
              </a:rPr>
              <a:t>Government of India Enterprise</a:t>
            </a:r>
            <a:br>
              <a:rPr lang="en-US" sz="2400" dirty="0">
                <a:latin typeface="Times New Roman" panose="02020603050405020304"/>
                <a:ea typeface="+mn-lt"/>
                <a:cs typeface="Times New Roman" panose="02020603050405020304"/>
              </a:rPr>
            </a:br>
            <a:r>
              <a:rPr lang="en-US" sz="2400">
                <a:latin typeface="Times New Roman" panose="02020603050405020304"/>
                <a:ea typeface="+mn-lt"/>
                <a:cs typeface="Times New Roman" panose="02020603050405020304"/>
              </a:rPr>
              <a:t> (Under Ministry of Railways)</a:t>
            </a:r>
            <a:endParaRPr lang="en-US" sz="2400">
              <a:latin typeface="Times New Roman" panose="02020603050405020304"/>
              <a:cs typeface="Times New Roman" panose="02020603050405020304"/>
            </a:endParaRPr>
          </a:p>
          <a:p>
            <a:pPr marL="285750" indent="-285750">
              <a:buFont typeface="Wingdings" panose="05000000000000000000" pitchFamily="34" charset="0"/>
              <a:buChar char="Ø"/>
            </a:pPr>
            <a:r>
              <a:rPr lang="en-US" sz="2400" b="1">
                <a:latin typeface="Times New Roman" panose="02020603050405020304"/>
                <a:cs typeface="Times New Roman" panose="02020603050405020304"/>
              </a:rPr>
              <a:t>Location</a:t>
            </a:r>
          </a:p>
          <a:p>
            <a:r>
              <a:rPr lang="en-US" sz="2400">
                <a:latin typeface="Times New Roman" panose="02020603050405020304"/>
                <a:ea typeface="+mn-lt"/>
                <a:cs typeface="Times New Roman" panose="02020603050405020304"/>
              </a:rPr>
              <a:t>Yelahanka, Bengaluru, Karnataka</a:t>
            </a:r>
            <a:endParaRPr lang="en-US" sz="2400">
              <a:latin typeface="Times New Roman" panose="02020603050405020304"/>
              <a:cs typeface="Times New Roman" panose="02020603050405020304"/>
            </a:endParaRPr>
          </a:p>
          <a:p>
            <a:pPr marL="285750" indent="-285750">
              <a:buFont typeface="Wingdings" panose="05000000000000000000" pitchFamily="34" charset="0"/>
              <a:buChar char="Ø"/>
            </a:pPr>
            <a:r>
              <a:rPr lang="en-US" sz="2400" b="1">
                <a:latin typeface="Times New Roman" panose="02020603050405020304"/>
                <a:cs typeface="Times New Roman" panose="02020603050405020304"/>
              </a:rPr>
              <a:t>Overview</a:t>
            </a:r>
          </a:p>
          <a:p>
            <a:r>
              <a:rPr lang="en-US" sz="2400" dirty="0">
                <a:latin typeface="Times New Roman" panose="02020603050405020304"/>
                <a:ea typeface="+mn-lt"/>
                <a:cs typeface="Times New Roman" panose="02020603050405020304"/>
              </a:rPr>
              <a:t>Rail Wheel Factory manufactures cast steel railway wheels and axles used in Indian Railways. The organization maintains strict quality standards and is moving towards automation and digital monitoring systems.</a:t>
            </a:r>
            <a:endParaRPr lang="en-US" sz="2400" dirty="0">
              <a:latin typeface="Times New Roman" panose="02020603050405020304"/>
              <a:cs typeface="Times New Roman" panose="02020603050405020304"/>
            </a:endParaRPr>
          </a:p>
          <a:p>
            <a:endParaRPr lang="en-US" sz="2400" dirty="0">
              <a:ea typeface="Calibri" panose="020F0502020204030204"/>
              <a:cs typeface="Calibri" panose="020F0502020204030204"/>
            </a:endParaRPr>
          </a:p>
        </p:txBody>
      </p:sp>
      <p:sp>
        <p:nvSpPr>
          <p:cNvPr id="5" name="Date Placeholder 4"/>
          <p:cNvSpPr>
            <a:spLocks noGrp="1"/>
          </p:cNvSpPr>
          <p:nvPr>
            <p:ph type="dt" sz="half" idx="10"/>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3</a:t>
            </a:fld>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85" y="0"/>
            <a:ext cx="10515600" cy="1002682"/>
          </a:xfrm>
          <a:ln>
            <a:solidFill>
              <a:srgbClr val="4472C4"/>
            </a:solidFill>
          </a:ln>
        </p:spPr>
        <p:txBody>
          <a:bodyPr>
            <a:normAutofit/>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Working domain or the technology</a:t>
            </a:r>
            <a:endParaRPr lang="en-US" sz="4000">
              <a:solidFill>
                <a:schemeClr val="accent1"/>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403225" y="1002665"/>
            <a:ext cx="11416665" cy="4123055"/>
          </a:xfrm>
        </p:spPr>
        <p:txBody>
          <a:bodyPr vert="horz" lIns="91440" tIns="45720" rIns="91440" bIns="45720" rtlCol="0" anchor="t">
            <a:noAutofit/>
          </a:bodyPr>
          <a:lstStyle/>
          <a:p>
            <a:pPr>
              <a:buNone/>
            </a:pPr>
            <a:r>
              <a:rPr lang="en-US" sz="2300" b="1" dirty="0">
                <a:latin typeface="Times New Roman" panose="02020603050405020304"/>
                <a:cs typeface="Times New Roman" panose="02020603050405020304"/>
              </a:rPr>
              <a:t>Project Title</a:t>
            </a:r>
            <a:endParaRPr lang="en-US" sz="2300" dirty="0">
              <a:latin typeface="Times New Roman" panose="02020603050405020304"/>
              <a:cs typeface="Times New Roman" panose="02020603050405020304"/>
            </a:endParaRPr>
          </a:p>
          <a:p>
            <a:pPr>
              <a:buNone/>
            </a:pPr>
            <a:r>
              <a:rPr lang="en-US" sz="2300" dirty="0">
                <a:latin typeface="Times New Roman" panose="02020603050405020304"/>
                <a:ea typeface="+mn-lt"/>
                <a:cs typeface="Times New Roman" panose="02020603050405020304"/>
              </a:rPr>
              <a:t>Web-Based Vehicle and Rail Wheel</a:t>
            </a:r>
          </a:p>
          <a:p>
            <a:pPr>
              <a:buNone/>
            </a:pPr>
            <a:r>
              <a:rPr lang="en-US" sz="2300" dirty="0">
                <a:latin typeface="Times New Roman" panose="02020603050405020304"/>
                <a:ea typeface="+mn-lt"/>
                <a:cs typeface="Times New Roman" panose="02020603050405020304"/>
              </a:rPr>
              <a:t>Monitoring System with Object Detection</a:t>
            </a:r>
            <a:endParaRPr lang="en-US" sz="2300" dirty="0">
              <a:latin typeface="Times New Roman" panose="02020603050405020304"/>
              <a:ea typeface="Calibri" panose="020F0502020204030204"/>
              <a:cs typeface="Times New Roman" panose="02020603050405020304"/>
            </a:endParaRPr>
          </a:p>
          <a:p>
            <a:pPr>
              <a:buNone/>
            </a:pPr>
            <a:r>
              <a:rPr lang="en-US" sz="2300" b="1" dirty="0">
                <a:latin typeface="Times New Roman" panose="02020603050405020304"/>
                <a:cs typeface="Times New Roman" panose="02020603050405020304"/>
              </a:rPr>
              <a:t>Internship Domain</a:t>
            </a:r>
          </a:p>
          <a:p>
            <a:pPr>
              <a:buNone/>
            </a:pPr>
            <a:r>
              <a:rPr lang="en-US" sz="2300" dirty="0">
                <a:latin typeface="Times New Roman" panose="02020603050405020304"/>
                <a:ea typeface="+mn-lt"/>
                <a:cs typeface="Times New Roman" panose="02020603050405020304"/>
              </a:rPr>
              <a:t>Full Stack Development with AI Integration</a:t>
            </a:r>
            <a:endParaRPr lang="en-US" sz="2300" dirty="0">
              <a:latin typeface="Times New Roman" panose="02020603050405020304"/>
              <a:cs typeface="Times New Roman" panose="02020603050405020304"/>
            </a:endParaRPr>
          </a:p>
          <a:p>
            <a:pPr>
              <a:buNone/>
            </a:pPr>
            <a:r>
              <a:rPr lang="en-US" sz="2300" b="1" dirty="0">
                <a:latin typeface="Times New Roman" panose="02020603050405020304"/>
                <a:cs typeface="Times New Roman" panose="02020603050405020304"/>
              </a:rPr>
              <a:t>Technologies Used</a:t>
            </a:r>
          </a:p>
          <a:p>
            <a:pPr>
              <a:buFont typeface="Arial" panose="020B0604020202020204"/>
              <a:buChar char="•"/>
            </a:pPr>
            <a:r>
              <a:rPr lang="en-US" sz="2300" dirty="0">
                <a:latin typeface="Times New Roman" panose="02020603050405020304"/>
                <a:ea typeface="Calibri" panose="020F0502020204030204"/>
                <a:cs typeface="Times New Roman" panose="02020603050405020304"/>
              </a:rPr>
              <a:t>Programming Language: </a:t>
            </a:r>
            <a:r>
              <a:rPr lang="en-US" sz="2300" b="1" dirty="0">
                <a:latin typeface="Times New Roman" panose="02020603050405020304"/>
                <a:ea typeface="Calibri" panose="020F0502020204030204"/>
                <a:cs typeface="Times New Roman" panose="02020603050405020304"/>
              </a:rPr>
              <a:t>Python</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Backend: </a:t>
            </a:r>
            <a:r>
              <a:rPr lang="en-US" sz="2300" b="1" dirty="0">
                <a:latin typeface="Times New Roman" panose="02020603050405020304"/>
                <a:ea typeface="Calibri" panose="020F0502020204030204"/>
                <a:cs typeface="Times New Roman" panose="02020603050405020304"/>
              </a:rPr>
              <a:t>Python Flask</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AI Module: </a:t>
            </a:r>
            <a:r>
              <a:rPr lang="en-US" sz="2300" b="1" dirty="0">
                <a:latin typeface="Times New Roman" panose="02020603050405020304"/>
                <a:ea typeface="Calibri" panose="020F0502020204030204"/>
                <a:cs typeface="Times New Roman" panose="02020603050405020304"/>
              </a:rPr>
              <a:t>OpenCV + Object Detection</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Frontend: </a:t>
            </a:r>
            <a:r>
              <a:rPr lang="en-US" sz="2300" b="1" dirty="0">
                <a:latin typeface="Times New Roman" panose="02020603050405020304"/>
                <a:ea typeface="Calibri" panose="020F0502020204030204"/>
                <a:cs typeface="Times New Roman" panose="02020603050405020304"/>
              </a:rPr>
              <a:t>Basic Web Dashboard</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Database: </a:t>
            </a:r>
            <a:r>
              <a:rPr lang="en-US" sz="2300" b="1" dirty="0">
                <a:latin typeface="Times New Roman" panose="02020603050405020304"/>
                <a:ea typeface="Calibri" panose="020F0502020204030204"/>
                <a:cs typeface="Times New Roman" panose="02020603050405020304"/>
              </a:rPr>
              <a:t>SQL</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Version Control: </a:t>
            </a:r>
            <a:r>
              <a:rPr lang="en-US" sz="2300" b="1" dirty="0">
                <a:latin typeface="Times New Roman" panose="02020603050405020304"/>
                <a:ea typeface="Calibri" panose="020F0502020204030204"/>
                <a:cs typeface="Times New Roman" panose="02020603050405020304"/>
              </a:rPr>
              <a:t>GitHub</a:t>
            </a:r>
            <a:endParaRPr lang="en-US" sz="2300" dirty="0"/>
          </a:p>
          <a:p>
            <a:pPr marL="0" indent="0">
              <a:buNone/>
            </a:pPr>
            <a:endParaRPr lang="en-US" sz="1700" b="1"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4</a:t>
            </a:fld>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5</a:t>
            </a:fld>
            <a:endParaRPr lang="en-IN" dirty="0"/>
          </a:p>
        </p:txBody>
      </p:sp>
      <p:sp>
        <p:nvSpPr>
          <p:cNvPr id="6" name="Title 5"/>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sym typeface="+mn-ea"/>
              </a:rPr>
              <a:t>About your team and reporting Manager</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762000" y="1070702"/>
            <a:ext cx="10515600" cy="4058194"/>
          </a:xfrm>
        </p:spPr>
        <p:txBody>
          <a:bodyPr>
            <a:noAutofit/>
          </a:bodyPr>
          <a:lstStyle/>
          <a:p>
            <a:pPr algn="just"/>
            <a:r>
              <a:rPr lang="en-US" sz="2400" dirty="0">
                <a:latin typeface="Times New Roman" panose="02020603050405020304" pitchFamily="18" charset="0"/>
                <a:cs typeface="Times New Roman" panose="02020603050405020304" pitchFamily="18" charset="0"/>
                <a:sym typeface="+mn-ea"/>
              </a:rPr>
              <a:t>Individual Leader: </a:t>
            </a:r>
            <a:r>
              <a:rPr lang="en-US" sz="2400" b="1" dirty="0">
                <a:latin typeface="Times New Roman" panose="02020603050405020304" pitchFamily="18" charset="0"/>
                <a:cs typeface="Times New Roman" panose="02020603050405020304" pitchFamily="18" charset="0"/>
                <a:sym typeface="+mn-ea"/>
              </a:rPr>
              <a:t>Karthik</a:t>
            </a:r>
            <a:endParaRPr lang="en-US" sz="2400" dirty="0">
              <a:latin typeface="Times New Roman" panose="02020603050405020304" pitchFamily="18" charset="0"/>
              <a:cs typeface="Times New Roman" panose="02020603050405020304" pitchFamily="18" charset="0"/>
            </a:endParaRPr>
          </a:p>
          <a:p>
            <a:pPr algn="just"/>
            <a:r>
              <a:rPr lang="en-US" sz="2400" dirty="0"/>
              <a:t>I worked under the guidance of my </a:t>
            </a:r>
            <a:r>
              <a:rPr lang="en-US" sz="2400" b="1" dirty="0"/>
              <a:t>Team Lead: </a:t>
            </a:r>
            <a:r>
              <a:rPr lang="en-US" sz="2400" b="1" i="1" dirty="0"/>
              <a:t>Mr. Buddha </a:t>
            </a:r>
            <a:r>
              <a:rPr lang="en-US" sz="2400" b="1" i="1" dirty="0" err="1"/>
              <a:t>AppaRao</a:t>
            </a:r>
            <a:r>
              <a:rPr lang="en-US" sz="2400" dirty="0"/>
              <a:t> at </a:t>
            </a:r>
            <a:r>
              <a:rPr lang="en-US" sz="2400" b="1" dirty="0"/>
              <a:t>Rail Wheel Factory</a:t>
            </a:r>
            <a:r>
              <a:rPr lang="en-US" sz="2400" dirty="0"/>
              <a:t>.</a:t>
            </a:r>
          </a:p>
          <a:p>
            <a:pPr algn="just"/>
            <a:r>
              <a:rPr lang="en-US" sz="2400" dirty="0"/>
              <a:t>My team consisted of software engineers, supervisors, and interns.</a:t>
            </a:r>
          </a:p>
          <a:p>
            <a:pPr algn="just"/>
            <a:r>
              <a:rPr lang="en-US" sz="2400" dirty="0"/>
              <a:t>I was involved in developing the </a:t>
            </a:r>
            <a:r>
              <a:rPr lang="en-US" sz="2400" b="1" dirty="0"/>
              <a:t>AI Face Recognition Attendance System</a:t>
            </a:r>
            <a:r>
              <a:rPr lang="en-US" sz="2400" dirty="0"/>
              <a:t>.</a:t>
            </a:r>
          </a:p>
          <a:p>
            <a:pPr algn="just"/>
            <a:r>
              <a:rPr lang="en-US" sz="2400" dirty="0"/>
              <a:t>My responsibilities included frontend, backend, and AI model integration.</a:t>
            </a:r>
          </a:p>
          <a:p>
            <a:pPr algn="just"/>
            <a:r>
              <a:rPr lang="en-US" sz="2400" dirty="0"/>
              <a:t>I received regular guidance, reviews, and technical support from my team lead.</a:t>
            </a:r>
          </a:p>
          <a:p>
            <a:pPr algn="just"/>
            <a:r>
              <a:rPr lang="en-US" sz="2400" dirty="0"/>
              <a:t>Periodic discussions helped in improving my technical and professional skills.</a:t>
            </a:r>
          </a:p>
          <a:p>
            <a:pPr>
              <a:buNone/>
            </a:pPr>
            <a:endParaRPr lang="en-US" sz="2400" dirty="0">
              <a:latin typeface="Times New Roman" panose="02020603050405020304" pitchFamily="18" charset="0"/>
              <a:cs typeface="Times New Roman" panose="02020603050405020304" pitchFamily="18" charset="0"/>
            </a:endParaRPr>
          </a:p>
        </p:txBody>
      </p:sp>
      <p:sp>
        <p:nvSpPr>
          <p:cNvPr id="8" name="Slide Number Placeholder 3"/>
          <p:cNvSpPr>
            <a:spLocks noGrp="1"/>
          </p:cNvSpPr>
          <p:nvPr/>
        </p:nvSpPr>
        <p:spPr>
          <a:xfrm>
            <a:off x="8737600" y="6483350"/>
            <a:ext cx="2743200" cy="365125"/>
          </a:xfrm>
          <a:prstGeom prst="rect">
            <a:avLst/>
          </a:prstGeom>
          <a:noFill/>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15EC703-C051-410C-8BA1-62752E291E83}" type="slidenum">
              <a:rPr lang="en-US" altLang="en-US" smtClean="0"/>
              <a:t>5</a:t>
            </a:fld>
            <a:endParaRPr lang="en-US" altLang="en-US"/>
          </a:p>
        </p:txBody>
      </p:sp>
      <p:sp>
        <p:nvSpPr>
          <p:cNvPr id="9" name="Text Box 8"/>
          <p:cNvSpPr txBox="1"/>
          <p:nvPr/>
        </p:nvSpPr>
        <p:spPr>
          <a:xfrm>
            <a:off x="2689225" y="5639435"/>
            <a:ext cx="4064000" cy="368300"/>
          </a:xfrm>
          <a:prstGeom prst="rect">
            <a:avLst/>
          </a:prstGeom>
          <a:noFill/>
        </p:spPr>
        <p:txBody>
          <a:bodyPr wrap="square" rtlCol="0">
            <a:spAutoFit/>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795" y="127635"/>
            <a:ext cx="10515600" cy="677545"/>
          </a:xfrm>
          <a:ln>
            <a:solidFill>
              <a:schemeClr val="accent1">
                <a:lumMod val="75000"/>
              </a:schemeClr>
            </a:solidFill>
          </a:ln>
        </p:spPr>
        <p:txBody>
          <a:bodyPr>
            <a:normAutofit/>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Challenges Faced in Internship</a:t>
            </a:r>
            <a:endParaRPr lang="en-US" sz="4000">
              <a:solidFill>
                <a:schemeClr val="accent1">
                  <a:lumMod val="76000"/>
                </a:schemeClr>
              </a:solidFill>
              <a:latin typeface="Times New Roman" panose="02020603050405020304"/>
              <a:cs typeface="Times New Roman" panose="02020603050405020304"/>
            </a:endParaRPr>
          </a:p>
        </p:txBody>
      </p:sp>
      <p:sp>
        <p:nvSpPr>
          <p:cNvPr id="3" name="Content Placeholder 2"/>
          <p:cNvSpPr>
            <a:spLocks noGrp="1"/>
          </p:cNvSpPr>
          <p:nvPr>
            <p:ph idx="1"/>
          </p:nvPr>
        </p:nvSpPr>
        <p:spPr>
          <a:xfrm>
            <a:off x="584200" y="805180"/>
            <a:ext cx="9379585" cy="5911215"/>
          </a:xfrm>
        </p:spPr>
        <p:txBody>
          <a:bodyPr vert="horz" lIns="91440" tIns="45720" rIns="91440" bIns="45720" rtlCol="0" anchor="t">
            <a:noAutofit/>
          </a:bodyPr>
          <a:lstStyle/>
          <a:p>
            <a:pPr>
              <a:buNone/>
            </a:pPr>
            <a:r>
              <a:rPr lang="en-US" sz="2000" b="1">
                <a:latin typeface="Times New Roman" panose="02020603050405020304"/>
                <a:cs typeface="Times New Roman" panose="02020603050405020304"/>
              </a:rPr>
              <a:t>1. Detection-Related Challenges</a:t>
            </a:r>
          </a:p>
          <a:p>
            <a:pPr>
              <a:buFont typeface="Arial" panose="020B0604020202020204"/>
              <a:buChar char="•"/>
            </a:pPr>
            <a:r>
              <a:rPr lang="en-US" sz="2000">
                <a:latin typeface="Times New Roman" panose="02020603050405020304"/>
                <a:ea typeface="+mn-lt"/>
                <a:cs typeface="Times New Roman" panose="02020603050405020304"/>
              </a:rPr>
              <a:t>Accurate detection of rail wheels inside loaded trucks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Differentiating wheels from similar circular objects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Handling multiple wheels in a single video frame</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Maintaining detection accuracy under varying lighting conditions</a:t>
            </a:r>
            <a:endParaRPr lang="en-US" sz="2000">
              <a:latin typeface="Times New Roman" panose="02020603050405020304"/>
              <a:cs typeface="Times New Roman" panose="02020603050405020304"/>
            </a:endParaRPr>
          </a:p>
          <a:p>
            <a:pPr>
              <a:buNone/>
            </a:pPr>
            <a:r>
              <a:rPr lang="en-US" sz="2000" b="1">
                <a:latin typeface="Times New Roman" panose="02020603050405020304"/>
                <a:cs typeface="Times New Roman" panose="02020603050405020304"/>
              </a:rPr>
              <a:t>2. Backend Integration Challenges</a:t>
            </a:r>
          </a:p>
          <a:p>
            <a:pPr>
              <a:buFont typeface="Arial" panose="020B0604020202020204"/>
              <a:buChar char="•"/>
            </a:pPr>
            <a:r>
              <a:rPr lang="en-US" sz="2000">
                <a:latin typeface="Times New Roman" panose="02020603050405020304"/>
                <a:ea typeface="+mn-lt"/>
                <a:cs typeface="Times New Roman" panose="02020603050405020304"/>
              </a:rPr>
              <a:t>Integrating object detection output with Flask REST APIs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Processing real-time detection results efficiently</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Managing structured API responses</a:t>
            </a:r>
            <a:endParaRPr lang="en-US" sz="2000">
              <a:latin typeface="Times New Roman" panose="02020603050405020304"/>
              <a:cs typeface="Times New Roman" panose="02020603050405020304"/>
            </a:endParaRPr>
          </a:p>
          <a:p>
            <a:pPr>
              <a:buNone/>
            </a:pPr>
            <a:r>
              <a:rPr lang="en-US" sz="2000" b="1">
                <a:latin typeface="Times New Roman" panose="02020603050405020304"/>
                <a:cs typeface="Times New Roman" panose="02020603050405020304"/>
              </a:rPr>
              <a:t>3. Database Management Challenges</a:t>
            </a:r>
          </a:p>
          <a:p>
            <a:pPr>
              <a:buFont typeface="Arial" panose="020B0604020202020204"/>
              <a:buChar char="•"/>
            </a:pPr>
            <a:r>
              <a:rPr lang="en-US" sz="2000">
                <a:latin typeface="Times New Roman" panose="02020603050405020304"/>
                <a:ea typeface="+mn-lt"/>
                <a:cs typeface="Times New Roman" panose="02020603050405020304"/>
              </a:rPr>
              <a:t>Designing proper schema for vehicle and wheel records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Preventing duplicate inward/outward entries</a:t>
            </a:r>
            <a:endParaRPr lang="en-US" sz="2000">
              <a:latin typeface="Times New Roman" panose="02020603050405020304"/>
              <a:cs typeface="Times New Roman" panose="02020603050405020304"/>
            </a:endParaRPr>
          </a:p>
          <a:p>
            <a:pPr>
              <a:buFont typeface="Arial" panose="020B0604020202020204"/>
              <a:buChar char="•"/>
            </a:pPr>
            <a:r>
              <a:rPr lang="en-US" sz="2000" dirty="0">
                <a:latin typeface="Times New Roman" panose="02020603050405020304"/>
                <a:ea typeface="+mn-lt"/>
                <a:cs typeface="Times New Roman" panose="02020603050405020304"/>
              </a:rPr>
              <a:t>Ensuring accurate data storage and retrieval</a:t>
            </a:r>
            <a:endParaRPr lang="en-US" sz="2000" dirty="0">
              <a:latin typeface="Times New Roman" panose="02020603050405020304"/>
              <a:cs typeface="Times New Roman" panose="02020603050405020304"/>
            </a:endParaRPr>
          </a:p>
          <a:p>
            <a:pPr marL="0" indent="0">
              <a:buNone/>
            </a:pPr>
            <a:endParaRPr lang="en-US" sz="2000" dirty="0">
              <a:latin typeface="Times New Roman" panose="02020603050405020304"/>
              <a:ea typeface="Calibri" panose="020F0502020204030204"/>
              <a:cs typeface="Times New Roman" panose="02020603050405020304"/>
            </a:endParaRPr>
          </a:p>
          <a:p>
            <a:pPr>
              <a:buNone/>
            </a:pPr>
            <a:endParaRPr lang="en-US" sz="2000" dirty="0">
              <a:latin typeface="Times New Roman" panose="02020603050405020304"/>
              <a:ea typeface="Calibri" panose="020F0502020204030204"/>
              <a:cs typeface="Times New Roman" panose="02020603050405020304"/>
            </a:endParaRPr>
          </a:p>
          <a:p>
            <a:pPr marL="0" indent="0">
              <a:buNone/>
            </a:pPr>
            <a:endParaRPr lang="en-US" sz="20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6</a:t>
            </a:fld>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30" y="259715"/>
            <a:ext cx="10515600" cy="807979"/>
          </a:xfrm>
        </p:spPr>
        <p:txBody>
          <a:bodyPr>
            <a:normAutofit/>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Objectives of the work</a:t>
            </a:r>
            <a:endParaRPr lang="en-US" sz="400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838200" y="1586230"/>
            <a:ext cx="9789160" cy="4251325"/>
          </a:xfrm>
        </p:spPr>
        <p:txBody>
          <a:bodyPr vert="horz" lIns="91440" tIns="45720" rIns="91440" bIns="45720" rtlCol="0" anchor="ctr">
            <a:noAutofit/>
          </a:bodyPr>
          <a:lstStyle/>
          <a:p>
            <a:pPr>
              <a:buNone/>
            </a:pPr>
            <a:r>
              <a:rPr lang="en-US" sz="2400" b="1">
                <a:latin typeface="Times New Roman" panose="02020603050405020304"/>
                <a:cs typeface="Times New Roman" panose="02020603050405020304"/>
              </a:rPr>
              <a:t>Primary Objectives</a:t>
            </a:r>
          </a:p>
          <a:p>
            <a:pPr>
              <a:buFont typeface="Arial" panose="020B0604020202020204"/>
              <a:buChar char="•"/>
            </a:pPr>
            <a:r>
              <a:rPr lang="en-US" sz="2400">
                <a:latin typeface="Times New Roman" panose="02020603050405020304"/>
                <a:ea typeface="+mn-lt"/>
                <a:cs typeface="Times New Roman" panose="02020603050405020304"/>
              </a:rPr>
              <a:t>Automate vehicle entry and exit monitoring at factory gates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Detect and count rail wheels loaded inside trucks using object detection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Store inward and outward movement records in a centralized database</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Reduce manual counting errors and improve operational efficiency</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Develop a scalable web-based monitoring dashboard</a:t>
            </a:r>
            <a:endParaRPr lang="en-US" sz="2400">
              <a:latin typeface="Times New Roman" panose="02020603050405020304"/>
              <a:cs typeface="Times New Roman" panose="02020603050405020304"/>
            </a:endParaRPr>
          </a:p>
          <a:p>
            <a:pPr marL="0" indent="0">
              <a:buNone/>
            </a:pPr>
            <a:r>
              <a:rPr lang="en-US" sz="2400" b="1">
                <a:latin typeface="Times New Roman" panose="02020603050405020304"/>
                <a:cs typeface="Times New Roman" panose="02020603050405020304"/>
              </a:rPr>
              <a:t>Technical Objectives </a:t>
            </a:r>
            <a:endParaRPr lang="en-US" sz="2400" b="1">
              <a:latin typeface="Times New Roman" panose="02020603050405020304"/>
              <a:ea typeface="Calibri" panose="020F0502020204030204"/>
              <a:cs typeface="Times New Roman" panose="02020603050405020304"/>
            </a:endParaRPr>
          </a:p>
          <a:p>
            <a:r>
              <a:rPr lang="en-US" sz="2400">
                <a:latin typeface="Times New Roman" panose="02020603050405020304"/>
                <a:ea typeface="+mn-lt"/>
                <a:cs typeface="Times New Roman" panose="02020603050405020304"/>
              </a:rPr>
              <a:t>Integrate detection module with Flask backend</a:t>
            </a:r>
            <a:endParaRPr lang="en-US" sz="2400">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Implement SQL database for structured record storage</a:t>
            </a:r>
            <a:endParaRPr lang="en-US" sz="2400">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Enable API-based data communication between modules</a:t>
            </a:r>
            <a:endParaRPr lang="en-US" sz="2400">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Validate system workflow through testing</a:t>
            </a:r>
            <a:endParaRPr lang="en-US" sz="2400">
              <a:latin typeface="Times New Roman" panose="02020603050405020304"/>
              <a:cs typeface="Times New Roman" panose="02020603050405020304"/>
            </a:endParaRPr>
          </a:p>
          <a:p>
            <a:endParaRPr lang="en-US" sz="24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7</a:t>
            </a:fld>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715" y="0"/>
            <a:ext cx="10515600" cy="757292"/>
          </a:xfrm>
        </p:spPr>
        <p:txBody>
          <a:bodyPr>
            <a:normAutofit/>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Literature Review</a:t>
            </a:r>
            <a:endParaRPr lang="en-US" sz="4000">
              <a:solidFill>
                <a:schemeClr val="accent1">
                  <a:lumMod val="76000"/>
                </a:schemeClr>
              </a:solidFill>
              <a:latin typeface="Times New Roman" panose="020206030504050203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8</a:t>
            </a:fld>
            <a:endParaRPr lang="en-IN" dirty="0"/>
          </a:p>
        </p:txBody>
      </p:sp>
      <p:graphicFrame>
        <p:nvGraphicFramePr>
          <p:cNvPr id="8" name="Table 7"/>
          <p:cNvGraphicFramePr/>
          <p:nvPr>
            <p:custDataLst>
              <p:tags r:id="rId1"/>
            </p:custDataLst>
            <p:extLst>
              <p:ext uri="{D42A27DB-BD31-4B8C-83A1-F6EECF244321}">
                <p14:modId xmlns:p14="http://schemas.microsoft.com/office/powerpoint/2010/main" val="2063975882"/>
              </p:ext>
            </p:extLst>
          </p:nvPr>
        </p:nvGraphicFramePr>
        <p:xfrm>
          <a:off x="127590" y="672465"/>
          <a:ext cx="11755800" cy="5189146"/>
        </p:xfrm>
        <a:graphic>
          <a:graphicData uri="http://schemas.openxmlformats.org/drawingml/2006/table">
            <a:tbl>
              <a:tblPr firstRow="1" bandRow="1">
                <a:tableStyleId>{5C22544A-7EE6-4342-B048-85BDC9FD1C3A}</a:tableStyleId>
              </a:tblPr>
              <a:tblGrid>
                <a:gridCol w="60819">
                  <a:extLst>
                    <a:ext uri="{9D8B030D-6E8A-4147-A177-3AD203B41FA5}">
                      <a16:colId xmlns:a16="http://schemas.microsoft.com/office/drawing/2014/main" val="20000"/>
                    </a:ext>
                  </a:extLst>
                </a:gridCol>
                <a:gridCol w="506833">
                  <a:extLst>
                    <a:ext uri="{9D8B030D-6E8A-4147-A177-3AD203B41FA5}">
                      <a16:colId xmlns:a16="http://schemas.microsoft.com/office/drawing/2014/main" val="20001"/>
                    </a:ext>
                  </a:extLst>
                </a:gridCol>
                <a:gridCol w="1835307">
                  <a:extLst>
                    <a:ext uri="{9D8B030D-6E8A-4147-A177-3AD203B41FA5}">
                      <a16:colId xmlns:a16="http://schemas.microsoft.com/office/drawing/2014/main" val="1855126657"/>
                    </a:ext>
                  </a:extLst>
                </a:gridCol>
                <a:gridCol w="744279">
                  <a:extLst>
                    <a:ext uri="{9D8B030D-6E8A-4147-A177-3AD203B41FA5}">
                      <a16:colId xmlns:a16="http://schemas.microsoft.com/office/drawing/2014/main" val="20002"/>
                    </a:ext>
                  </a:extLst>
                </a:gridCol>
                <a:gridCol w="2873938">
                  <a:extLst>
                    <a:ext uri="{9D8B030D-6E8A-4147-A177-3AD203B41FA5}">
                      <a16:colId xmlns:a16="http://schemas.microsoft.com/office/drawing/2014/main" val="20003"/>
                    </a:ext>
                  </a:extLst>
                </a:gridCol>
                <a:gridCol w="3284278">
                  <a:extLst>
                    <a:ext uri="{9D8B030D-6E8A-4147-A177-3AD203B41FA5}">
                      <a16:colId xmlns:a16="http://schemas.microsoft.com/office/drawing/2014/main" val="20004"/>
                    </a:ext>
                  </a:extLst>
                </a:gridCol>
                <a:gridCol w="2450346">
                  <a:extLst>
                    <a:ext uri="{9D8B030D-6E8A-4147-A177-3AD203B41FA5}">
                      <a16:colId xmlns:a16="http://schemas.microsoft.com/office/drawing/2014/main" val="20005"/>
                    </a:ext>
                  </a:extLst>
                </a:gridCol>
              </a:tblGrid>
              <a:tr h="343408">
                <a:tc>
                  <a:txBody>
                    <a:bodyPr/>
                    <a:lstStyle/>
                    <a:p>
                      <a:pPr algn="ctr"/>
                      <a:endParaRPr sz="1800" b="0" dirty="0">
                        <a:latin typeface="Times New Roman" panose="02020603050405020304" pitchFamily="18" charset="0"/>
                        <a:cs typeface="Times New Roman" panose="02020603050405020304" pitchFamily="18" charset="0"/>
                      </a:endParaRPr>
                    </a:p>
                  </a:txBody>
                  <a:tcPr marL="0" marR="0" marT="0" marB="0" anchor="ctr"/>
                </a:tc>
                <a:tc>
                  <a:txBody>
                    <a:bodyPr/>
                    <a:lstStyle/>
                    <a:p>
                      <a:pPr>
                        <a:buNone/>
                      </a:pPr>
                      <a:r>
                        <a:rPr lang="en-IN" sz="1200" dirty="0" err="1">
                          <a:latin typeface="Times New Roman" panose="02020603050405020304" pitchFamily="18" charset="0"/>
                          <a:cs typeface="Times New Roman" panose="02020603050405020304" pitchFamily="18" charset="0"/>
                        </a:rPr>
                        <a:t>S.No</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latin typeface="Times New Roman" panose="02020603050405020304" pitchFamily="18" charset="0"/>
                          <a:cs typeface="Times New Roman" panose="02020603050405020304" pitchFamily="18" charset="0"/>
                        </a:rPr>
                        <a:t>Title of the Paper</a:t>
                      </a:r>
                    </a:p>
                  </a:txBody>
                  <a:tcPr anchor="ctr"/>
                </a:tc>
                <a:tc>
                  <a:txBody>
                    <a:bodyPr/>
                    <a:lstStyle/>
                    <a:p>
                      <a:pPr>
                        <a:buNone/>
                      </a:pPr>
                      <a:r>
                        <a:rPr lang="en-IN" sz="1200">
                          <a:latin typeface="Times New Roman" panose="02020603050405020304" pitchFamily="18" charset="0"/>
                          <a:cs typeface="Times New Roman" panose="02020603050405020304" pitchFamily="18" charset="0"/>
                        </a:rPr>
                        <a:t>Year</a:t>
                      </a:r>
                    </a:p>
                  </a:txBody>
                  <a:tcPr anchor="ctr"/>
                </a:tc>
                <a:tc>
                  <a:txBody>
                    <a:bodyPr/>
                    <a:lstStyle/>
                    <a:p>
                      <a:pPr>
                        <a:buNone/>
                      </a:pPr>
                      <a:r>
                        <a:rPr lang="en-IN" sz="1200">
                          <a:latin typeface="Times New Roman" panose="02020603050405020304" pitchFamily="18" charset="0"/>
                          <a:cs typeface="Times New Roman" panose="02020603050405020304" pitchFamily="18" charset="0"/>
                        </a:rPr>
                        <a:t>Algorithm / Technique Used</a:t>
                      </a:r>
                    </a:p>
                  </a:txBody>
                  <a:tcPr anchor="ctr"/>
                </a:tc>
                <a:tc>
                  <a:txBody>
                    <a:bodyPr/>
                    <a:lstStyle/>
                    <a:p>
                      <a:pPr>
                        <a:buNone/>
                      </a:pPr>
                      <a:r>
                        <a:rPr lang="en-IN" sz="1200">
                          <a:latin typeface="Times New Roman" panose="02020603050405020304" pitchFamily="18" charset="0"/>
                          <a:cs typeface="Times New Roman" panose="02020603050405020304" pitchFamily="18" charset="0"/>
                        </a:rPr>
                        <a:t>Advantages</a:t>
                      </a:r>
                    </a:p>
                  </a:txBody>
                  <a:tcPr anchor="ctr"/>
                </a:tc>
                <a:tc>
                  <a:txBody>
                    <a:bodyPr/>
                    <a:lstStyle/>
                    <a:p>
                      <a:pPr>
                        <a:buNone/>
                      </a:pPr>
                      <a:r>
                        <a:rPr lang="en-IN" sz="1200">
                          <a:latin typeface="Times New Roman" panose="02020603050405020304" pitchFamily="18" charset="0"/>
                          <a:cs typeface="Times New Roman" panose="02020603050405020304" pitchFamily="18" charset="0"/>
                        </a:rPr>
                        <a:t>Disadvantages</a:t>
                      </a:r>
                    </a:p>
                  </a:txBody>
                  <a:tcPr anchor="ctr"/>
                </a:tc>
                <a:extLst>
                  <a:ext uri="{0D108BD9-81ED-4DB2-BD59-A6C34878D82A}">
                    <a16:rowId xmlns:a16="http://schemas.microsoft.com/office/drawing/2014/main" val="10000"/>
                  </a:ext>
                </a:extLst>
              </a:tr>
              <a:tr h="1079282">
                <a:tc>
                  <a:txBody>
                    <a:bodyPr/>
                    <a:lstStyle/>
                    <a:p>
                      <a:pPr algn="ctr"/>
                      <a:endParaRPr sz="1050" b="0" dirty="0">
                        <a:latin typeface="Times New Roman" panose="02020603050405020304" pitchFamily="18" charset="0"/>
                        <a:cs typeface="Times New Roman" panose="02020603050405020304" pitchFamily="18" charset="0"/>
                      </a:endParaRPr>
                    </a:p>
                  </a:txBody>
                  <a:tcPr marL="0" marR="0" marT="0" marB="0" anchor="ctr"/>
                </a:tc>
                <a:tc>
                  <a:txBody>
                    <a:bodyPr/>
                    <a:lstStyle/>
                    <a:p>
                      <a:pPr>
                        <a:buNone/>
                      </a:pPr>
                      <a:r>
                        <a:rPr lang="en-IN" sz="1200" dirty="0">
                          <a:latin typeface="Times New Roman" panose="02020603050405020304" pitchFamily="18" charset="0"/>
                          <a:cs typeface="Times New Roman" panose="02020603050405020304" pitchFamily="18" charset="0"/>
                        </a:rPr>
                        <a:t>1</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Real-Time Railway Track Defect Detection and Complaint Redressal Using YOLOv8</a:t>
                      </a:r>
                    </a:p>
                  </a:txBody>
                  <a:tcPr anchor="ctr"/>
                </a:tc>
                <a:tc>
                  <a:txBody>
                    <a:bodyPr/>
                    <a:lstStyle/>
                    <a:p>
                      <a:pPr>
                        <a:buNone/>
                      </a:pPr>
                      <a:r>
                        <a:rPr lang="en-IN" sz="1200">
                          <a:latin typeface="Times New Roman" panose="02020603050405020304" pitchFamily="18" charset="0"/>
                          <a:cs typeface="Times New Roman" panose="02020603050405020304" pitchFamily="18" charset="0"/>
                        </a:rPr>
                        <a:t>2025</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YOLOv8 (CSP-Darknet + PANet), </a:t>
                      </a:r>
                      <a:r>
                        <a:rPr lang="en-IN" sz="1200" dirty="0" err="1">
                          <a:latin typeface="Times New Roman" panose="02020603050405020304" pitchFamily="18" charset="0"/>
                          <a:cs typeface="Times New Roman" panose="02020603050405020304" pitchFamily="18" charset="0"/>
                        </a:rPr>
                        <a:t>IoU</a:t>
                      </a:r>
                      <a:r>
                        <a:rPr lang="en-IN" sz="1200" dirty="0">
                          <a:latin typeface="Times New Roman" panose="02020603050405020304" pitchFamily="18" charset="0"/>
                          <a:cs typeface="Times New Roman" panose="02020603050405020304" pitchFamily="18" charset="0"/>
                        </a:rPr>
                        <a:t> filtering, Flask-based redressal system</a:t>
                      </a:r>
                    </a:p>
                  </a:txBody>
                  <a:tcPr anchor="ctr"/>
                </a:tc>
                <a:tc>
                  <a:txBody>
                    <a:bodyPr/>
                    <a:lstStyle/>
                    <a:p>
                      <a:pPr>
                        <a:buNone/>
                      </a:pPr>
                      <a:r>
                        <a:rPr lang="en-IN" sz="1200">
                          <a:latin typeface="Times New Roman" panose="02020603050405020304" pitchFamily="18" charset="0"/>
                          <a:cs typeface="Times New Roman" panose="02020603050405020304" pitchFamily="18" charset="0"/>
                        </a:rPr>
                        <a:t>- High accuracy (mAP@0.5 ≈ 93.4%) - Real-time detection (32 FPS) - Integrated complaint/redressal system - Scalable and deployable</a:t>
                      </a:r>
                    </a:p>
                  </a:txBody>
                  <a:tcPr anchor="ctr"/>
                </a:tc>
                <a:tc>
                  <a:txBody>
                    <a:bodyPr/>
                    <a:lstStyle/>
                    <a:p>
                      <a:pPr>
                        <a:buNone/>
                      </a:pPr>
                      <a:r>
                        <a:rPr lang="en-IN" sz="1200">
                          <a:latin typeface="Times New Roman" panose="02020603050405020304" pitchFamily="18" charset="0"/>
                          <a:cs typeface="Times New Roman" panose="02020603050405020304" pitchFamily="18" charset="0"/>
                        </a:rPr>
                        <a:t>- Requires large annotated dataset - Computational cost for edge devices - Depends on environmental conditions (lighting, noise)</a:t>
                      </a:r>
                    </a:p>
                  </a:txBody>
                  <a:tcPr anchor="ctr"/>
                </a:tc>
                <a:extLst>
                  <a:ext uri="{0D108BD9-81ED-4DB2-BD59-A6C34878D82A}">
                    <a16:rowId xmlns:a16="http://schemas.microsoft.com/office/drawing/2014/main" val="10001"/>
                  </a:ext>
                </a:extLst>
              </a:tr>
              <a:tr h="1079282">
                <a:tc>
                  <a:txBody>
                    <a:bodyPr/>
                    <a:lstStyle/>
                    <a:p>
                      <a:pPr algn="ctr"/>
                      <a:endParaRPr sz="1050" b="0" dirty="0">
                        <a:latin typeface="Times New Roman" panose="02020603050405020304" pitchFamily="18" charset="0"/>
                        <a:cs typeface="Times New Roman" panose="02020603050405020304" pitchFamily="18" charset="0"/>
                      </a:endParaRPr>
                    </a:p>
                  </a:txBody>
                  <a:tcPr marL="0" marR="0" marT="0" marB="0" anchor="ctr"/>
                </a:tc>
                <a:tc>
                  <a:txBody>
                    <a:bodyPr/>
                    <a:lstStyle/>
                    <a:p>
                      <a:pPr>
                        <a:buNone/>
                      </a:pPr>
                      <a:r>
                        <a:rPr lang="en-IN" sz="1200">
                          <a:latin typeface="Times New Roman" panose="02020603050405020304" pitchFamily="18" charset="0"/>
                          <a:cs typeface="Times New Roman" panose="02020603050405020304" pitchFamily="18" charset="0"/>
                        </a:rPr>
                        <a:t>2</a:t>
                      </a:r>
                    </a:p>
                  </a:txBody>
                  <a:tcPr anchor="ctr"/>
                </a:tc>
                <a:tc>
                  <a:txBody>
                    <a:bodyPr/>
                    <a:lstStyle/>
                    <a:p>
                      <a:pPr>
                        <a:buNone/>
                      </a:pPr>
                      <a:r>
                        <a:rPr lang="en-IN" sz="1200">
                          <a:latin typeface="Times New Roman" panose="02020603050405020304" pitchFamily="18" charset="0"/>
                          <a:cs typeface="Times New Roman" panose="02020603050405020304" pitchFamily="18" charset="0"/>
                        </a:rPr>
                        <a:t>Railway System Based on Object Detection</a:t>
                      </a:r>
                    </a:p>
                  </a:txBody>
                  <a:tcPr anchor="ctr"/>
                </a:tc>
                <a:tc>
                  <a:txBody>
                    <a:bodyPr/>
                    <a:lstStyle/>
                    <a:p>
                      <a:pPr>
                        <a:buNone/>
                      </a:pPr>
                      <a:r>
                        <a:rPr lang="en-IN" sz="1200">
                          <a:latin typeface="Times New Roman" panose="02020603050405020304" pitchFamily="18" charset="0"/>
                          <a:cs typeface="Times New Roman" panose="02020603050405020304" pitchFamily="18" charset="0"/>
                        </a:rPr>
                        <a:t>2024</a:t>
                      </a:r>
                    </a:p>
                  </a:txBody>
                  <a:tcPr anchor="ctr"/>
                </a:tc>
                <a:tc>
                  <a:txBody>
                    <a:bodyPr/>
                    <a:lstStyle/>
                    <a:p>
                      <a:pPr>
                        <a:buNone/>
                      </a:pPr>
                      <a:r>
                        <a:rPr lang="en-IN" sz="1200">
                          <a:latin typeface="Times New Roman" panose="02020603050405020304" pitchFamily="18" charset="0"/>
                          <a:cs typeface="Times New Roman" panose="02020603050405020304" pitchFamily="18" charset="0"/>
                        </a:rPr>
                        <a:t>CNN-based object detection, clustering, video analytics</a:t>
                      </a:r>
                    </a:p>
                  </a:txBody>
                  <a:tcPr anchor="ctr"/>
                </a:tc>
                <a:tc>
                  <a:txBody>
                    <a:bodyPr/>
                    <a:lstStyle/>
                    <a:p>
                      <a:pPr>
                        <a:buNone/>
                      </a:pPr>
                      <a:r>
                        <a:rPr lang="en-IN" sz="1200">
                          <a:latin typeface="Times New Roman" panose="02020603050405020304" pitchFamily="18" charset="0"/>
                          <a:cs typeface="Times New Roman" panose="02020603050405020304" pitchFamily="18" charset="0"/>
                        </a:rPr>
                        <a:t>- Useful for obstacle detection (humans, animals, vehicles) - Supports accident prevention - Works with CCTV systems</a:t>
                      </a:r>
                    </a:p>
                  </a:txBody>
                  <a:tcPr anchor="ctr"/>
                </a:tc>
                <a:tc>
                  <a:txBody>
                    <a:bodyPr/>
                    <a:lstStyle/>
                    <a:p>
                      <a:pPr>
                        <a:buNone/>
                      </a:pPr>
                      <a:r>
                        <a:rPr lang="en-IN" sz="1200">
                          <a:latin typeface="Times New Roman" panose="02020603050405020304" pitchFamily="18" charset="0"/>
                          <a:cs typeface="Times New Roman" panose="02020603050405020304" pitchFamily="18" charset="0"/>
                        </a:rPr>
                        <a:t>- Less advanced compared to YOLO models - Lower accuracy &amp; speed - High installation cost for sensors - Limited real-time optimization</a:t>
                      </a:r>
                    </a:p>
                  </a:txBody>
                  <a:tcPr anchor="ctr"/>
                </a:tc>
                <a:extLst>
                  <a:ext uri="{0D108BD9-81ED-4DB2-BD59-A6C34878D82A}">
                    <a16:rowId xmlns:a16="http://schemas.microsoft.com/office/drawing/2014/main" val="10002"/>
                  </a:ext>
                </a:extLst>
              </a:tr>
              <a:tr h="784933">
                <a:tc>
                  <a:txBody>
                    <a:bodyPr/>
                    <a:lstStyle/>
                    <a:p>
                      <a:pPr algn="ctr"/>
                      <a:endParaRPr sz="1050" b="0" dirty="0">
                        <a:latin typeface="Times New Roman" panose="02020603050405020304" pitchFamily="18" charset="0"/>
                        <a:cs typeface="Times New Roman" panose="02020603050405020304" pitchFamily="18" charset="0"/>
                      </a:endParaRPr>
                    </a:p>
                  </a:txBody>
                  <a:tcPr marL="0" marR="0" marT="0" marB="0" anchor="ctr"/>
                </a:tc>
                <a:tc>
                  <a:txBody>
                    <a:bodyPr/>
                    <a:lstStyle/>
                    <a:p>
                      <a:pPr>
                        <a:buNone/>
                      </a:pPr>
                      <a:r>
                        <a:rPr lang="en-IN" sz="1200">
                          <a:latin typeface="Times New Roman" panose="02020603050405020304" pitchFamily="18" charset="0"/>
                          <a:cs typeface="Times New Roman" panose="02020603050405020304" pitchFamily="18" charset="0"/>
                        </a:rPr>
                        <a:t>3</a:t>
                      </a:r>
                    </a:p>
                  </a:txBody>
                  <a:tcPr anchor="ctr"/>
                </a:tc>
                <a:tc>
                  <a:txBody>
                    <a:bodyPr/>
                    <a:lstStyle/>
                    <a:p>
                      <a:pPr>
                        <a:buNone/>
                      </a:pPr>
                      <a:r>
                        <a:rPr lang="en-IN" sz="1200">
                          <a:latin typeface="Times New Roman" panose="02020603050405020304" pitchFamily="18" charset="0"/>
                          <a:cs typeface="Times New Roman" panose="02020603050405020304" pitchFamily="18" charset="0"/>
                        </a:rPr>
                        <a:t>Railway Objects Detection Using Improved YOLO Algorithm</a:t>
                      </a:r>
                    </a:p>
                  </a:txBody>
                  <a:tcPr anchor="ctr"/>
                </a:tc>
                <a:tc>
                  <a:txBody>
                    <a:bodyPr/>
                    <a:lstStyle/>
                    <a:p>
                      <a:pPr>
                        <a:buNone/>
                      </a:pPr>
                      <a:r>
                        <a:rPr lang="en-IN" sz="1200">
                          <a:latin typeface="Times New Roman" panose="02020603050405020304" pitchFamily="18" charset="0"/>
                          <a:cs typeface="Times New Roman" panose="02020603050405020304" pitchFamily="18" charset="0"/>
                        </a:rPr>
                        <a:t>2025</a:t>
                      </a:r>
                    </a:p>
                  </a:txBody>
                  <a:tcPr anchor="ctr"/>
                </a:tc>
                <a:tc>
                  <a:txBody>
                    <a:bodyPr/>
                    <a:lstStyle/>
                    <a:p>
                      <a:pPr>
                        <a:buNone/>
                      </a:pPr>
                      <a:r>
                        <a:rPr lang="en-IN" sz="1200">
                          <a:latin typeface="Times New Roman" panose="02020603050405020304" pitchFamily="18" charset="0"/>
                          <a:cs typeface="Times New Roman" panose="02020603050405020304" pitchFamily="18" charset="0"/>
                        </a:rPr>
                        <a:t>Improved YOLOv8 with CBAM attention, data augmentation, custom loss (IoU + focal loss)</a:t>
                      </a:r>
                    </a:p>
                  </a:txBody>
                  <a:tcPr anchor="ctr"/>
                </a:tc>
                <a:tc>
                  <a:txBody>
                    <a:bodyPr/>
                    <a:lstStyle/>
                    <a:p>
                      <a:pPr>
                        <a:buNone/>
                      </a:pPr>
                      <a:r>
                        <a:rPr lang="en-IN" sz="1200">
                          <a:latin typeface="Times New Roman" panose="02020603050405020304" pitchFamily="18" charset="0"/>
                          <a:cs typeface="Times New Roman" panose="02020603050405020304" pitchFamily="18" charset="0"/>
                        </a:rPr>
                        <a:t>- Improved mAP (+8.5%) - Reduced false positives - Faster inference (25% improvement) - Suitable for edge deployment</a:t>
                      </a:r>
                    </a:p>
                  </a:txBody>
                  <a:tcPr anchor="ctr"/>
                </a:tc>
                <a:tc>
                  <a:txBody>
                    <a:bodyPr/>
                    <a:lstStyle/>
                    <a:p>
                      <a:pPr>
                        <a:buNone/>
                      </a:pPr>
                      <a:r>
                        <a:rPr lang="en-IN" sz="1200">
                          <a:latin typeface="Times New Roman" panose="02020603050405020304" pitchFamily="18" charset="0"/>
                          <a:cs typeface="Times New Roman" panose="02020603050405020304" pitchFamily="18" charset="0"/>
                        </a:rPr>
                        <a:t>- Model complexity increased - Requires GPU for training - Still sensitive to occlusion &amp; lighting variations</a:t>
                      </a:r>
                    </a:p>
                  </a:txBody>
                  <a:tcPr anchor="ctr"/>
                </a:tc>
                <a:extLst>
                  <a:ext uri="{0D108BD9-81ED-4DB2-BD59-A6C34878D82A}">
                    <a16:rowId xmlns:a16="http://schemas.microsoft.com/office/drawing/2014/main" val="10003"/>
                  </a:ext>
                </a:extLst>
              </a:tr>
              <a:tr h="932107">
                <a:tc>
                  <a:txBody>
                    <a:bodyPr/>
                    <a:lstStyle/>
                    <a:p>
                      <a:pPr algn="ctr"/>
                      <a:endParaRPr sz="1050" b="0" dirty="0">
                        <a:latin typeface="Times New Roman" panose="02020603050405020304" pitchFamily="18" charset="0"/>
                        <a:cs typeface="Times New Roman" panose="02020603050405020304" pitchFamily="18" charset="0"/>
                      </a:endParaRPr>
                    </a:p>
                  </a:txBody>
                  <a:tcPr marL="0" marR="0" marT="0" marB="0" anchor="ctr"/>
                </a:tc>
                <a:tc>
                  <a:txBody>
                    <a:bodyPr/>
                    <a:lstStyle/>
                    <a:p>
                      <a:pPr>
                        <a:buNone/>
                      </a:pPr>
                      <a:r>
                        <a:rPr lang="en-IN" sz="1200">
                          <a:latin typeface="Times New Roman" panose="02020603050405020304" pitchFamily="18" charset="0"/>
                          <a:cs typeface="Times New Roman" panose="02020603050405020304" pitchFamily="18" charset="0"/>
                        </a:rPr>
                        <a:t>4</a:t>
                      </a:r>
                    </a:p>
                  </a:txBody>
                  <a:tcPr anchor="ctr"/>
                </a:tc>
                <a:tc>
                  <a:txBody>
                    <a:bodyPr/>
                    <a:lstStyle/>
                    <a:p>
                      <a:pPr>
                        <a:buNone/>
                      </a:pPr>
                      <a:r>
                        <a:rPr lang="en-IN" sz="1200">
                          <a:latin typeface="Times New Roman" panose="02020603050405020304" pitchFamily="18" charset="0"/>
                          <a:cs typeface="Times New Roman" panose="02020603050405020304" pitchFamily="18" charset="0"/>
                        </a:rPr>
                        <a:t>Real-Time Vision-Based Wheel-Rail Interface Monitoring for Tramway</a:t>
                      </a:r>
                    </a:p>
                  </a:txBody>
                  <a:tcPr anchor="ctr"/>
                </a:tc>
                <a:tc>
                  <a:txBody>
                    <a:bodyPr/>
                    <a:lstStyle/>
                    <a:p>
                      <a:pPr>
                        <a:buNone/>
                      </a:pPr>
                      <a:r>
                        <a:rPr lang="en-IN" sz="1200">
                          <a:latin typeface="Times New Roman" panose="02020603050405020304" pitchFamily="18" charset="0"/>
                          <a:cs typeface="Times New Roman" panose="02020603050405020304" pitchFamily="18" charset="0"/>
                        </a:rPr>
                        <a:t>2025</a:t>
                      </a:r>
                    </a:p>
                  </a:txBody>
                  <a:tcPr anchor="ctr"/>
                </a:tc>
                <a:tc>
                  <a:txBody>
                    <a:bodyPr/>
                    <a:lstStyle/>
                    <a:p>
                      <a:pPr>
                        <a:buNone/>
                      </a:pPr>
                      <a:r>
                        <a:rPr lang="en-IN" sz="1200">
                          <a:latin typeface="Times New Roman" panose="02020603050405020304" pitchFamily="18" charset="0"/>
                          <a:cs typeface="Times New Roman" panose="02020603050405020304" pitchFamily="18" charset="0"/>
                        </a:rPr>
                        <a:t>YOLOv8-segmentation + vision-based measurement + stabilization modules</a:t>
                      </a:r>
                    </a:p>
                  </a:txBody>
                  <a:tcPr anchor="ctr"/>
                </a:tc>
                <a:tc>
                  <a:txBody>
                    <a:bodyPr/>
                    <a:lstStyle/>
                    <a:p>
                      <a:pPr>
                        <a:buNone/>
                      </a:pPr>
                      <a:r>
                        <a:rPr lang="en-IN" sz="1200">
                          <a:latin typeface="Times New Roman" panose="02020603050405020304" pitchFamily="18" charset="0"/>
                          <a:cs typeface="Times New Roman" panose="02020603050405020304" pitchFamily="18" charset="0"/>
                        </a:rPr>
                        <a:t>- Very high precision (≈0.46 mm error) - Real-time monitoring - Non-contact system (camera-based) - Works under varied conditions</a:t>
                      </a:r>
                    </a:p>
                  </a:txBody>
                  <a:tcPr anchor="ctr"/>
                </a:tc>
                <a:tc>
                  <a:txBody>
                    <a:bodyPr/>
                    <a:lstStyle/>
                    <a:p>
                      <a:pPr>
                        <a:buNone/>
                      </a:pPr>
                      <a:r>
                        <a:rPr lang="en-IN" sz="1200">
                          <a:latin typeface="Times New Roman" panose="02020603050405020304" pitchFamily="18" charset="0"/>
                          <a:cs typeface="Times New Roman" panose="02020603050405020304" pitchFamily="18" charset="0"/>
                        </a:rPr>
                        <a:t>- Hardware setup required (camera, calibration) - Sensitive to lighting/environment noise - Complex calibration process</a:t>
                      </a:r>
                    </a:p>
                  </a:txBody>
                  <a:tcPr anchor="ctr"/>
                </a:tc>
                <a:extLst>
                  <a:ext uri="{0D108BD9-81ED-4DB2-BD59-A6C34878D82A}">
                    <a16:rowId xmlns:a16="http://schemas.microsoft.com/office/drawing/2014/main" val="10004"/>
                  </a:ext>
                </a:extLst>
              </a:tr>
              <a:tr h="932107">
                <a:tc>
                  <a:txBody>
                    <a:bodyPr/>
                    <a:lstStyle/>
                    <a:p>
                      <a:pPr algn="ctr"/>
                      <a:endParaRPr sz="1050" b="0" dirty="0">
                        <a:latin typeface="Times New Roman" panose="02020603050405020304" pitchFamily="18" charset="0"/>
                        <a:cs typeface="Times New Roman" panose="02020603050405020304" pitchFamily="18" charset="0"/>
                      </a:endParaRPr>
                    </a:p>
                  </a:txBody>
                  <a:tcPr marL="0" marR="0" marT="0" marB="0" anchor="ctr"/>
                </a:tc>
                <a:tc>
                  <a:txBody>
                    <a:bodyPr/>
                    <a:lstStyle/>
                    <a:p>
                      <a:pPr>
                        <a:buNone/>
                      </a:pPr>
                      <a:r>
                        <a:rPr lang="en-IN" sz="1200">
                          <a:latin typeface="Times New Roman" panose="02020603050405020304" pitchFamily="18" charset="0"/>
                          <a:cs typeface="Times New Roman" panose="02020603050405020304" pitchFamily="18" charset="0"/>
                        </a:rPr>
                        <a:t>5</a:t>
                      </a:r>
                    </a:p>
                  </a:txBody>
                  <a:tcPr anchor="ctr"/>
                </a:tc>
                <a:tc>
                  <a:txBody>
                    <a:bodyPr/>
                    <a:lstStyle/>
                    <a:p>
                      <a:pPr>
                        <a:buNone/>
                      </a:pPr>
                      <a:r>
                        <a:rPr lang="en-IN" sz="1200">
                          <a:latin typeface="Times New Roman" panose="02020603050405020304" pitchFamily="18" charset="0"/>
                          <a:cs typeface="Times New Roman" panose="02020603050405020304" pitchFamily="18" charset="0"/>
                        </a:rPr>
                        <a:t>AI-Powered Real-Time Wheel Defect Detection</a:t>
                      </a:r>
                    </a:p>
                  </a:txBody>
                  <a:tcPr anchor="ctr"/>
                </a:tc>
                <a:tc>
                  <a:txBody>
                    <a:bodyPr/>
                    <a:lstStyle/>
                    <a:p>
                      <a:pPr>
                        <a:buNone/>
                      </a:pPr>
                      <a:r>
                        <a:rPr lang="en-IN" sz="1200">
                          <a:latin typeface="Times New Roman" panose="02020603050405020304" pitchFamily="18" charset="0"/>
                          <a:cs typeface="Times New Roman" panose="02020603050405020304" pitchFamily="18" charset="0"/>
                        </a:rPr>
                        <a:t>2025</a:t>
                      </a:r>
                    </a:p>
                  </a:txBody>
                  <a:tcPr anchor="ctr"/>
                </a:tc>
                <a:tc>
                  <a:txBody>
                    <a:bodyPr/>
                    <a:lstStyle/>
                    <a:p>
                      <a:pPr>
                        <a:buNone/>
                      </a:pPr>
                      <a:r>
                        <a:rPr lang="en-IN" sz="1200">
                          <a:latin typeface="Times New Roman" panose="02020603050405020304" pitchFamily="18" charset="0"/>
                          <a:cs typeface="Times New Roman" panose="02020603050405020304" pitchFamily="18" charset="0"/>
                        </a:rPr>
                        <a:t>Multiple YOLO models (v5–v12) + RTD Transformer</a:t>
                      </a:r>
                    </a:p>
                  </a:txBody>
                  <a:tcPr anchor="ctr"/>
                </a:tc>
                <a:tc>
                  <a:txBody>
                    <a:bodyPr/>
                    <a:lstStyle/>
                    <a:p>
                      <a:pPr>
                        <a:buNone/>
                      </a:pPr>
                      <a:r>
                        <a:rPr lang="en-IN" sz="1200">
                          <a:latin typeface="Times New Roman" panose="02020603050405020304" pitchFamily="18" charset="0"/>
                          <a:cs typeface="Times New Roman" panose="02020603050405020304" pitchFamily="18" charset="0"/>
                        </a:rPr>
                        <a:t>- High accuracy (≈92% mAP) - Real-time detection (30 FPS) - Works on edge devices - Handles multiple defect types</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 Dataset imbalance issues - High training complexity - Transformer adds computational overhead</a:t>
                      </a:r>
                    </a:p>
                  </a:txBody>
                  <a:tcPr anchor="ctr"/>
                </a:tc>
                <a:extLst>
                  <a:ext uri="{0D108BD9-81ED-4DB2-BD59-A6C34878D82A}">
                    <a16:rowId xmlns:a16="http://schemas.microsoft.com/office/drawing/2014/main" val="10005"/>
                  </a:ext>
                </a:extLst>
              </a:tr>
            </a:tbl>
          </a:graphicData>
        </a:graphic>
      </p:graphicFrame>
      <p:sp>
        <p:nvSpPr>
          <p:cNvPr id="10" name="Text Box 9"/>
          <p:cNvSpPr txBox="1"/>
          <p:nvPr/>
        </p:nvSpPr>
        <p:spPr>
          <a:xfrm>
            <a:off x="308610" y="5455285"/>
            <a:ext cx="4064000" cy="368300"/>
          </a:xfrm>
          <a:prstGeom prst="rect">
            <a:avLst/>
          </a:prstGeom>
          <a:noFill/>
        </p:spPr>
        <p:txBody>
          <a:bodyPr wrap="square" rtlCol="0">
            <a:spAutoFit/>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550" y="365125"/>
            <a:ext cx="10515600" cy="770208"/>
          </a:xfrm>
        </p:spPr>
        <p:txBody>
          <a:bodyPr>
            <a:normAutofit/>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Proposed System / Work</a:t>
            </a:r>
            <a:endParaRPr lang="en-US" sz="4000">
              <a:solidFill>
                <a:schemeClr val="accent1">
                  <a:lumMod val="76000"/>
                </a:schemeClr>
              </a:solidFill>
              <a:latin typeface="Times New Roman" panose="02020603050405020304"/>
              <a:cs typeface="Times New Roman" panose="02020603050405020304"/>
            </a:endParaRPr>
          </a:p>
        </p:txBody>
      </p:sp>
      <p:sp>
        <p:nvSpPr>
          <p:cNvPr id="3" name="Content Placeholder 2"/>
          <p:cNvSpPr>
            <a:spLocks noGrp="1"/>
          </p:cNvSpPr>
          <p:nvPr>
            <p:ph idx="1"/>
          </p:nvPr>
        </p:nvSpPr>
        <p:spPr>
          <a:xfrm>
            <a:off x="838200" y="1135380"/>
            <a:ext cx="9766300" cy="4476115"/>
          </a:xfrm>
        </p:spPr>
        <p:txBody>
          <a:bodyPr vert="horz" lIns="91440" tIns="45720" rIns="91440" bIns="45720" rtlCol="0" anchor="t">
            <a:noAutofit/>
          </a:bodyPr>
          <a:lstStyle/>
          <a:p>
            <a:pPr>
              <a:buNone/>
            </a:pPr>
            <a:r>
              <a:rPr lang="en-US" sz="2400" b="1">
                <a:latin typeface="Times New Roman" panose="02020603050405020304"/>
                <a:ea typeface="+mn-lt"/>
                <a:cs typeface="Times New Roman" panose="02020603050405020304"/>
              </a:rPr>
              <a:t>Proposed System</a:t>
            </a:r>
            <a:endParaRPr lang="en-US" sz="2400" b="1">
              <a:latin typeface="Times New Roman" panose="02020603050405020304"/>
              <a:cs typeface="Times New Roman" panose="02020603050405020304"/>
            </a:endParaRPr>
          </a:p>
          <a:p>
            <a:pPr>
              <a:buNone/>
            </a:pPr>
            <a:r>
              <a:rPr lang="en-US" sz="2400">
                <a:latin typeface="Times New Roman" panose="02020603050405020304"/>
                <a:ea typeface="+mn-lt"/>
                <a:cs typeface="Times New Roman" panose="02020603050405020304"/>
              </a:rPr>
              <a:t>The proposed system automates vehicle and rail wheel</a:t>
            </a:r>
            <a:endParaRPr lang="en-US" sz="2400" dirty="0">
              <a:latin typeface="Times New Roman" panose="02020603050405020304"/>
              <a:ea typeface="+mn-lt"/>
              <a:cs typeface="Times New Roman" panose="02020603050405020304"/>
            </a:endParaRPr>
          </a:p>
          <a:p>
            <a:pPr>
              <a:buNone/>
            </a:pPr>
            <a:r>
              <a:rPr lang="en-US" sz="2400" dirty="0">
                <a:latin typeface="Times New Roman" panose="02020603050405020304"/>
                <a:ea typeface="+mn-lt"/>
                <a:cs typeface="Times New Roman" panose="02020603050405020304"/>
              </a:rPr>
              <a:t>monitoring using object detection and full-stack Integrat</a:t>
            </a:r>
            <a:r>
              <a:rPr lang="en-US" sz="2400">
                <a:latin typeface="Times New Roman" panose="02020603050405020304"/>
                <a:ea typeface="+mn-lt"/>
                <a:cs typeface="Times New Roman" panose="02020603050405020304"/>
              </a:rPr>
              <a:t>ion.</a:t>
            </a:r>
            <a:endParaRPr lang="en-US" sz="2400">
              <a:latin typeface="Times New Roman" panose="02020603050405020304"/>
              <a:cs typeface="Times New Roman" panose="02020603050405020304"/>
            </a:endParaRPr>
          </a:p>
          <a:p>
            <a:pPr>
              <a:buNone/>
            </a:pPr>
            <a:r>
              <a:rPr lang="en-US" sz="2400" b="1">
                <a:latin typeface="Times New Roman" panose="02020603050405020304"/>
                <a:cs typeface="Times New Roman" panose="02020603050405020304"/>
              </a:rPr>
              <a:t>System Flow</a:t>
            </a:r>
          </a:p>
          <a:p>
            <a:pPr>
              <a:buFont typeface="Arial" panose="020B0604020202020204"/>
              <a:buChar char="•"/>
            </a:pPr>
            <a:r>
              <a:rPr lang="en-US" sz="2400">
                <a:latin typeface="Times New Roman" panose="02020603050405020304"/>
                <a:ea typeface="+mn-lt"/>
                <a:cs typeface="Times New Roman" panose="02020603050405020304"/>
              </a:rPr>
              <a:t>Camera captures vehicle at factory gate</a:t>
            </a:r>
            <a:endParaRPr lang="en-US" sz="2400">
              <a:latin typeface="Times New Roman" panose="02020603050405020304"/>
              <a:cs typeface="Times New Roman" panose="02020603050405020304"/>
            </a:endParaRPr>
          </a:p>
          <a:p>
            <a:pPr>
              <a:buFont typeface="Arial" panose="020B0604020202020204"/>
              <a:buChar char="•"/>
            </a:pPr>
            <a:r>
              <a:rPr lang="en-US" sz="2400" dirty="0">
                <a:latin typeface="Times New Roman" panose="02020603050405020304"/>
                <a:ea typeface="+mn-lt"/>
                <a:cs typeface="Times New Roman" panose="02020603050405020304"/>
              </a:rPr>
              <a:t>Object detection identifies vehicle and rail wheels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Wheel count is generated automatically</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Backend processes detection results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Data stored in SQL database</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Dashboard displays inward and outward records</a:t>
            </a:r>
            <a:endParaRPr lang="en-US" sz="2400">
              <a:latin typeface="Times New Roman" panose="02020603050405020304"/>
              <a:cs typeface="Times New Roman" panose="02020603050405020304"/>
            </a:endParaRPr>
          </a:p>
          <a:p>
            <a:pPr marL="0" indent="0">
              <a:buNone/>
            </a:pPr>
            <a:endParaRPr lang="en-US" sz="2400" b="1" dirty="0">
              <a:latin typeface="Times New Roman" panose="02020603050405020304"/>
              <a:ea typeface="Calibri" panose="020F0502020204030204"/>
              <a:cs typeface="Times New Roman" panose="02020603050405020304"/>
            </a:endParaRPr>
          </a:p>
          <a:p>
            <a:endParaRPr lang="en-US" sz="2400" b="1"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9</a:t>
            </a:fld>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545" y="365125"/>
            <a:ext cx="10515600" cy="783123"/>
          </a:xfrm>
        </p:spPr>
        <p:txBody>
          <a:bodyPr>
            <a:normAutofit/>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Problem Statement</a:t>
            </a:r>
            <a:endParaRPr lang="en-US" sz="4000" dirty="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509270" y="1358265"/>
            <a:ext cx="10707370" cy="4681855"/>
          </a:xfrm>
        </p:spPr>
        <p:txBody>
          <a:bodyPr vert="horz" lIns="91440" tIns="45720" rIns="91440" bIns="45720" rtlCol="0" anchor="t">
            <a:noAutofit/>
          </a:bodyPr>
          <a:lstStyle/>
          <a:p>
            <a:pPr>
              <a:buNone/>
            </a:pPr>
            <a:r>
              <a:rPr lang="en-US" sz="2400" b="1">
                <a:latin typeface="Times New Roman" panose="02020603050405020304"/>
                <a:cs typeface="Times New Roman" panose="02020603050405020304"/>
              </a:rPr>
              <a:t>Problem Statement</a:t>
            </a:r>
          </a:p>
          <a:p>
            <a:pPr>
              <a:buFont typeface="Arial" panose="020B0604020202020204"/>
              <a:buChar char="•"/>
            </a:pPr>
            <a:r>
              <a:rPr lang="en-US" sz="2400">
                <a:latin typeface="Times New Roman" panose="02020603050405020304"/>
                <a:ea typeface="+mn-lt"/>
                <a:cs typeface="Times New Roman" panose="02020603050405020304"/>
              </a:rPr>
              <a:t>Vehicle entry and exit at factory gates are recorded manually.</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Rail wheel counting inside trucks depends on human inspection.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Manual counting increases the possibility of errors.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CCTV cameras are used only for surveillance, not automation.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No integrated system connects camera input, backend processing, and database storage.</a:t>
            </a:r>
            <a:endParaRPr lang="en-US" sz="2400">
              <a:latin typeface="Times New Roman" panose="02020603050405020304"/>
              <a:cs typeface="Times New Roman" panose="02020603050405020304"/>
            </a:endParaRPr>
          </a:p>
          <a:p>
            <a:pPr indent="0">
              <a:buNone/>
            </a:pPr>
            <a:r>
              <a:rPr lang="en-US" sz="2400">
                <a:latin typeface="Times New Roman" panose="02020603050405020304"/>
                <a:ea typeface="+mn-lt"/>
                <a:cs typeface="Times New Roman" panose="02020603050405020304"/>
              </a:rPr>
              <a:t>This results in lack of real-time tracking, reduced efficiency, and dependency on manual processes.</a:t>
            </a:r>
            <a:endParaRPr lang="en-US" sz="2400">
              <a:latin typeface="Times New Roman" panose="02020603050405020304"/>
              <a:cs typeface="Times New Roman" panose="02020603050405020304"/>
            </a:endParaRPr>
          </a:p>
          <a:p>
            <a:pPr marL="0" indent="0">
              <a:buNone/>
            </a:pPr>
            <a:endParaRPr lang="en-US" sz="2400" b="1" dirty="0">
              <a:latin typeface="Times New Roman" panose="02020603050405020304"/>
              <a:cs typeface="Times New Roman" panose="02020603050405020304"/>
            </a:endParaRPr>
          </a:p>
          <a:p>
            <a:endParaRPr lang="en-US" sz="2400" dirty="0">
              <a:latin typeface="Times New Roman" panose="02020603050405020304"/>
              <a:ea typeface="Calibri" panose="020F0502020204030204"/>
              <a:cs typeface="Calibri" panose="020F05020202040302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10</a:t>
            </a:fld>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269875"/>
            <a:ext cx="10515600" cy="480712"/>
          </a:xfrm>
        </p:spPr>
        <p:txBody>
          <a:bodyPr>
            <a:normAutofit fontScale="90000"/>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System Requirements</a:t>
            </a:r>
            <a:endParaRPr lang="en-US" sz="400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688340" y="899795"/>
            <a:ext cx="10115550" cy="4670425"/>
          </a:xfrm>
        </p:spPr>
        <p:txBody>
          <a:bodyPr vert="horz" lIns="91440" tIns="45720" rIns="91440" bIns="45720" rtlCol="0" anchor="t">
            <a:noAutofit/>
          </a:bodyPr>
          <a:lstStyle/>
          <a:p>
            <a:pPr>
              <a:buNone/>
            </a:pPr>
            <a:r>
              <a:rPr lang="en-US" sz="2400" b="1">
                <a:latin typeface="Times New Roman" panose="02020603050405020304"/>
                <a:cs typeface="Times New Roman" panose="02020603050405020304"/>
              </a:rPr>
              <a:t>Hardware Requirements</a:t>
            </a:r>
          </a:p>
          <a:p>
            <a:pPr>
              <a:buFont typeface="Arial" panose="020B0604020202020204"/>
              <a:buChar char="•"/>
            </a:pPr>
            <a:r>
              <a:rPr lang="en-US" sz="2400">
                <a:latin typeface="Times New Roman" panose="02020603050405020304"/>
                <a:ea typeface="+mn-lt"/>
                <a:cs typeface="Times New Roman" panose="02020603050405020304"/>
              </a:rPr>
              <a:t>CCTV / Industrial Camera at entry and exit gates</a:t>
            </a:r>
            <a:endParaRPr lang="en-US" sz="2400">
              <a:latin typeface="Times New Roman" panose="02020603050405020304"/>
              <a:cs typeface="Times New Roman" panose="02020603050405020304"/>
            </a:endParaRPr>
          </a:p>
          <a:p>
            <a:pPr>
              <a:buFont typeface="Arial" panose="020B0604020202020204"/>
              <a:buChar char="•"/>
            </a:pPr>
            <a:r>
              <a:rPr lang="en-US" sz="2400" dirty="0">
                <a:latin typeface="Times New Roman" panose="02020603050405020304"/>
                <a:ea typeface="+mn-lt"/>
                <a:cs typeface="Times New Roman" panose="02020603050405020304"/>
              </a:rPr>
              <a:t>Processing System (PC with sufficient RAM and GPU support if required)</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Stable Network Connectivity</a:t>
            </a:r>
            <a:endParaRPr lang="en-US" sz="2400">
              <a:latin typeface="Times New Roman" panose="02020603050405020304"/>
              <a:cs typeface="Times New Roman" panose="02020603050405020304"/>
            </a:endParaRPr>
          </a:p>
          <a:p>
            <a:pPr marL="0" indent="0">
              <a:buNone/>
            </a:pPr>
            <a:r>
              <a:rPr lang="en-US" sz="2400" b="1">
                <a:latin typeface="Times New Roman" panose="02020603050405020304"/>
                <a:cs typeface="Times New Roman" panose="02020603050405020304"/>
              </a:rPr>
              <a:t>Software Requirements</a:t>
            </a:r>
          </a:p>
          <a:p>
            <a:pPr>
              <a:buFont typeface="Arial" panose="020B0604020202020204"/>
              <a:buChar char="•"/>
            </a:pPr>
            <a:r>
              <a:rPr lang="en-US" sz="2400">
                <a:latin typeface="Times New Roman" panose="02020603050405020304"/>
                <a:ea typeface="+mn-lt"/>
                <a:cs typeface="Times New Roman" panose="02020603050405020304"/>
              </a:rPr>
              <a:t>Python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Flask (Backend API)</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SQL Server (Database)</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OpenCV (Object Detection)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ReactJS (Web Dashboard)</a:t>
            </a:r>
            <a:endParaRPr lang="en-US" sz="2400">
              <a:latin typeface="Times New Roman" panose="02020603050405020304"/>
              <a:cs typeface="Times New Roman" panose="02020603050405020304"/>
            </a:endParaRPr>
          </a:p>
          <a:p>
            <a:pPr>
              <a:buFont typeface="Arial" panose="020B0604020202020204"/>
              <a:buChar char="•"/>
            </a:pPr>
            <a:r>
              <a:rPr lang="en-US" sz="2400" dirty="0">
                <a:latin typeface="Times New Roman" panose="02020603050405020304"/>
                <a:ea typeface="+mn-lt"/>
                <a:cs typeface="Times New Roman" panose="02020603050405020304"/>
              </a:rPr>
              <a:t>Postman (API Testing)</a:t>
            </a:r>
            <a:endParaRPr lang="en-US" sz="2400" dirty="0">
              <a:latin typeface="Times New Roman" panose="02020603050405020304"/>
              <a:cs typeface="Times New Roman" panose="02020603050405020304"/>
            </a:endParaRPr>
          </a:p>
          <a:p>
            <a:pPr marL="0" indent="0">
              <a:buNone/>
            </a:pPr>
            <a:endParaRPr lang="en-US" sz="2400" b="1" dirty="0">
              <a:ea typeface="Calibri" panose="020F0502020204030204"/>
              <a:cs typeface="Calibri" panose="020F0502020204030204"/>
            </a:endParaRPr>
          </a:p>
          <a:p>
            <a:endParaRPr lang="en-US" sz="2200" b="1" dirty="0">
              <a:ea typeface="Calibri" panose="020F0502020204030204"/>
              <a:cs typeface="Calibri" panose="020F05020202040302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11</a:t>
            </a:fld>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930" y="375285"/>
            <a:ext cx="10515600" cy="783123"/>
          </a:xfrm>
        </p:spPr>
        <p:txBody>
          <a:bodyPr>
            <a:normAutofit/>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Advantages of Proposed System/Work</a:t>
            </a:r>
            <a:endParaRPr lang="en-US" sz="400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838200" y="1270270"/>
            <a:ext cx="10515600" cy="4002626"/>
          </a:xfrm>
        </p:spPr>
        <p:txBody>
          <a:bodyPr vert="horz" lIns="91440" tIns="45720" rIns="91440" bIns="45720" rtlCol="0" anchor="t">
            <a:normAutofit/>
          </a:bodyPr>
          <a:lstStyle/>
          <a:p>
            <a:pPr>
              <a:buNone/>
            </a:pPr>
            <a:r>
              <a:rPr lang="en-US" sz="2400" b="1">
                <a:latin typeface="Times New Roman" panose="02020603050405020304"/>
                <a:cs typeface="Times New Roman" panose="02020603050405020304"/>
              </a:rPr>
              <a:t>Future Enhancements</a:t>
            </a:r>
          </a:p>
          <a:p>
            <a:pPr>
              <a:buFont typeface="Arial" panose="020B0604020202020204"/>
              <a:buChar char="•"/>
            </a:pPr>
            <a:r>
              <a:rPr lang="en-US" sz="2400">
                <a:latin typeface="Times New Roman" panose="02020603050405020304"/>
                <a:ea typeface="+mn-lt"/>
                <a:cs typeface="Times New Roman" panose="02020603050405020304"/>
              </a:rPr>
              <a:t>Improve detection accuracy using trained datasets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Implement full number plate recognition (OCR integration)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Complete real-time dashboard integration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Add automatic entry/exit direction detection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Optimize system performance for live video processing</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Prepare system for deployment in real factory environment</a:t>
            </a:r>
            <a:endParaRPr lang="en-US" sz="2400">
              <a:latin typeface="Times New Roman" panose="02020603050405020304"/>
              <a:cs typeface="Times New Roman" panose="02020603050405020304"/>
            </a:endParaRPr>
          </a:p>
          <a:p>
            <a:pPr marL="0" indent="0">
              <a:buNone/>
            </a:pPr>
            <a:endParaRPr lang="en-US" sz="2400" b="1" dirty="0">
              <a:latin typeface="Times New Roman" panose="02020603050405020304"/>
              <a:cs typeface="Times New Roman" panose="02020603050405020304"/>
            </a:endParaRPr>
          </a:p>
          <a:p>
            <a:endParaRPr lang="en-US" sz="2400" dirty="0">
              <a:latin typeface="Times New Roman" panose="02020603050405020304"/>
              <a:ea typeface="Calibri" panose="020F0502020204030204"/>
              <a:cs typeface="Calibri" panose="020F05020202040302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12</a:t>
            </a:fld>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0"/>
            <a:ext cx="8435975" cy="790575"/>
          </a:xfrm>
        </p:spPr>
        <p:txBody>
          <a:bodyPr>
            <a:normAutofit/>
            <a:scene3d>
              <a:camera prst="orthographicFront"/>
              <a:lightRig rig="threePt" dir="t"/>
            </a:scene3d>
          </a:bodyPr>
          <a:lstStyle/>
          <a:p>
            <a:pPr algn="l"/>
            <a:r>
              <a:rPr lang="en-IN" sz="2800" b="1" dirty="0">
                <a:solidFill>
                  <a:schemeClr val="accent1">
                    <a:lumMod val="75000"/>
                  </a:schemeClr>
                </a:solidFill>
                <a:latin typeface="Times New Roman" panose="02020603050405020304" pitchFamily="18" charset="0"/>
                <a:cs typeface="Times New Roman" panose="02020603050405020304" pitchFamily="18" charset="0"/>
                <a:sym typeface="+mn-ea"/>
              </a:rPr>
              <a:t>System Design</a:t>
            </a:r>
            <a:endParaRPr lang="en-IN" sz="2800" b="1" dirty="0">
              <a:solidFill>
                <a:schemeClr val="accent1">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sym typeface="+mn-ea"/>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13</a:t>
            </a:fld>
            <a:endParaRPr lang="en-IN" dirty="0"/>
          </a:p>
        </p:txBody>
      </p:sp>
      <p:sp>
        <p:nvSpPr>
          <p:cNvPr id="9" name="Rectangles 8"/>
          <p:cNvSpPr/>
          <p:nvPr/>
        </p:nvSpPr>
        <p:spPr>
          <a:xfrm>
            <a:off x="2687955" y="790575"/>
            <a:ext cx="1645285" cy="56959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a:t>Initialize Camera System</a:t>
            </a:r>
            <a:endParaRPr lang="en-US"/>
          </a:p>
        </p:txBody>
      </p:sp>
      <p:sp>
        <p:nvSpPr>
          <p:cNvPr id="10" name="Rectangles 9"/>
          <p:cNvSpPr/>
          <p:nvPr/>
        </p:nvSpPr>
        <p:spPr>
          <a:xfrm>
            <a:off x="2687955" y="1510665"/>
            <a:ext cx="1676400" cy="7143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a:t>Capture Vehicle Image</a:t>
            </a:r>
          </a:p>
          <a:p>
            <a:pPr algn="ctr"/>
            <a:r>
              <a:rPr lang="en-US" altLang="en-US"/>
              <a:t>or Video Frame</a:t>
            </a:r>
          </a:p>
        </p:txBody>
      </p:sp>
      <p:sp>
        <p:nvSpPr>
          <p:cNvPr id="11" name="Rectangles 10"/>
          <p:cNvSpPr/>
          <p:nvPr/>
        </p:nvSpPr>
        <p:spPr>
          <a:xfrm>
            <a:off x="2687320" y="2375535"/>
            <a:ext cx="1645285" cy="71628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a:t>Preprocess Image</a:t>
            </a:r>
          </a:p>
          <a:p>
            <a:pPr algn="ctr"/>
            <a:r>
              <a:rPr lang="en-US" altLang="en-US"/>
              <a:t>Using OpenCV</a:t>
            </a:r>
          </a:p>
        </p:txBody>
      </p:sp>
      <p:sp>
        <p:nvSpPr>
          <p:cNvPr id="12" name="Oval 11"/>
          <p:cNvSpPr/>
          <p:nvPr/>
        </p:nvSpPr>
        <p:spPr>
          <a:xfrm>
            <a:off x="2929890" y="116205"/>
            <a:ext cx="1276985" cy="52387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a:t>Start System</a:t>
            </a:r>
          </a:p>
        </p:txBody>
      </p:sp>
      <p:sp>
        <p:nvSpPr>
          <p:cNvPr id="13" name="Rectangles 12"/>
          <p:cNvSpPr/>
          <p:nvPr/>
        </p:nvSpPr>
        <p:spPr>
          <a:xfrm>
            <a:off x="2687955" y="3242310"/>
            <a:ext cx="1676400" cy="635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a:t>Apply Object Detection</a:t>
            </a:r>
          </a:p>
          <a:p>
            <a:pPr algn="ctr"/>
            <a:r>
              <a:rPr lang="en-US" altLang="en-US"/>
              <a:t>Model</a:t>
            </a:r>
          </a:p>
        </p:txBody>
      </p:sp>
      <p:sp>
        <p:nvSpPr>
          <p:cNvPr id="14" name="Diamond 13"/>
          <p:cNvSpPr/>
          <p:nvPr/>
        </p:nvSpPr>
        <p:spPr>
          <a:xfrm>
            <a:off x="2496820" y="4154805"/>
            <a:ext cx="2025650" cy="858520"/>
          </a:xfrm>
          <a:prstGeom prst="diamond">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1600"/>
              <a:t>Is Vehicle</a:t>
            </a:r>
          </a:p>
          <a:p>
            <a:pPr algn="ctr"/>
            <a:r>
              <a:rPr lang="en-US" altLang="en-US" sz="1600"/>
              <a:t>Detected?</a:t>
            </a:r>
          </a:p>
        </p:txBody>
      </p:sp>
      <p:sp>
        <p:nvSpPr>
          <p:cNvPr id="3" name="Rectangles 2"/>
          <p:cNvSpPr/>
          <p:nvPr/>
        </p:nvSpPr>
        <p:spPr>
          <a:xfrm>
            <a:off x="4943475" y="4116705"/>
            <a:ext cx="1614170" cy="62801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a:t>Capture Next Frame</a:t>
            </a:r>
          </a:p>
        </p:txBody>
      </p:sp>
      <p:sp>
        <p:nvSpPr>
          <p:cNvPr id="6" name="Rectangles 5"/>
          <p:cNvSpPr/>
          <p:nvPr/>
        </p:nvSpPr>
        <p:spPr>
          <a:xfrm>
            <a:off x="292100" y="4138295"/>
            <a:ext cx="1648460" cy="60642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1400"/>
              <a:t>Detect Rail Wheels</a:t>
            </a:r>
          </a:p>
          <a:p>
            <a:pPr algn="ctr"/>
            <a:r>
              <a:rPr lang="en-US" altLang="en-US" sz="1400"/>
              <a:t>Inside the Truck</a:t>
            </a:r>
          </a:p>
        </p:txBody>
      </p:sp>
      <p:sp>
        <p:nvSpPr>
          <p:cNvPr id="7" name="Rectangles 6"/>
          <p:cNvSpPr/>
          <p:nvPr/>
        </p:nvSpPr>
        <p:spPr>
          <a:xfrm>
            <a:off x="2687320" y="5163820"/>
            <a:ext cx="1677670" cy="7251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1600"/>
              <a:t>Count Number</a:t>
            </a:r>
          </a:p>
          <a:p>
            <a:pPr algn="ctr"/>
            <a:r>
              <a:rPr lang="en-US" altLang="en-US" sz="1600"/>
              <a:t>of Rail Wheels</a:t>
            </a:r>
          </a:p>
        </p:txBody>
      </p:sp>
      <p:sp>
        <p:nvSpPr>
          <p:cNvPr id="8" name="Rectangles 7"/>
          <p:cNvSpPr/>
          <p:nvPr/>
        </p:nvSpPr>
        <p:spPr>
          <a:xfrm>
            <a:off x="6927850" y="1793875"/>
            <a:ext cx="1634490" cy="7867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1400"/>
              <a:t>Send Detection Data</a:t>
            </a:r>
          </a:p>
          <a:p>
            <a:pPr algn="ctr"/>
            <a:r>
              <a:rPr lang="en-US" altLang="en-US" sz="1400"/>
              <a:t>to Flask Backend API</a:t>
            </a:r>
          </a:p>
        </p:txBody>
      </p:sp>
      <p:sp>
        <p:nvSpPr>
          <p:cNvPr id="15" name="Rectangles 14"/>
          <p:cNvSpPr/>
          <p:nvPr/>
        </p:nvSpPr>
        <p:spPr>
          <a:xfrm>
            <a:off x="6918960" y="2796540"/>
            <a:ext cx="1634490" cy="71818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1600"/>
              <a:t>Store Vehicle and</a:t>
            </a:r>
          </a:p>
          <a:p>
            <a:pPr algn="ctr"/>
            <a:r>
              <a:rPr lang="en-US" altLang="en-US" sz="1600"/>
              <a:t>Wheel Data in</a:t>
            </a:r>
          </a:p>
          <a:p>
            <a:pPr algn="ctr"/>
            <a:r>
              <a:rPr lang="en-US" altLang="en-US" sz="1600"/>
              <a:t>SQL Database</a:t>
            </a:r>
          </a:p>
        </p:txBody>
      </p:sp>
      <p:sp>
        <p:nvSpPr>
          <p:cNvPr id="16" name="Rectangles 15"/>
          <p:cNvSpPr/>
          <p:nvPr/>
        </p:nvSpPr>
        <p:spPr>
          <a:xfrm>
            <a:off x="6961505" y="3849370"/>
            <a:ext cx="1649095" cy="9144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1600"/>
              <a:t>Display Monitoring</a:t>
            </a:r>
          </a:p>
          <a:p>
            <a:pPr algn="ctr"/>
            <a:r>
              <a:rPr lang="en-US" altLang="en-US" sz="1600"/>
              <a:t>Data in Web</a:t>
            </a:r>
          </a:p>
          <a:p>
            <a:pPr algn="ctr"/>
            <a:r>
              <a:rPr lang="en-US" altLang="en-US" sz="1600"/>
              <a:t>Dashboard</a:t>
            </a:r>
          </a:p>
        </p:txBody>
      </p:sp>
      <p:sp>
        <p:nvSpPr>
          <p:cNvPr id="17" name="Oval 16"/>
          <p:cNvSpPr/>
          <p:nvPr/>
        </p:nvSpPr>
        <p:spPr>
          <a:xfrm>
            <a:off x="7191375" y="5098415"/>
            <a:ext cx="1189990" cy="56324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1600"/>
              <a:t>End System</a:t>
            </a:r>
          </a:p>
        </p:txBody>
      </p:sp>
      <p:sp>
        <p:nvSpPr>
          <p:cNvPr id="18" name="Down Arrow 17"/>
          <p:cNvSpPr/>
          <p:nvPr/>
        </p:nvSpPr>
        <p:spPr>
          <a:xfrm>
            <a:off x="3519805" y="643255"/>
            <a:ext cx="104140" cy="147320"/>
          </a:xfrm>
          <a:prstGeom prst="downArrow">
            <a:avLst/>
          </a:prstGeom>
          <a:gradFill>
            <a:gsLst>
              <a:gs pos="50000">
                <a:schemeClr val="tx1"/>
              </a:gs>
              <a:gs pos="0">
                <a:schemeClr val="tx1">
                  <a:lumMod val="25000"/>
                  <a:lumOff val="75000"/>
                </a:schemeClr>
              </a:gs>
              <a:gs pos="100000">
                <a:schemeClr val="tx1">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9" name="Down Arrow 18"/>
          <p:cNvSpPr/>
          <p:nvPr/>
        </p:nvSpPr>
        <p:spPr>
          <a:xfrm>
            <a:off x="3521710" y="1343025"/>
            <a:ext cx="106045" cy="1695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0" name="Down Arrow 19"/>
          <p:cNvSpPr/>
          <p:nvPr/>
        </p:nvSpPr>
        <p:spPr>
          <a:xfrm>
            <a:off x="3521710" y="2223770"/>
            <a:ext cx="138430" cy="13779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1" name="Down Arrow 20"/>
          <p:cNvSpPr/>
          <p:nvPr/>
        </p:nvSpPr>
        <p:spPr>
          <a:xfrm>
            <a:off x="3415665" y="3957955"/>
            <a:ext cx="212090" cy="1593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3" name="Down Arrow 22"/>
          <p:cNvSpPr/>
          <p:nvPr/>
        </p:nvSpPr>
        <p:spPr>
          <a:xfrm>
            <a:off x="3405505" y="4982845"/>
            <a:ext cx="190500" cy="1695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7" name="Down Arrow 26"/>
          <p:cNvSpPr/>
          <p:nvPr/>
        </p:nvSpPr>
        <p:spPr>
          <a:xfrm>
            <a:off x="7586980" y="1553845"/>
            <a:ext cx="222885" cy="22415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8" name="Down Arrow 27"/>
          <p:cNvSpPr/>
          <p:nvPr/>
        </p:nvSpPr>
        <p:spPr>
          <a:xfrm>
            <a:off x="7629525" y="2626995"/>
            <a:ext cx="180340" cy="1695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9" name="Down Arrow 28"/>
          <p:cNvSpPr/>
          <p:nvPr/>
        </p:nvSpPr>
        <p:spPr>
          <a:xfrm>
            <a:off x="7629525" y="3604260"/>
            <a:ext cx="191135" cy="2228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0" name="Down Arrow 29"/>
          <p:cNvSpPr/>
          <p:nvPr/>
        </p:nvSpPr>
        <p:spPr>
          <a:xfrm>
            <a:off x="7651115" y="4851400"/>
            <a:ext cx="169545" cy="1593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2" name="Down Arrow 31"/>
          <p:cNvSpPr/>
          <p:nvPr/>
        </p:nvSpPr>
        <p:spPr>
          <a:xfrm>
            <a:off x="3469005" y="3093720"/>
            <a:ext cx="116840" cy="14859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cxnSp>
        <p:nvCxnSpPr>
          <p:cNvPr id="33" name="Elbow Connector 32"/>
          <p:cNvCxnSpPr>
            <a:stCxn id="14" idx="3"/>
          </p:cNvCxnSpPr>
          <p:nvPr/>
        </p:nvCxnSpPr>
        <p:spPr>
          <a:xfrm flipV="1">
            <a:off x="4522470" y="4366895"/>
            <a:ext cx="421005" cy="217170"/>
          </a:xfrm>
          <a:prstGeom prst="bentConnector3">
            <a:avLst>
              <a:gd name="adj1" fmla="val 50075"/>
            </a:avLst>
          </a:prstGeom>
          <a:ln>
            <a:tailEnd type="arrow"/>
          </a:ln>
        </p:spPr>
        <p:style>
          <a:lnRef idx="2">
            <a:schemeClr val="accent1"/>
          </a:lnRef>
          <a:fillRef idx="0">
            <a:srgbClr val="FFFFFF"/>
          </a:fillRef>
          <a:effectRef idx="0">
            <a:srgbClr val="FFFFFF"/>
          </a:effectRef>
          <a:fontRef idx="minor">
            <a:schemeClr val="tx1"/>
          </a:fontRef>
        </p:style>
      </p:cxnSp>
      <p:cxnSp>
        <p:nvCxnSpPr>
          <p:cNvPr id="34" name="Elbow Connector 33"/>
          <p:cNvCxnSpPr>
            <a:stCxn id="14" idx="1"/>
          </p:cNvCxnSpPr>
          <p:nvPr/>
        </p:nvCxnSpPr>
        <p:spPr>
          <a:xfrm rot="10800000">
            <a:off x="1940560" y="4356735"/>
            <a:ext cx="555625" cy="227330"/>
          </a:xfrm>
          <a:prstGeom prst="bentConnector3">
            <a:avLst>
              <a:gd name="adj1" fmla="val 49943"/>
            </a:avLst>
          </a:prstGeom>
          <a:ln>
            <a:tailEnd type="arrow"/>
          </a:ln>
        </p:spPr>
        <p:style>
          <a:lnRef idx="2">
            <a:schemeClr val="accent1"/>
          </a:lnRef>
          <a:fillRef idx="0">
            <a:srgbClr val="FFFFFF"/>
          </a:fillRef>
          <a:effectRef idx="0">
            <a:srgbClr val="FFFFFF"/>
          </a:effectRef>
          <a:fontRef idx="minor">
            <a:schemeClr val="tx1"/>
          </a:fontRef>
        </p:style>
      </p:cxnSp>
      <p:sp>
        <p:nvSpPr>
          <p:cNvPr id="36" name="Text Box 35"/>
          <p:cNvSpPr txBox="1"/>
          <p:nvPr/>
        </p:nvSpPr>
        <p:spPr>
          <a:xfrm>
            <a:off x="444500" y="3815080"/>
            <a:ext cx="2052320" cy="368300"/>
          </a:xfrm>
          <a:prstGeom prst="rect">
            <a:avLst/>
          </a:prstGeom>
          <a:noFill/>
        </p:spPr>
        <p:txBody>
          <a:bodyPr wrap="square" rtlCol="0">
            <a:spAutoFit/>
          </a:bodyPr>
          <a:lstStyle/>
          <a:p>
            <a:r>
              <a:rPr lang="en-US"/>
              <a:t>YES</a:t>
            </a:r>
          </a:p>
        </p:txBody>
      </p:sp>
      <p:sp>
        <p:nvSpPr>
          <p:cNvPr id="37" name="Text Box 36"/>
          <p:cNvSpPr txBox="1"/>
          <p:nvPr/>
        </p:nvSpPr>
        <p:spPr>
          <a:xfrm>
            <a:off x="5484495" y="3763645"/>
            <a:ext cx="4064000" cy="368300"/>
          </a:xfrm>
          <a:prstGeom prst="rect">
            <a:avLst/>
          </a:prstGeom>
          <a:noFill/>
        </p:spPr>
        <p:txBody>
          <a:bodyPr wrap="square" rtlCol="0">
            <a:spAutoFit/>
          </a:bodyPr>
          <a:lstStyle/>
          <a:p>
            <a:r>
              <a:rPr lang="en-US"/>
              <a:t>NO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0340"/>
            <a:ext cx="6866255" cy="428625"/>
          </a:xfrm>
        </p:spPr>
        <p:txBody>
          <a:bodyPr>
            <a:noAutofit/>
          </a:bodyPr>
          <a:lstStyle/>
          <a:p>
            <a:r>
              <a:rPr lang="en-IN" sz="3600" b="1" dirty="0">
                <a:solidFill>
                  <a:schemeClr val="accent1">
                    <a:lumMod val="75000"/>
                  </a:schemeClr>
                </a:solidFill>
                <a:latin typeface="Times New Roman" panose="02020603050405020304" pitchFamily="18" charset="0"/>
                <a:cs typeface="Times New Roman" panose="02020603050405020304" pitchFamily="18" charset="0"/>
                <a:sym typeface="+mn-ea"/>
              </a:rPr>
              <a:t>System Implementation (50%)</a:t>
            </a:r>
          </a:p>
        </p:txBody>
      </p:sp>
      <p:sp>
        <p:nvSpPr>
          <p:cNvPr id="3" name="Content Placeholder 2"/>
          <p:cNvSpPr>
            <a:spLocks noGrp="1"/>
          </p:cNvSpPr>
          <p:nvPr>
            <p:ph idx="1"/>
          </p:nvPr>
        </p:nvSpPr>
        <p:spPr>
          <a:xfrm>
            <a:off x="128905" y="608965"/>
            <a:ext cx="12190095" cy="5950585"/>
          </a:xfrm>
        </p:spPr>
        <p:txBody>
          <a:bodyPr vert="horz" lIns="91440" tIns="45720" rIns="91440" bIns="45720" rtlCol="0" anchor="t">
            <a:noAutofit/>
          </a:bodyPr>
          <a:lstStyle/>
          <a:p>
            <a:pPr algn="l">
              <a:buFont typeface="Arial" panose="020B0604020202020204" pitchFamily="34" charset="0"/>
              <a:buChar char="•"/>
            </a:pPr>
            <a:r>
              <a:rPr lang="en-US" altLang="en-US" sz="2400" b="1" dirty="0">
                <a:latin typeface="Times New Roman" panose="02020603050405020304"/>
                <a:ea typeface="Calibri" panose="020F0502020204030204"/>
                <a:cs typeface="Times New Roman" panose="02020603050405020304"/>
              </a:rPr>
              <a:t>Start System</a:t>
            </a:r>
          </a:p>
          <a:p>
            <a:pPr algn="l">
              <a:buNone/>
            </a:pPr>
            <a:r>
              <a:rPr lang="en-US" altLang="en-US" sz="2400" dirty="0">
                <a:latin typeface="Times New Roman" panose="02020603050405020304"/>
                <a:ea typeface="Calibri" panose="020F0502020204030204"/>
                <a:cs typeface="Times New Roman" panose="02020603050405020304"/>
              </a:rPr>
              <a:t>The monitoring system is started and the required modules are initialized.</a:t>
            </a:r>
          </a:p>
          <a:p>
            <a:pPr algn="l">
              <a:buFont typeface="Arial" panose="020B0604020202020204" pitchFamily="34" charset="0"/>
              <a:buChar char="•"/>
            </a:pPr>
            <a:r>
              <a:rPr lang="en-US" altLang="en-US" sz="2400" b="1" dirty="0">
                <a:latin typeface="Times New Roman" panose="02020603050405020304"/>
                <a:ea typeface="Calibri" panose="020F0502020204030204"/>
                <a:cs typeface="Times New Roman" panose="02020603050405020304"/>
              </a:rPr>
              <a:t>Initialize Camera and Video Capture</a:t>
            </a:r>
          </a:p>
          <a:p>
            <a:pPr algn="l">
              <a:buNone/>
            </a:pPr>
            <a:r>
              <a:rPr lang="en-US" altLang="en-US" sz="2400" dirty="0">
                <a:latin typeface="Times New Roman" panose="02020603050405020304"/>
                <a:ea typeface="Calibri" panose="020F0502020204030204"/>
                <a:cs typeface="Times New Roman" panose="02020603050405020304"/>
              </a:rPr>
              <a:t>The CCTV or connected camera is initialized to capture vehicle images or video frames at the factory gate.</a:t>
            </a:r>
          </a:p>
          <a:p>
            <a:pPr algn="l"/>
            <a:r>
              <a:rPr lang="en-US" altLang="en-US" sz="2400" b="1" dirty="0">
                <a:latin typeface="Times New Roman" panose="02020603050405020304"/>
                <a:ea typeface="Calibri" panose="020F0502020204030204"/>
                <a:cs typeface="Times New Roman" panose="02020603050405020304"/>
              </a:rPr>
              <a:t>Capture Vehicle Image / Video Frame</a:t>
            </a:r>
          </a:p>
          <a:p>
            <a:pPr algn="l">
              <a:buNone/>
            </a:pPr>
            <a:r>
              <a:rPr lang="en-US" altLang="en-US" sz="2400" dirty="0">
                <a:latin typeface="Times New Roman" panose="02020603050405020304"/>
                <a:ea typeface="Calibri" panose="020F0502020204030204"/>
                <a:cs typeface="Times New Roman" panose="02020603050405020304"/>
              </a:rPr>
              <a:t>The system continuously captures frames from the camera to monitor incoming vehicles.</a:t>
            </a:r>
          </a:p>
          <a:p>
            <a:pPr algn="l"/>
            <a:r>
              <a:rPr lang="en-US" altLang="en-US" sz="2400" b="1" dirty="0">
                <a:latin typeface="Times New Roman" panose="02020603050405020304"/>
                <a:ea typeface="Calibri" panose="020F0502020204030204"/>
                <a:cs typeface="Times New Roman" panose="02020603050405020304"/>
              </a:rPr>
              <a:t>Preprocess Image using OpenCV</a:t>
            </a:r>
          </a:p>
          <a:p>
            <a:pPr algn="l">
              <a:buNone/>
            </a:pPr>
            <a:r>
              <a:rPr lang="en-US" altLang="en-US" sz="2400" dirty="0">
                <a:latin typeface="Times New Roman" panose="02020603050405020304"/>
                <a:ea typeface="Calibri" panose="020F0502020204030204"/>
                <a:cs typeface="Times New Roman" panose="02020603050405020304"/>
              </a:rPr>
              <a:t>The captured frame is processed using OpenCV techniques such as resizing and filtering to improve detection performance.</a:t>
            </a:r>
          </a:p>
          <a:p>
            <a:pPr algn="l"/>
            <a:r>
              <a:rPr lang="en-US" altLang="en-US" sz="2400" b="1" dirty="0">
                <a:latin typeface="Times New Roman" panose="02020603050405020304"/>
                <a:ea typeface="Calibri" panose="020F0502020204030204"/>
                <a:cs typeface="Times New Roman" panose="02020603050405020304"/>
              </a:rPr>
              <a:t>Apply Object Detection Model</a:t>
            </a:r>
          </a:p>
          <a:p>
            <a:pPr algn="l">
              <a:buNone/>
            </a:pPr>
            <a:r>
              <a:rPr lang="en-US" altLang="en-US" sz="2400" dirty="0">
                <a:latin typeface="Times New Roman" panose="02020603050405020304"/>
                <a:ea typeface="Calibri" panose="020F0502020204030204"/>
                <a:cs typeface="Times New Roman" panose="02020603050405020304"/>
              </a:rPr>
              <a:t>The object detection algorithm is applied to identify vehicles and rail wheels present in the image.</a:t>
            </a:r>
          </a:p>
          <a:p>
            <a:pPr algn="l">
              <a:buFont typeface="Arial" panose="020B0604020202020204" pitchFamily="34" charset="0"/>
              <a:buChar char="•"/>
            </a:pPr>
            <a:endParaRPr lang="en-US" altLang="en-US" sz="24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14</a:t>
            </a:fld>
            <a:endParaRPr lang="en-IN" dirty="0"/>
          </a:p>
        </p:txBody>
      </p:sp>
      <p:sp>
        <p:nvSpPr>
          <p:cNvPr id="6" name="Text Box 5"/>
          <p:cNvSpPr txBox="1"/>
          <p:nvPr/>
        </p:nvSpPr>
        <p:spPr>
          <a:xfrm>
            <a:off x="5591175" y="884555"/>
            <a:ext cx="6005195" cy="4351020"/>
          </a:xfrm>
          <a:prstGeom prst="rect">
            <a:avLst/>
          </a:prstGeom>
          <a:noFill/>
        </p:spPr>
        <p:txBody>
          <a:bodyPr wrap="square" rtlCol="0">
            <a:noAutofit/>
          </a:bodyPr>
          <a:lstStyle/>
          <a:p>
            <a:pPr algn="l"/>
            <a:endParaRPr lang="en-US" altLang="en-US" sz="1600" dirty="0">
              <a:latin typeface="Times New Roman" panose="02020603050405020304"/>
              <a:ea typeface="Calibri" panose="020F0502020204030204"/>
              <a:cs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 y="78105"/>
            <a:ext cx="10515600" cy="1325563"/>
          </a:xfrm>
        </p:spPr>
        <p:txBody>
          <a:bodyPr/>
          <a:lstStyle/>
          <a:p>
            <a:r>
              <a:rPr lang="en-US" altLang="en-US" b="1">
                <a:solidFill>
                  <a:schemeClr val="accent1"/>
                </a:solidFill>
              </a:rPr>
              <a:t>System Execution</a:t>
            </a: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15</a:t>
            </a:fld>
            <a:endParaRPr lang="en-IN" dirty="0"/>
          </a:p>
        </p:txBody>
      </p:sp>
      <p:pic>
        <p:nvPicPr>
          <p:cNvPr id="13" name="Content Placeholder 12" descr="Screenshot (11)"/>
          <p:cNvPicPr>
            <a:picLocks noGrp="1" noChangeAspect="1"/>
          </p:cNvPicPr>
          <p:nvPr>
            <p:ph idx="1"/>
          </p:nvPr>
        </p:nvPicPr>
        <p:blipFill>
          <a:blip r:embed="rId2"/>
          <a:stretch>
            <a:fillRect/>
          </a:stretch>
        </p:blipFill>
        <p:spPr>
          <a:xfrm>
            <a:off x="1929765" y="1276350"/>
            <a:ext cx="8930640" cy="4495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0660"/>
            <a:ext cx="10515600" cy="1325563"/>
          </a:xfrm>
        </p:spPr>
        <p:txBody>
          <a:bodyPr/>
          <a:lstStyle/>
          <a:p>
            <a:r>
              <a:rPr lang="en-IN" sz="3600" b="1" dirty="0">
                <a:solidFill>
                  <a:schemeClr val="accent1">
                    <a:lumMod val="75000"/>
                  </a:schemeClr>
                </a:solidFill>
                <a:latin typeface="Times New Roman" panose="02020603050405020304" pitchFamily="18" charset="0"/>
                <a:cs typeface="Times New Roman" panose="02020603050405020304" pitchFamily="18" charset="0"/>
                <a:sym typeface="+mn-ea"/>
              </a:rPr>
              <a:t>System Implementation (</a:t>
            </a:r>
            <a:r>
              <a:rPr lang="en-US" altLang="en-IN" sz="3600" b="1" dirty="0">
                <a:solidFill>
                  <a:schemeClr val="accent1">
                    <a:lumMod val="75000"/>
                  </a:schemeClr>
                </a:solidFill>
                <a:latin typeface="Times New Roman" panose="02020603050405020304" pitchFamily="18" charset="0"/>
                <a:cs typeface="Times New Roman" panose="02020603050405020304" pitchFamily="18" charset="0"/>
                <a:sym typeface="+mn-ea"/>
              </a:rPr>
              <a:t>8</a:t>
            </a:r>
            <a:r>
              <a:rPr lang="en-IN" sz="3600" b="1" dirty="0">
                <a:solidFill>
                  <a:schemeClr val="accent1">
                    <a:lumMod val="75000"/>
                  </a:schemeClr>
                </a:solidFill>
                <a:latin typeface="Times New Roman" panose="02020603050405020304" pitchFamily="18" charset="0"/>
                <a:cs typeface="Times New Roman" panose="02020603050405020304" pitchFamily="18" charset="0"/>
                <a:sym typeface="+mn-ea"/>
              </a:rPr>
              <a:t>0%)</a:t>
            </a:r>
          </a:p>
        </p:txBody>
      </p:sp>
      <p:sp>
        <p:nvSpPr>
          <p:cNvPr id="3" name="Content Placeholder 2"/>
          <p:cNvSpPr>
            <a:spLocks noGrp="1"/>
          </p:cNvSpPr>
          <p:nvPr>
            <p:ph idx="1"/>
          </p:nvPr>
        </p:nvSpPr>
        <p:spPr>
          <a:xfrm>
            <a:off x="732155" y="733425"/>
            <a:ext cx="11322050" cy="4351655"/>
          </a:xfrm>
        </p:spPr>
        <p:txBody>
          <a:bodyPr>
            <a:noAutofit/>
          </a:bodyPr>
          <a:lstStyle/>
          <a:p>
            <a:pPr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 Vehicle Detected? (Decision)</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system checks whether a vehicle is detected in the captured frame.</a:t>
            </a:r>
            <a:endParaRPr lang="en-US" altLang="en-US" sz="2300" dirty="0">
              <a:latin typeface="Times New Roman" panose="02020603050405020304"/>
              <a:ea typeface="Calibri" panose="020F0502020204030204"/>
              <a:cs typeface="Times New Roman" panose="02020603050405020304"/>
            </a:endParaRPr>
          </a:p>
          <a:p>
            <a:pPr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Detect Rail Wheels</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If a vehicle is detected, the system analyzes the truck area and detects rail wheels inside the vehicle.</a:t>
            </a:r>
            <a:endParaRPr lang="en-US" altLang="en-US" sz="2300" dirty="0">
              <a:latin typeface="Times New Roman" panose="02020603050405020304"/>
              <a:ea typeface="Calibri" panose="020F0502020204030204"/>
              <a:cs typeface="Times New Roman" panose="02020603050405020304"/>
            </a:endParaRPr>
          </a:p>
          <a:p>
            <a:pPr marL="285750" indent="-285750"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Count Number of Rail Wheels</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system counts the number of detected rail wheels automatically.</a:t>
            </a:r>
            <a:endParaRPr lang="en-US" altLang="en-US" sz="2300" dirty="0">
              <a:latin typeface="Times New Roman" panose="02020603050405020304"/>
              <a:ea typeface="Calibri" panose="020F0502020204030204"/>
              <a:cs typeface="Times New Roman" panose="02020603050405020304"/>
            </a:endParaRPr>
          </a:p>
          <a:p>
            <a:pPr marL="285750" indent="-285750"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Send Detection Data to Flask Backend API</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detection results including vehicle details and wheel count are sent to the backend server using Flask REST APIs.</a:t>
            </a:r>
            <a:endParaRPr lang="en-US" altLang="en-US" sz="2300" dirty="0">
              <a:latin typeface="Times New Roman" panose="02020603050405020304"/>
              <a:ea typeface="Calibri" panose="020F0502020204030204"/>
              <a:cs typeface="Times New Roman" panose="02020603050405020304"/>
            </a:endParaRPr>
          </a:p>
          <a:p>
            <a:pPr marL="285750" indent="-285750"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Store Vehicle and Wheel Data in SQL Database</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backend stores the vehicle entry information and rail wheel count in the SQL database for monitoring and record management.</a:t>
            </a:r>
            <a:endParaRPr lang="en-US" altLang="en-US" sz="2300" dirty="0">
              <a:latin typeface="Times New Roman" panose="02020603050405020304"/>
              <a:ea typeface="Calibri" panose="020F0502020204030204"/>
              <a:cs typeface="Times New Roman" panose="02020603050405020304"/>
            </a:endParaRPr>
          </a:p>
          <a:p>
            <a:pPr algn="l"/>
            <a:endParaRPr lang="en-US" altLang="en-US" sz="2300" dirty="0">
              <a:latin typeface="Times New Roman" panose="02020603050405020304"/>
              <a:ea typeface="Calibri" panose="020F0502020204030204"/>
              <a:cs typeface="Times New Roman" panose="02020603050405020304"/>
            </a:endParaRPr>
          </a:p>
          <a:p>
            <a:endParaRPr lang="en-US" altLang="en-US" sz="13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16</a:t>
            </a:fld>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 y="25400"/>
            <a:ext cx="10515600" cy="1325563"/>
          </a:xfrm>
        </p:spPr>
        <p:txBody>
          <a:bodyPr/>
          <a:lstStyle/>
          <a:p>
            <a:r>
              <a:rPr lang="en-US" altLang="en-US" b="1">
                <a:solidFill>
                  <a:schemeClr val="accent1"/>
                </a:solidFill>
                <a:sym typeface="+mn-ea"/>
              </a:rPr>
              <a:t>System Execution</a:t>
            </a:r>
            <a:endParaRPr lang="en-US"/>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17</a:t>
            </a:fld>
            <a:endParaRPr lang="en-IN" dirty="0"/>
          </a:p>
        </p:txBody>
      </p:sp>
      <p:pic>
        <p:nvPicPr>
          <p:cNvPr id="8" name="Content Placeholder 5" descr="Screenshot (12)"/>
          <p:cNvPicPr>
            <a:picLocks noChangeAspect="1"/>
          </p:cNvPicPr>
          <p:nvPr/>
        </p:nvPicPr>
        <p:blipFill>
          <a:blip r:embed="rId2"/>
          <a:stretch>
            <a:fillRect/>
          </a:stretch>
        </p:blipFill>
        <p:spPr>
          <a:xfrm>
            <a:off x="1040130" y="1202690"/>
            <a:ext cx="10717530" cy="46164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995" y="-175895"/>
            <a:ext cx="10515600" cy="1325563"/>
          </a:xfrm>
        </p:spPr>
        <p:txBody>
          <a:bodyPr/>
          <a:lstStyle/>
          <a:p>
            <a:r>
              <a:rPr lang="en-US" altLang="en-US" b="1">
                <a:solidFill>
                  <a:schemeClr val="accent1">
                    <a:lumMod val="75000"/>
                  </a:schemeClr>
                </a:solidFill>
                <a:sym typeface="+mn-ea"/>
              </a:rPr>
              <a:t>System Testing</a:t>
            </a:r>
          </a:p>
        </p:txBody>
      </p:sp>
      <p:sp>
        <p:nvSpPr>
          <p:cNvPr id="3" name="Content Placeholder 2"/>
          <p:cNvSpPr>
            <a:spLocks noGrp="1"/>
          </p:cNvSpPr>
          <p:nvPr>
            <p:ph idx="1"/>
          </p:nvPr>
        </p:nvSpPr>
        <p:spPr>
          <a:xfrm>
            <a:off x="610235" y="721360"/>
            <a:ext cx="10515600" cy="4351338"/>
          </a:xfrm>
        </p:spPr>
        <p:txBody>
          <a:bodyPr>
            <a:noAutofit/>
          </a:bodyPr>
          <a:lstStyle/>
          <a:p>
            <a:pPr marL="0" indent="0">
              <a:buNone/>
            </a:pPr>
            <a:r>
              <a:rPr lang="en-US" altLang="en-US" sz="2300" b="1"/>
              <a:t>1. Functional Testing</a:t>
            </a:r>
          </a:p>
          <a:p>
            <a:pPr marL="0" indent="0">
              <a:buNone/>
            </a:pPr>
            <a:r>
              <a:rPr lang="en-US" altLang="en-US" sz="2300"/>
              <a:t>To check if system works correctly</a:t>
            </a:r>
          </a:p>
          <a:p>
            <a:pPr marL="0" indent="0">
              <a:buNone/>
            </a:pPr>
            <a:r>
              <a:rPr lang="en-US" altLang="en-US" sz="2300"/>
              <a:t>Example:</a:t>
            </a:r>
          </a:p>
          <a:p>
            <a:pPr marL="0" indent="0">
              <a:buNone/>
            </a:pPr>
            <a:r>
              <a:rPr lang="en-US" altLang="en-US" sz="2300"/>
              <a:t>Vehicle detection working or not</a:t>
            </a:r>
          </a:p>
          <a:p>
            <a:pPr marL="0" indent="0">
              <a:buNone/>
            </a:pPr>
            <a:r>
              <a:rPr lang="en-US" altLang="en-US" sz="2300"/>
              <a:t>Rail wheel counting is accurate</a:t>
            </a:r>
          </a:p>
          <a:p>
            <a:pPr marL="0" indent="0">
              <a:buNone/>
            </a:pPr>
            <a:r>
              <a:rPr lang="en-US" altLang="en-US" sz="2300" b="1"/>
              <a:t>2. API Testing</a:t>
            </a:r>
          </a:p>
          <a:p>
            <a:pPr marL="0" indent="0">
              <a:buNone/>
            </a:pPr>
            <a:r>
              <a:rPr lang="en-US" altLang="en-US" sz="2300"/>
              <a:t>To verify communication between:</a:t>
            </a:r>
          </a:p>
          <a:p>
            <a:pPr marL="0" indent="0">
              <a:buNone/>
            </a:pPr>
            <a:r>
              <a:rPr lang="en-US" altLang="en-US" sz="2300"/>
              <a:t>Frontend ↔ Backend (Flask API)</a:t>
            </a:r>
          </a:p>
          <a:p>
            <a:pPr marL="0" indent="0">
              <a:buNone/>
            </a:pPr>
            <a:r>
              <a:rPr lang="en-US" altLang="en-US" sz="2300"/>
              <a:t>Ensures data is sent and received properly</a:t>
            </a:r>
          </a:p>
          <a:p>
            <a:pPr marL="0" indent="0">
              <a:buNone/>
            </a:pPr>
            <a:r>
              <a:rPr lang="en-US" altLang="en-US" sz="2300" b="1"/>
              <a:t>3. Database Testing</a:t>
            </a:r>
          </a:p>
          <a:p>
            <a:pPr marL="0" indent="0">
              <a:buNone/>
            </a:pPr>
            <a:r>
              <a:rPr lang="en-US" altLang="en-US" sz="2300"/>
              <a:t>To check: </a:t>
            </a:r>
            <a:r>
              <a:rPr lang="en-US" altLang="en-US" sz="2300">
                <a:sym typeface="+mn-ea"/>
              </a:rPr>
              <a:t>Data stored correctly in SQL database</a:t>
            </a:r>
          </a:p>
          <a:p>
            <a:pPr marL="0" indent="0">
              <a:buNone/>
            </a:pPr>
            <a:r>
              <a:rPr lang="en-US" altLang="en-US" sz="2300">
                <a:sym typeface="+mn-ea"/>
              </a:rPr>
              <a:t>Data stored correctly in SQL database</a:t>
            </a:r>
            <a:endParaRPr lang="en-US" altLang="en-US" sz="2300"/>
          </a:p>
          <a:p>
            <a:pPr marL="0" indent="0">
              <a:buNone/>
            </a:pPr>
            <a:endParaRPr lang="en-US" altLang="en-US" sz="2300"/>
          </a:p>
          <a:p>
            <a:pPr marL="0" indent="0">
              <a:buNone/>
            </a:pPr>
            <a:endParaRPr lang="en-US" altLang="en-US" sz="2300"/>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18</a:t>
            </a:fld>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750" y="365125"/>
            <a:ext cx="10515600" cy="1325563"/>
          </a:xfrm>
        </p:spPr>
        <p:txBody>
          <a:bodyPr/>
          <a:lstStyle/>
          <a:p>
            <a:r>
              <a:rPr lang="en-US" altLang="en-US" b="1">
                <a:solidFill>
                  <a:schemeClr val="accent1">
                    <a:lumMod val="75000"/>
                  </a:schemeClr>
                </a:solidFill>
                <a:sym typeface="+mn-ea"/>
              </a:rPr>
              <a:t>System Testing</a:t>
            </a:r>
            <a:endParaRPr lang="en-US"/>
          </a:p>
        </p:txBody>
      </p:sp>
      <p:sp>
        <p:nvSpPr>
          <p:cNvPr id="3" name="Content Placeholder 2"/>
          <p:cNvSpPr>
            <a:spLocks noGrp="1"/>
          </p:cNvSpPr>
          <p:nvPr>
            <p:ph idx="1"/>
          </p:nvPr>
        </p:nvSpPr>
        <p:spPr>
          <a:xfrm>
            <a:off x="838200" y="1445260"/>
            <a:ext cx="10515600" cy="4351338"/>
          </a:xfrm>
        </p:spPr>
        <p:txBody>
          <a:bodyPr/>
          <a:lstStyle/>
          <a:p>
            <a:pPr marL="0" indent="0">
              <a:buNone/>
            </a:pPr>
            <a:r>
              <a:rPr lang="en-US" altLang="en-US" b="1">
                <a:sym typeface="+mn-ea"/>
              </a:rPr>
              <a:t>4. Performance Testing</a:t>
            </a:r>
            <a:endParaRPr lang="en-US" altLang="en-US" b="1"/>
          </a:p>
          <a:p>
            <a:pPr marL="0" indent="0">
              <a:buNone/>
            </a:pPr>
            <a:r>
              <a:rPr lang="en-US" altLang="en-US">
                <a:sym typeface="+mn-ea"/>
              </a:rPr>
              <a:t>To check system under different conditions:</a:t>
            </a:r>
            <a:endParaRPr lang="en-US" altLang="en-US"/>
          </a:p>
          <a:p>
            <a:pPr marL="0" indent="0">
              <a:buNone/>
            </a:pPr>
            <a:r>
              <a:rPr lang="en-US" altLang="en-US">
                <a:sym typeface="+mn-ea"/>
              </a:rPr>
              <a:t>Multiple vehicles</a:t>
            </a:r>
            <a:endParaRPr lang="en-US" altLang="en-US"/>
          </a:p>
          <a:p>
            <a:pPr marL="0" indent="0">
              <a:buNone/>
            </a:pPr>
            <a:r>
              <a:rPr lang="en-US" altLang="en-US">
                <a:sym typeface="+mn-ea"/>
              </a:rPr>
              <a:t>Different lighting</a:t>
            </a:r>
            <a:endParaRPr lang="en-US" altLang="en-US"/>
          </a:p>
          <a:p>
            <a:pPr marL="0" indent="0">
              <a:buNone/>
            </a:pPr>
            <a:r>
              <a:rPr lang="en-US" altLang="en-US">
                <a:sym typeface="+mn-ea"/>
              </a:rPr>
              <a:t>Real-time video processing</a:t>
            </a:r>
            <a:endParaRPr lang="en-US" altLang="en-US"/>
          </a:p>
          <a:p>
            <a:pPr marL="0" indent="0">
              <a:buNone/>
            </a:pPr>
            <a:r>
              <a:rPr lang="en-US" altLang="en-US" b="1">
                <a:sym typeface="+mn-ea"/>
              </a:rPr>
              <a:t>5. Integration Testing</a:t>
            </a:r>
            <a:endParaRPr lang="en-US" altLang="en-US" b="1"/>
          </a:p>
          <a:p>
            <a:pPr marL="0" indent="0">
              <a:buNone/>
            </a:pPr>
            <a:r>
              <a:rPr lang="en-US" altLang="en-US">
                <a:sym typeface="+mn-ea"/>
              </a:rPr>
              <a:t>To ensure all modules work together:</a:t>
            </a:r>
            <a:endParaRPr lang="en-US" altLang="en-US"/>
          </a:p>
          <a:p>
            <a:pPr marL="0" indent="0">
              <a:buNone/>
            </a:pPr>
            <a:r>
              <a:rPr lang="en-US" altLang="en-US">
                <a:sym typeface="+mn-ea"/>
              </a:rPr>
              <a:t>Camera + OpenCV + Flask + Database + Dashboard</a:t>
            </a:r>
            <a:endParaRPr lang="en-US" altLang="en-US"/>
          </a:p>
          <a:p>
            <a:endParaRPr lang="en-US"/>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19</a:t>
            </a:fld>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385" y="113665"/>
            <a:ext cx="10515600" cy="1325563"/>
          </a:xfrm>
        </p:spPr>
        <p:txBody>
          <a:bodyPr>
            <a:normAutofit/>
          </a:bodyPr>
          <a:lstStyle/>
          <a:p>
            <a:r>
              <a:rPr lang="en-US" altLang="en-US" b="1">
                <a:solidFill>
                  <a:schemeClr val="accent1">
                    <a:lumMod val="75000"/>
                  </a:schemeClr>
                </a:solidFill>
                <a:sym typeface="+mn-ea"/>
              </a:rPr>
              <a:t>Main Algorithm</a:t>
            </a:r>
          </a:p>
        </p:txBody>
      </p:sp>
      <p:sp>
        <p:nvSpPr>
          <p:cNvPr id="3" name="Content Placeholder 2"/>
          <p:cNvSpPr>
            <a:spLocks noGrp="1"/>
          </p:cNvSpPr>
          <p:nvPr>
            <p:ph idx="1"/>
          </p:nvPr>
        </p:nvSpPr>
        <p:spPr>
          <a:xfrm>
            <a:off x="534035" y="1150620"/>
            <a:ext cx="10515600" cy="4351338"/>
          </a:xfrm>
        </p:spPr>
        <p:txBody>
          <a:bodyPr>
            <a:normAutofit fontScale="25000" lnSpcReduction="10000"/>
          </a:bodyPr>
          <a:lstStyle/>
          <a:p>
            <a:pPr marL="0" indent="0">
              <a:buNone/>
            </a:pPr>
            <a:r>
              <a:rPr lang="en-US" altLang="en-US" sz="8000" b="1"/>
              <a:t>Main Algorithm</a:t>
            </a:r>
            <a:r>
              <a:rPr lang="en-US" altLang="en-US" sz="8000"/>
              <a:t>: Object Detection Algorithm</a:t>
            </a:r>
          </a:p>
          <a:p>
            <a:pPr marL="0" indent="0">
              <a:buNone/>
            </a:pPr>
            <a:r>
              <a:rPr lang="en-US" altLang="en-US" sz="8000" b="1"/>
              <a:t>Used through</a:t>
            </a:r>
            <a:r>
              <a:rPr lang="en-US" altLang="en-US" sz="8000"/>
              <a:t>:</a:t>
            </a:r>
            <a:r>
              <a:rPr lang="en-US" altLang="en-US" sz="8000">
                <a:sym typeface="+mn-ea"/>
              </a:rPr>
              <a:t>OpenCV AI-based detection model</a:t>
            </a:r>
          </a:p>
          <a:p>
            <a:pPr marL="0" indent="0">
              <a:buNone/>
            </a:pPr>
            <a:r>
              <a:rPr lang="en-US" altLang="en-US" sz="8000">
                <a:sym typeface="+mn-ea"/>
              </a:rPr>
              <a:t>How it Works:</a:t>
            </a:r>
            <a:endParaRPr lang="en-US" altLang="en-US" sz="8000"/>
          </a:p>
          <a:p>
            <a:pPr marL="457200" indent="-457200">
              <a:buAutoNum type="arabicPeriod"/>
            </a:pPr>
            <a:r>
              <a:rPr lang="en-US" altLang="en-US" sz="8000" b="1"/>
              <a:t>Capture image/frame from camera</a:t>
            </a:r>
          </a:p>
          <a:p>
            <a:pPr marL="457200" indent="-457200">
              <a:buAutoNum type="arabicPeriod"/>
            </a:pPr>
            <a:r>
              <a:rPr lang="en-US" altLang="en-US" sz="8000" b="1"/>
              <a:t>Preprocess image (resize, filtering)</a:t>
            </a:r>
          </a:p>
          <a:p>
            <a:pPr marL="457200" indent="-457200">
              <a:buAutoNum type="arabicPeriod"/>
            </a:pPr>
            <a:r>
              <a:rPr lang="en-US" altLang="en-US" sz="8000" b="1"/>
              <a:t>Apply object detection</a:t>
            </a:r>
          </a:p>
          <a:p>
            <a:pPr marL="457200" indent="-457200">
              <a:buFont typeface="+mj-lt"/>
              <a:buAutoNum type="arabicPeriod"/>
            </a:pPr>
            <a:r>
              <a:rPr lang="en-US" altLang="en-US" sz="8000" b="1"/>
              <a:t>Detect:</a:t>
            </a:r>
          </a:p>
          <a:p>
            <a:r>
              <a:rPr lang="en-US" altLang="en-US" sz="9600"/>
              <a:t>Vehicle</a:t>
            </a:r>
          </a:p>
          <a:p>
            <a:r>
              <a:rPr lang="en-US" altLang="en-US" sz="9600"/>
              <a:t>Rail wheels</a:t>
            </a:r>
          </a:p>
          <a:p>
            <a:pPr marL="0" indent="0">
              <a:buFont typeface="+mj-lt"/>
              <a:buNone/>
            </a:pPr>
            <a:r>
              <a:rPr lang="en-US" altLang="en-US" sz="9600" b="1"/>
              <a:t>5. Count number of wheels</a:t>
            </a:r>
          </a:p>
          <a:p>
            <a:pPr marL="0" indent="0">
              <a:buFont typeface="+mj-lt"/>
              <a:buNone/>
            </a:pPr>
            <a:r>
              <a:rPr lang="en-US" altLang="en-US" sz="9600" b="1"/>
              <a:t>6. Send result to backend</a:t>
            </a:r>
          </a:p>
        </p:txBody>
      </p:sp>
      <p:sp>
        <p:nvSpPr>
          <p:cNvPr id="4" name="Date Placeholder 3"/>
          <p:cNvSpPr>
            <a:spLocks noGrp="1"/>
          </p:cNvSpPr>
          <p:nvPr>
            <p:ph type="dt" sz="half" idx="10"/>
          </p:nvPr>
        </p:nvSpPr>
        <p:spPr/>
        <p:txBody>
          <a:bodyPr/>
          <a:lstStyle/>
          <a:p>
            <a:fld id="{864BFFB7-4443-4602-A990-B076C1CFE86C}" type="datetime1">
              <a:rPr lang="en-IN" smtClean="0"/>
              <a:t>15/04/26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20</a:t>
            </a:fld>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365125"/>
            <a:ext cx="10515600" cy="1325563"/>
          </a:xfrm>
        </p:spPr>
        <p:txBody>
          <a:bodyPr/>
          <a:lstStyle/>
          <a:p>
            <a:r>
              <a:rPr lang="en-US" altLang="en-US" b="1">
                <a:solidFill>
                  <a:schemeClr val="accent1">
                    <a:lumMod val="75000"/>
                  </a:schemeClr>
                </a:solidFill>
                <a:sym typeface="+mn-ea"/>
              </a:rPr>
              <a:t>Conclusion</a:t>
            </a:r>
          </a:p>
        </p:txBody>
      </p:sp>
      <p:sp>
        <p:nvSpPr>
          <p:cNvPr id="3" name="Content Placeholder 2"/>
          <p:cNvSpPr>
            <a:spLocks noGrp="1"/>
          </p:cNvSpPr>
          <p:nvPr>
            <p:ph idx="1"/>
          </p:nvPr>
        </p:nvSpPr>
        <p:spPr>
          <a:xfrm>
            <a:off x="581660" y="1253490"/>
            <a:ext cx="10515600" cy="4351338"/>
          </a:xfrm>
        </p:spPr>
        <p:txBody>
          <a:bodyPr>
            <a:noAutofit/>
          </a:bodyPr>
          <a:lstStyle/>
          <a:p>
            <a:pPr marL="0" indent="0">
              <a:buNone/>
            </a:pPr>
            <a:endParaRPr lang="en-US" altLang="en-US" sz="2300"/>
          </a:p>
          <a:p>
            <a:r>
              <a:rPr lang="en-US" altLang="en-US" sz="2300"/>
              <a:t>The project successfully developed a web-based vehicle and rail wheel monitoring system using AI and full-stack technologies.</a:t>
            </a:r>
          </a:p>
          <a:p>
            <a:r>
              <a:rPr lang="en-US" altLang="en-US" sz="2300"/>
              <a:t>Manual errors in wheel counting and vehicle tracking were reduced significantly.</a:t>
            </a:r>
          </a:p>
          <a:p>
            <a:r>
              <a:rPr lang="en-US" altLang="en-US" sz="2300"/>
              <a:t>Integration of OpenCV, Flask, and SQL database enabled automation and real-time monitoring.</a:t>
            </a:r>
          </a:p>
          <a:p>
            <a:r>
              <a:rPr lang="en-US" altLang="en-US" sz="2300"/>
              <a:t>The system improved operational efficiency at factory gate management.</a:t>
            </a:r>
          </a:p>
          <a:p>
            <a:r>
              <a:rPr lang="en-US" altLang="en-US" sz="2300"/>
              <a:t>The project enhanced practical knowledge in AI, backend development, and system integration.</a:t>
            </a:r>
          </a:p>
          <a:p>
            <a:r>
              <a:rPr lang="en-US" altLang="en-US" sz="2300"/>
              <a:t>The solution can be further improved and deployed in real industrial environments.</a:t>
            </a: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21</a:t>
            </a:fld>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785" y="365125"/>
            <a:ext cx="10515600" cy="1325563"/>
          </a:xfrm>
        </p:spPr>
        <p:txBody>
          <a:bodyPr/>
          <a:lstStyle/>
          <a:p>
            <a:r>
              <a:rPr lang="en-US" altLang="en-US" b="1">
                <a:solidFill>
                  <a:schemeClr val="accent1">
                    <a:lumMod val="75000"/>
                  </a:schemeClr>
                </a:solidFill>
                <a:sym typeface="+mn-ea"/>
              </a:rPr>
              <a:t>References</a:t>
            </a:r>
          </a:p>
        </p:txBody>
      </p:sp>
      <p:sp>
        <p:nvSpPr>
          <p:cNvPr id="3" name="Content Placeholder 2"/>
          <p:cNvSpPr>
            <a:spLocks noGrp="1"/>
          </p:cNvSpPr>
          <p:nvPr>
            <p:ph idx="1"/>
          </p:nvPr>
        </p:nvSpPr>
        <p:spPr>
          <a:xfrm>
            <a:off x="552450" y="1252855"/>
            <a:ext cx="10515600" cy="4351338"/>
          </a:xfrm>
        </p:spPr>
        <p:txBody>
          <a:bodyPr>
            <a:normAutofit fontScale="92500"/>
          </a:bodyPr>
          <a:lstStyle/>
          <a:p>
            <a:pPr marL="0" indent="0">
              <a:buNone/>
            </a:pPr>
            <a:endParaRPr lang="en-US" altLang="en-US" sz="2665"/>
          </a:p>
          <a:p>
            <a:r>
              <a:rPr lang="en-US" altLang="en-US" sz="2665"/>
              <a:t>OpenCV Documentation – https://opencv.org/</a:t>
            </a:r>
          </a:p>
          <a:p>
            <a:r>
              <a:rPr lang="en-US" altLang="en-US" sz="2665"/>
              <a:t>Flask Documentation – https://flask.palletsprojects.com/</a:t>
            </a:r>
          </a:p>
          <a:p>
            <a:r>
              <a:rPr lang="en-US" altLang="en-US" sz="2665"/>
              <a:t>Python Official Documentation – https://docs.python.org/3/</a:t>
            </a:r>
          </a:p>
          <a:p>
            <a:r>
              <a:rPr lang="en-US" altLang="en-US" sz="2665"/>
              <a:t>SQL Documentation – https://www.mysql.com/</a:t>
            </a:r>
          </a:p>
          <a:p>
            <a:r>
              <a:rPr lang="en-US" altLang="en-US" sz="2665"/>
              <a:t> / https://www.microsoft.com/en-us/sql-server</a:t>
            </a:r>
          </a:p>
          <a:p>
            <a:r>
              <a:rPr lang="en-US" altLang="en-US" sz="2665"/>
              <a:t>Research papers on Object Detection (Google Scholar / IEEE)</a:t>
            </a:r>
          </a:p>
          <a:p>
            <a:r>
              <a:rPr lang="en-US" altLang="en-US" sz="2665"/>
              <a:t>GitHub Repository: https://github.com/Karthik8844/INTERNSHIP</a:t>
            </a:r>
          </a:p>
          <a:p>
            <a:r>
              <a:rPr lang="en-US" altLang="en-US" sz="2665"/>
              <a:t>Online tutorials and technical blogs related to Computer Vision and Full Stack Development</a:t>
            </a: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22</a:t>
            </a:fld>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sym typeface="+mn-ea"/>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23</a:t>
            </a:fld>
            <a:endParaRPr lang="en-US" altLang="en-US"/>
          </a:p>
        </p:txBody>
      </p:sp>
      <p:graphicFrame>
        <p:nvGraphicFramePr>
          <p:cNvPr id="7" name="Diagram 6"/>
          <p:cNvGraphicFramePr>
            <a:graphicFrameLocks noGrp="1"/>
          </p:cNvGraphicFramePr>
          <p:nvPr/>
        </p:nvGraphicFramePr>
        <p:xfrm>
          <a:off x="732155" y="1118416"/>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 Box 9"/>
          <p:cNvSpPr txBox="1"/>
          <p:nvPr/>
        </p:nvSpPr>
        <p:spPr>
          <a:xfrm>
            <a:off x="2735580" y="1936115"/>
            <a:ext cx="1297305" cy="2985770"/>
          </a:xfrm>
          <a:prstGeom prst="rect">
            <a:avLst/>
          </a:prstGeom>
          <a:noFill/>
        </p:spPr>
        <p:txBody>
          <a:bodyPr wrap="square" rtlCol="0">
            <a:noAutofit/>
          </a:bodyPr>
          <a:lstStyle/>
          <a:p>
            <a:pPr marL="285750" indent="-285750">
              <a:buFont typeface="Arial" panose="020B0604020202020204" pitchFamily="34" charset="0"/>
              <a:buChar char="•"/>
            </a:pPr>
            <a:r>
              <a:rPr lang="en-US" altLang="en-US" sz="800" b="1"/>
              <a:t>Understanding project requirements</a:t>
            </a:r>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Studying basics of Computer Vision and Object Detection</a:t>
            </a:r>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Learning Python and OpenCV basics</a:t>
            </a:r>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Understanding vehicle monitoring problem</a:t>
            </a:r>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Literature survey and problem identification</a:t>
            </a:r>
          </a:p>
        </p:txBody>
      </p:sp>
      <p:sp>
        <p:nvSpPr>
          <p:cNvPr id="11" name="Text Box 10"/>
          <p:cNvSpPr txBox="1"/>
          <p:nvPr/>
        </p:nvSpPr>
        <p:spPr>
          <a:xfrm>
            <a:off x="4120515" y="2021840"/>
            <a:ext cx="1372235" cy="2610485"/>
          </a:xfrm>
          <a:prstGeom prst="rect">
            <a:avLst/>
          </a:prstGeom>
          <a:noFill/>
        </p:spPr>
        <p:txBody>
          <a:bodyPr wrap="square" rtlCol="0">
            <a:noAutofit/>
          </a:bodyPr>
          <a:lstStyle/>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Studying object detection techniques</a:t>
            </a: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Understanding OpenCV image processing</a:t>
            </a: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Designing system architecture</a:t>
            </a: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Planning backend and database structure</a:t>
            </a: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Preparing initial project design</a:t>
            </a:r>
          </a:p>
        </p:txBody>
      </p:sp>
      <p:sp>
        <p:nvSpPr>
          <p:cNvPr id="12" name="Text Box 11"/>
          <p:cNvSpPr txBox="1"/>
          <p:nvPr/>
        </p:nvSpPr>
        <p:spPr>
          <a:xfrm>
            <a:off x="5375275" y="1936115"/>
            <a:ext cx="1229995" cy="2931160"/>
          </a:xfrm>
          <a:prstGeom prst="rect">
            <a:avLst/>
          </a:prstGeom>
          <a:noFill/>
        </p:spPr>
        <p:txBody>
          <a:bodyPr wrap="square" rtlCol="0">
            <a:noAutofit/>
          </a:bodyPr>
          <a:lstStyle/>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Developing backend using Flask</a:t>
            </a: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Integrating object detection module</a:t>
            </a: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Creating SQL database tables</a:t>
            </a: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Testing vehicle detection and wheel counting</a:t>
            </a: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Initial system workflow implementation</a:t>
            </a:r>
          </a:p>
        </p:txBody>
      </p:sp>
      <p:sp>
        <p:nvSpPr>
          <p:cNvPr id="13" name="Text Box 12"/>
          <p:cNvSpPr txBox="1"/>
          <p:nvPr/>
        </p:nvSpPr>
        <p:spPr>
          <a:xfrm>
            <a:off x="6711950" y="1936115"/>
            <a:ext cx="1283970" cy="2999740"/>
          </a:xfrm>
          <a:prstGeom prst="rect">
            <a:avLst/>
          </a:prstGeom>
          <a:noFill/>
        </p:spPr>
        <p:txBody>
          <a:bodyPr wrap="square" rtlCol="0">
            <a:spAutoFit/>
          </a:bodyPr>
          <a:lstStyle/>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Integrating frontend dashboard with backend</a:t>
            </a: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Connecting database with web dashboard</a:t>
            </a: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Implementing real-time monitoring system</a:t>
            </a: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Testing system performance and accuracy</a:t>
            </a: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Improving detection performance</a:t>
            </a:r>
          </a:p>
        </p:txBody>
      </p:sp>
      <p:sp>
        <p:nvSpPr>
          <p:cNvPr id="14" name="Text Box 13"/>
          <p:cNvSpPr txBox="1"/>
          <p:nvPr/>
        </p:nvSpPr>
        <p:spPr>
          <a:xfrm>
            <a:off x="7945120" y="2095500"/>
            <a:ext cx="1299210" cy="2861310"/>
          </a:xfrm>
          <a:prstGeom prst="rect">
            <a:avLst/>
          </a:prstGeom>
          <a:noFill/>
        </p:spPr>
        <p:txBody>
          <a:bodyPr wrap="square" rtlCol="0">
            <a:spAutoFit/>
          </a:bodyPr>
          <a:lstStyle/>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Final system testing and validation</a:t>
            </a: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Complete project demonstration</a:t>
            </a: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Documentation and report preparation</a:t>
            </a: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GitHub project submission</a:t>
            </a: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Internship completion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24</a:t>
            </a:fld>
            <a:endParaRPr lang="en-US" altLang="en-US"/>
          </a:p>
        </p:txBody>
      </p:sp>
      <p:sp>
        <p:nvSpPr>
          <p:cNvPr id="3" name="Content Placeholder 2"/>
          <p:cNvSpPr>
            <a:spLocks noGrp="1"/>
          </p:cNvSpPr>
          <p:nvPr>
            <p:ph idx="1"/>
          </p:nvPr>
        </p:nvSpPr>
        <p:spPr>
          <a:xfrm>
            <a:off x="446308" y="1061297"/>
            <a:ext cx="10515600" cy="4351338"/>
          </a:xfrm>
        </p:spPr>
        <p:txBody>
          <a:bodyPr vert="horz" lIns="91440" tIns="45720" rIns="91440" bIns="45720" rtlCol="0" anchor="t">
            <a:normAutofit/>
          </a:bodyPr>
          <a:lstStyle/>
          <a:p>
            <a:pPr marL="0" indent="0">
              <a:buNone/>
            </a:pPr>
            <a:r>
              <a:rPr lang="en-US" altLang="en-US" dirty="0">
                <a:sym typeface="+mn-ea"/>
              </a:rPr>
              <a:t>https://github.com/Karthik8844/INTERNSHIP</a:t>
            </a:r>
            <a:endParaRPr lang="en-US" dirty="0">
              <a:ea typeface="Calibri" panose="020F0502020204030204"/>
              <a:cs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25</a:t>
            </a:fld>
            <a:endParaRPr lang="en-US"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715*138"/>
  <p:tag name="TABLE_ENDDRAG_RECT" val="77*0*715*138"/>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965*376"/>
  <p:tag name="TABLE_ENDDRAG_RECT" val="-5*52*965*37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1872</Words>
  <Application>Microsoft Macintosh PowerPoint</Application>
  <PresentationFormat>Widescreen</PresentationFormat>
  <Paragraphs>351</Paragraphs>
  <Slides>25</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System Design</vt:lpstr>
      <vt:lpstr>System Implementation (50%)</vt:lpstr>
      <vt:lpstr>System Execution</vt:lpstr>
      <vt:lpstr>System Implementation (80%)</vt:lpstr>
      <vt:lpstr>System Execution</vt:lpstr>
      <vt:lpstr>System Testing</vt:lpstr>
      <vt:lpstr>System Testing</vt:lpstr>
      <vt:lpstr>Main Algorithm</vt:lpstr>
      <vt:lpstr>Conclusion</vt:lpstr>
      <vt:lpstr>References</vt:lpstr>
      <vt:lpstr>Internship Road Map</vt:lpstr>
      <vt:lpstr>Github Link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JASHWANTH B</cp:lastModifiedBy>
  <cp:revision>1346</cp:revision>
  <dcterms:created xsi:type="dcterms:W3CDTF">2022-10-14T07:18:00Z</dcterms:created>
  <dcterms:modified xsi:type="dcterms:W3CDTF">2026-04-15T05:00:46Z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A38BA260EFF0493BB69529264E9E46D8_13</vt:lpwstr>
  </property>
  <property fmtid="{D5CDD505-2E9C-101B-9397-08002B2CF9AE}" pid="3" name="KSOProductBuildVer">
    <vt:lpwstr>1033-12.1.0.25242</vt:lpwstr>
  </property>
</Properties>
</file>