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9" r:id="rId3"/>
    <p:sldId id="260" r:id="rId5"/>
    <p:sldId id="280" r:id="rId6"/>
    <p:sldId id="270" r:id="rId7"/>
    <p:sldId id="282" r:id="rId8"/>
    <p:sldId id="271" r:id="rId9"/>
    <p:sldId id="272" r:id="rId10"/>
    <p:sldId id="274" r:id="rId11"/>
    <p:sldId id="275" r:id="rId12"/>
    <p:sldId id="276" r:id="rId13"/>
    <p:sldId id="277" r:id="rId14"/>
    <p:sldId id="279" r:id="rId15"/>
    <p:sldId id="281" r:id="rId16"/>
    <p:sldId id="278" r:id="rId17"/>
    <p:sldId id="283" r:id="rId18"/>
    <p:sldId id="284" r:id="rId19"/>
    <p:sldId id="285" r:id="rId20"/>
    <p:sldId id="266" r:id="rId21"/>
    <p:sldId id="267" r:id="rId22"/>
    <p:sldId id="26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70" autoAdjust="0"/>
    <p:restoredTop sz="94660"/>
  </p:normalViewPr>
  <p:slideViewPr>
    <p:cSldViewPr snapToGrid="0">
      <p:cViewPr varScale="1">
        <p:scale>
          <a:sx n="127" d="100"/>
          <a:sy n="127" d="100"/>
        </p:scale>
        <p:origin x="72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smtClean="0">
              <a:latin typeface="Times New Roman" panose="02020603050405020304" pitchFamily="18" charset="0"/>
              <a:cs typeface="Times New Roman" panose="02020603050405020304" pitchFamily="18" charset="0"/>
            </a:rPr>
            <a:t>Review 1</a:t>
          </a:r>
          <a:endParaRPr lang="en-US" dirty="0">
            <a:latin typeface="Times New Roman" panose="02020603050405020304" pitchFamily="18" charset="0"/>
            <a:cs typeface="Times New Roman" panose="02020603050405020304" pitchFamily="18" charset="0"/>
          </a:endParaRPr>
        </a:p>
      </dgm:t>
    </dgm:pt>
    <dgm:pt modelId="{080A6B9D-C27D-4227-AC65-3C97878D78C4}" cxnId="{8CB593F6-6C5D-4606-B959-3E27F9872EC1}" type="parTrans">
      <dgm:prSet/>
      <dgm:spPr/>
      <dgm:t>
        <a:bodyPr/>
        <a:lstStyle/>
        <a:p>
          <a:endParaRPr lang="en-US"/>
        </a:p>
      </dgm:t>
    </dgm:pt>
    <dgm:pt modelId="{19B27CEC-4BAD-44A7-A9A7-B7A8B23ADCFD}" cxnId="{8CB593F6-6C5D-4606-B959-3E27F9872EC1}" type="sibTrans">
      <dgm:prSet/>
      <dgm:spPr/>
      <dgm:t>
        <a:bodyPr/>
        <a:lstStyle/>
        <a:p>
          <a:endParaRPr lang="en-US"/>
        </a:p>
      </dgm:t>
    </dgm:pt>
    <dgm:pt modelId="{D471E45F-B026-44AA-9616-57E786AE80AF}">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326A986D-69A4-4AC0-AD9B-462FFC9C3F18}" cxnId="{AEE28BEF-3F73-41A5-9307-D42A450FCA17}" type="parTrans">
      <dgm:prSet/>
      <dgm:spPr/>
      <dgm:t>
        <a:bodyPr/>
        <a:lstStyle/>
        <a:p>
          <a:endParaRPr lang="en-US"/>
        </a:p>
      </dgm:t>
    </dgm:pt>
    <dgm:pt modelId="{304E70AD-39C7-4C28-BF7B-6EE91BAE97B7}" cxnId="{AEE28BEF-3F73-41A5-9307-D42A450FCA17}" type="sibTrans">
      <dgm:prSet/>
      <dgm:spPr/>
      <dgm:t>
        <a:bodyPr/>
        <a:lstStyle/>
        <a:p>
          <a:endParaRPr lang="en-US"/>
        </a:p>
      </dgm:t>
    </dgm:pt>
    <dgm:pt modelId="{7B3055AA-BF7C-46D0-9A9E-60087B9F57B4}">
      <dgm:prSet phldrT="[Text]"/>
      <dgm:spPr/>
      <dgm:t>
        <a:bodyPr/>
        <a:lstStyle/>
        <a:p>
          <a:r>
            <a:rPr lang="en-US" dirty="0" smtClean="0">
              <a:latin typeface="Times New Roman" panose="02020603050405020304" pitchFamily="18" charset="0"/>
              <a:cs typeface="Times New Roman" panose="02020603050405020304" pitchFamily="18" charset="0"/>
            </a:rPr>
            <a:t>Review 2</a:t>
          </a:r>
          <a:endParaRPr lang="en-US" dirty="0">
            <a:latin typeface="Times New Roman" panose="02020603050405020304" pitchFamily="18" charset="0"/>
            <a:cs typeface="Times New Roman" panose="02020603050405020304" pitchFamily="18" charset="0"/>
          </a:endParaRPr>
        </a:p>
      </dgm:t>
    </dgm:pt>
    <dgm:pt modelId="{F772EF41-D2BB-4368-8327-B4E332165F48}" cxnId="{6C7D4BBB-EED6-4011-9FBC-87F683D5B245}" type="parTrans">
      <dgm:prSet/>
      <dgm:spPr/>
      <dgm:t>
        <a:bodyPr/>
        <a:lstStyle/>
        <a:p>
          <a:endParaRPr lang="en-US"/>
        </a:p>
      </dgm:t>
    </dgm:pt>
    <dgm:pt modelId="{B81593E2-4CAC-4783-8D2D-E9DDD236A942}" cxnId="{6C7D4BBB-EED6-4011-9FBC-87F683D5B245}" type="sibTrans">
      <dgm:prSet/>
      <dgm:spPr/>
      <dgm:t>
        <a:bodyPr/>
        <a:lstStyle/>
        <a:p>
          <a:endParaRPr lang="en-US"/>
        </a:p>
      </dgm:t>
    </dgm:pt>
    <dgm:pt modelId="{9FED87C4-3F3B-4A18-9185-9F80CFEDEA2E}">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669F5586-1E47-4A85-AA72-0E435BABD665}" cxnId="{27611794-B6EF-4593-A560-02BF7692DC5A}" type="parTrans">
      <dgm:prSet/>
      <dgm:spPr/>
      <dgm:t>
        <a:bodyPr/>
        <a:lstStyle/>
        <a:p>
          <a:endParaRPr lang="en-US"/>
        </a:p>
      </dgm:t>
    </dgm:pt>
    <dgm:pt modelId="{AD0D1882-5210-4A49-9875-4AAC43595580}" cxnId="{27611794-B6EF-4593-A560-02BF7692DC5A}" type="sibTrans">
      <dgm:prSet/>
      <dgm:spPr/>
      <dgm:t>
        <a:bodyPr/>
        <a:lstStyle/>
        <a:p>
          <a:endParaRPr lang="en-US"/>
        </a:p>
      </dgm:t>
    </dgm:pt>
    <dgm:pt modelId="{A59EC69B-8F3F-425B-819F-E8C557946AEE}">
      <dgm:prSet phldrT="[Text]"/>
      <dgm:spPr/>
      <dgm:t>
        <a:bodyPr/>
        <a:lstStyle/>
        <a:p>
          <a:r>
            <a:rPr lang="en-US" dirty="0" smtClean="0">
              <a:latin typeface="Times New Roman" panose="02020603050405020304" pitchFamily="18" charset="0"/>
              <a:cs typeface="Times New Roman" panose="02020603050405020304" pitchFamily="18" charset="0"/>
            </a:rPr>
            <a:t>Review 3</a:t>
          </a:r>
          <a:endParaRPr lang="en-US" dirty="0">
            <a:latin typeface="Times New Roman" panose="02020603050405020304" pitchFamily="18" charset="0"/>
            <a:cs typeface="Times New Roman" panose="02020603050405020304" pitchFamily="18" charset="0"/>
          </a:endParaRPr>
        </a:p>
      </dgm:t>
    </dgm:pt>
    <dgm:pt modelId="{0095C3CB-916F-4060-A8DA-DD282FB51587}" cxnId="{D1BA1DD0-A52A-47BF-962D-9810C87E1576}" type="parTrans">
      <dgm:prSet/>
      <dgm:spPr/>
      <dgm:t>
        <a:bodyPr/>
        <a:lstStyle/>
        <a:p>
          <a:endParaRPr lang="en-US"/>
        </a:p>
      </dgm:t>
    </dgm:pt>
    <dgm:pt modelId="{2868AD8D-4E38-46CE-A972-709857BF40AC}" cxnId="{D1BA1DD0-A52A-47BF-962D-9810C87E1576}" type="sibTrans">
      <dgm:prSet/>
      <dgm:spPr/>
      <dgm:t>
        <a:bodyPr/>
        <a:lstStyle/>
        <a:p>
          <a:endParaRPr lang="en-US"/>
        </a:p>
      </dgm:t>
    </dgm:pt>
    <dgm:pt modelId="{73DB572E-062D-41AD-8033-D361B8E583DB}">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75D01B62-D132-48B8-9D06-D0A551A21107}" cxnId="{AA17007A-110D-43AE-B6F2-DF2DF885F2E2}" type="parTrans">
      <dgm:prSet/>
      <dgm:spPr/>
      <dgm:t>
        <a:bodyPr/>
        <a:lstStyle/>
        <a:p>
          <a:endParaRPr lang="en-US"/>
        </a:p>
      </dgm:t>
    </dgm:pt>
    <dgm:pt modelId="{98BDB650-3386-4D3D-8E80-609010499291}" cxnId="{AA17007A-110D-43AE-B6F2-DF2DF885F2E2}" type="sibTrans">
      <dgm:prSet/>
      <dgm:spPr/>
      <dgm:t>
        <a:bodyPr/>
        <a:lstStyle/>
        <a:p>
          <a:endParaRPr lang="en-US"/>
        </a:p>
      </dgm:t>
    </dgm:pt>
    <dgm:pt modelId="{5E92505A-51E0-4F78-B3C5-704ACF8710DE}">
      <dgm:prSet phldrT="[Text]"/>
      <dgm:spPr/>
      <dgm:t>
        <a:bodyPr/>
        <a:lstStyle/>
        <a:p>
          <a:r>
            <a:rPr lang="en-US" dirty="0" smtClean="0">
              <a:latin typeface="Times New Roman" panose="02020603050405020304" pitchFamily="18" charset="0"/>
              <a:cs typeface="Times New Roman" panose="02020603050405020304" pitchFamily="18" charset="0"/>
            </a:rPr>
            <a:t>Review 4</a:t>
          </a:r>
          <a:endParaRPr lang="en-US" dirty="0">
            <a:latin typeface="Times New Roman" panose="02020603050405020304" pitchFamily="18" charset="0"/>
            <a:cs typeface="Times New Roman" panose="02020603050405020304" pitchFamily="18" charset="0"/>
          </a:endParaRPr>
        </a:p>
      </dgm:t>
    </dgm:pt>
    <dgm:pt modelId="{765B1266-7CE2-4F9C-AE38-D97DFBC1B151}" cxnId="{DA8CD5E8-B2EE-41E4-8EC6-CFB41D688F68}" type="parTrans">
      <dgm:prSet/>
      <dgm:spPr/>
      <dgm:t>
        <a:bodyPr/>
        <a:lstStyle/>
        <a:p>
          <a:endParaRPr lang="en-US"/>
        </a:p>
      </dgm:t>
    </dgm:pt>
    <dgm:pt modelId="{5E9E6A6F-635A-4791-A107-01E95B62EA08}" cxnId="{DA8CD5E8-B2EE-41E4-8EC6-CFB41D688F68}" type="sibTrans">
      <dgm:prSet/>
      <dgm:spPr/>
      <dgm:t>
        <a:bodyPr/>
        <a:lstStyle/>
        <a:p>
          <a:endParaRPr lang="en-US"/>
        </a:p>
      </dgm:t>
    </dgm:pt>
    <dgm:pt modelId="{65C051F6-A849-4495-A964-CD4C650B9C06}">
      <dgm:prSet phldrT="[Text]"/>
      <dgm:spPr/>
      <dgm:t>
        <a:bodyPr/>
        <a:lstStyle/>
        <a:p>
          <a:r>
            <a:rPr lang="en-US" dirty="0" smtClean="0">
              <a:latin typeface="Times New Roman" panose="02020603050405020304" pitchFamily="18" charset="0"/>
              <a:cs typeface="Times New Roman" panose="02020603050405020304" pitchFamily="18" charset="0"/>
            </a:rPr>
            <a:t>Final Review</a:t>
          </a:r>
          <a:endParaRPr lang="en-US" dirty="0">
            <a:latin typeface="Times New Roman" panose="02020603050405020304" pitchFamily="18" charset="0"/>
            <a:cs typeface="Times New Roman" panose="02020603050405020304" pitchFamily="18" charset="0"/>
          </a:endParaRPr>
        </a:p>
      </dgm:t>
    </dgm:pt>
    <dgm:pt modelId="{C24738E5-1547-4D8D-A2CE-64D703ECDF78}" cxnId="{521FD508-C5FD-4804-AFDC-D1FF9945B211}" type="parTrans">
      <dgm:prSet/>
      <dgm:spPr/>
      <dgm:t>
        <a:bodyPr/>
        <a:lstStyle/>
        <a:p>
          <a:endParaRPr lang="en-US"/>
        </a:p>
      </dgm:t>
    </dgm:pt>
    <dgm:pt modelId="{196A2EB9-DD96-4630-B699-7AF000340374}" cxnId="{521FD508-C5FD-4804-AFDC-D1FF9945B211}" type="sibTrans">
      <dgm:prSet/>
      <dgm:spPr/>
      <dgm:t>
        <a:bodyPr/>
        <a:lstStyle/>
        <a:p>
          <a:endParaRPr lang="en-US"/>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t>
        <a:bodyPr/>
        <a:lstStyle/>
        <a:p>
          <a:endParaRPr lang="en-US"/>
        </a:p>
      </dgm:t>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t>
        <a:bodyPr/>
        <a:lstStyle/>
        <a:p>
          <a:endParaRPr lang="en-US"/>
        </a:p>
      </dgm:t>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t>
        <a:bodyPr/>
        <a:lstStyle/>
        <a:p>
          <a:endParaRPr lang="en-US"/>
        </a:p>
      </dgm:t>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t>
        <a:bodyPr/>
        <a:lstStyle/>
        <a:p>
          <a:endParaRPr lang="en-US"/>
        </a:p>
      </dgm:t>
    </dgm:pt>
    <dgm:pt modelId="{96AFCF47-32CA-4C44-9E3C-782007B7112E}" type="pres">
      <dgm:prSet presAssocID="{A59EC69B-8F3F-425B-819F-E8C557946AEE}" presName="ChildAccent3" presStyleCnt="0"/>
      <dgm:spPr/>
      <dgm:t>
        <a:bodyPr/>
        <a:lstStyle/>
        <a:p>
          <a:endParaRPr lang="en-US"/>
        </a:p>
      </dgm:t>
    </dgm:pt>
    <dgm:pt modelId="{2532504F-5FE1-4C97-B485-F05E8885EACC}" type="pres">
      <dgm:prSet presAssocID="{A59EC69B-8F3F-425B-819F-E8C557946AEE}" presName="ChildAccent" presStyleLbl="alignImgPlace1" presStyleIdx="2" presStyleCnt="5"/>
      <dgm:spPr/>
      <dgm:t>
        <a:bodyPr/>
        <a:lstStyle/>
        <a:p>
          <a:endParaRPr lang="en-US"/>
        </a:p>
      </dgm:t>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t>
        <a:bodyPr/>
        <a:lstStyle/>
        <a:p>
          <a:endParaRPr lang="en-US"/>
        </a:p>
      </dgm:t>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t>
        <a:bodyPr/>
        <a:lstStyle/>
        <a:p>
          <a:endParaRPr lang="en-US"/>
        </a:p>
      </dgm:t>
    </dgm:pt>
    <dgm:pt modelId="{C1269CE6-C767-48CC-AAFD-A238D1FFDABA}" type="pres">
      <dgm:prSet presAssocID="{7B3055AA-BF7C-46D0-9A9E-60087B9F57B4}" presName="ChildAccent2" presStyleCnt="0"/>
      <dgm:spPr/>
      <dgm:t>
        <a:bodyPr/>
        <a:lstStyle/>
        <a:p>
          <a:endParaRPr lang="en-US"/>
        </a:p>
      </dgm:t>
    </dgm:pt>
    <dgm:pt modelId="{06F8D57B-EDF4-4CF4-8700-DC2CA3E3028E}" type="pres">
      <dgm:prSet presAssocID="{7B3055AA-BF7C-46D0-9A9E-60087B9F57B4}" presName="ChildAccent" presStyleLbl="alignImgPlace1" presStyleIdx="3" presStyleCnt="5"/>
      <dgm:spPr/>
      <dgm:t>
        <a:bodyPr/>
        <a:lstStyle/>
        <a:p>
          <a:endParaRPr lang="en-US"/>
        </a:p>
      </dgm:t>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t>
        <a:bodyPr/>
        <a:lstStyle/>
        <a:p>
          <a:endParaRPr lang="en-US"/>
        </a:p>
      </dgm:t>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t>
        <a:bodyPr/>
        <a:lstStyle/>
        <a:p>
          <a:endParaRPr lang="en-US"/>
        </a:p>
      </dgm:t>
    </dgm:pt>
    <dgm:pt modelId="{7305DF14-0FF5-45E4-8B19-015814092DBD}" type="pres">
      <dgm:prSet presAssocID="{988D96B0-D16E-4763-B393-84178CF4FF50}" presName="ChildAccent1" presStyleCnt="0"/>
      <dgm:spPr/>
      <dgm:t>
        <a:bodyPr/>
        <a:lstStyle/>
        <a:p>
          <a:endParaRPr lang="en-US"/>
        </a:p>
      </dgm:t>
    </dgm:pt>
    <dgm:pt modelId="{A134CDD1-D85F-44EF-8BEE-9F99A855C1E6}" type="pres">
      <dgm:prSet presAssocID="{988D96B0-D16E-4763-B393-84178CF4FF50}" presName="ChildAccent" presStyleLbl="alignImgPlace1" presStyleIdx="4" presStyleCnt="5"/>
      <dgm:spPr/>
      <dgm:t>
        <a:bodyPr/>
        <a:lstStyle/>
        <a:p>
          <a:endParaRPr lang="en-US"/>
        </a:p>
      </dgm:t>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t>
        <a:bodyPr/>
        <a:lstStyle/>
        <a:p>
          <a:endParaRPr lang="en-US"/>
        </a:p>
      </dgm:t>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t>
        <a:bodyPr/>
        <a:lstStyle/>
        <a:p>
          <a:endParaRPr lang="en-US"/>
        </a:p>
      </dgm:t>
    </dgm:pt>
  </dgm:ptLst>
  <dgm:cxnLst>
    <dgm:cxn modelId="{E6B70501-CFCB-4D4A-94BE-F63036069196}" type="presOf" srcId="{5751524B-FB67-4894-A0C5-35151E149D68}" destId="{A6BCDA7B-D633-438F-B44D-CB4D60E5C492}" srcOrd="0" destOrd="0" presId="urn:microsoft.com/office/officeart/2011/layout/InterconnectedBlockProcess"/>
    <dgm:cxn modelId="{D95A05E5-1205-4AD1-9AA3-74CA7A4B9EF2}" type="presOf" srcId="{9FED87C4-3F3B-4A18-9185-9F80CFEDEA2E}" destId="{6BCCFBA6-7A43-4631-AD7F-AFB10E1E6CD7}" srcOrd="1"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BD4D063F-4481-4272-86B1-D2EA110CC162}" type="presOf" srcId="{73DB572E-062D-41AD-8033-D361B8E583DB}" destId="{0D08ED52-6744-4369-B780-916B09984775}" srcOrd="1" destOrd="0" presId="urn:microsoft.com/office/officeart/2011/layout/InterconnectedBlockProcess"/>
    <dgm:cxn modelId="{E94CD512-E47E-4B2A-8B42-1BBD0CE921B4}" type="presOf" srcId="{D471E45F-B026-44AA-9616-57E786AE80AF}" destId="{A134CDD1-D85F-44EF-8BEE-9F99A855C1E6}" srcOrd="0" destOrd="0"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6C7D4BBB-EED6-4011-9FBC-87F683D5B245}" srcId="{5751524B-FB67-4894-A0C5-35151E149D68}" destId="{7B3055AA-BF7C-46D0-9A9E-60087B9F57B4}" srcOrd="1" destOrd="0" parTransId="{F772EF41-D2BB-4368-8327-B4E332165F48}" sibTransId="{B81593E2-4CAC-4783-8D2D-E9DDD236A942}"/>
    <dgm:cxn modelId="{940B4C9B-D5E4-4E48-A872-B455F86EA2F7}" type="presOf" srcId="{D471E45F-B026-44AA-9616-57E786AE80AF}" destId="{1C91D7E3-8940-4A33-9182-677DD5415901}" srcOrd="1"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8CB593F6-6C5D-4606-B959-3E27F9872EC1}" srcId="{5751524B-FB67-4894-A0C5-35151E149D68}" destId="{988D96B0-D16E-4763-B393-84178CF4FF50}" srcOrd="0" destOrd="0" parTransId="{080A6B9D-C27D-4227-AC65-3C97878D78C4}" sibTransId="{19B27CEC-4BAD-44A7-A9A7-B7A8B23ADCFD}"/>
    <dgm:cxn modelId="{AEE28BEF-3F73-41A5-9307-D42A450FCA17}" srcId="{988D96B0-D16E-4763-B393-84178CF4FF50}" destId="{D471E45F-B026-44AA-9616-57E786AE80AF}" srcOrd="0" destOrd="0" parTransId="{326A986D-69A4-4AC0-AD9B-462FFC9C3F18}" sibTransId="{304E70AD-39C7-4C28-BF7B-6EE91BAE97B7}"/>
    <dgm:cxn modelId="{DCBBD912-689F-4398-945B-50D7C906D480}" type="presOf" srcId="{65C051F6-A849-4495-A964-CD4C650B9C06}" destId="{C73DE52A-2F45-45E6-AD0E-D5BEAF609F8E}" srcOrd="0" destOrd="0" presId="urn:microsoft.com/office/officeart/2011/layout/InterconnectedBlockProcess"/>
    <dgm:cxn modelId="{D1BA1DD0-A52A-47BF-962D-9810C87E1576}" srcId="{5751524B-FB67-4894-A0C5-35151E149D68}" destId="{A59EC69B-8F3F-425B-819F-E8C557946AEE}" srcOrd="2" destOrd="0" parTransId="{0095C3CB-916F-4060-A8DA-DD282FB51587}" sibTransId="{2868AD8D-4E38-46CE-A972-709857BF40AC}"/>
    <dgm:cxn modelId="{521FD508-C5FD-4804-AFDC-D1FF9945B211}" srcId="{5751524B-FB67-4894-A0C5-35151E149D68}" destId="{65C051F6-A849-4495-A964-CD4C650B9C06}" srcOrd="4" destOrd="0" parTransId="{C24738E5-1547-4D8D-A2CE-64D703ECDF78}" sibTransId="{196A2EB9-DD96-4630-B699-7AF000340374}"/>
    <dgm:cxn modelId="{5C3C918A-4C4A-4DEB-924A-CC330C09FB27}" type="presOf" srcId="{5E92505A-51E0-4F78-B3C5-704ACF8710DE}" destId="{2AAD338D-3122-4454-9A67-16BE024D44E3}" srcOrd="0" destOrd="0"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6388411" cy="4058195"/>
        <a:chOff x="0" y="0"/>
        <a:chExt cx="6388411" cy="4058195"/>
      </a:xfrm>
    </dsp:grpSpPr>
    <dsp:sp modelId="{8CAE5A4D-0C7B-48A6-917B-0B8433D0574B}">
      <dsp:nvSpPr>
        <dsp:cNvPr id="3" name="Rectangular Callout 2"/>
        <dsp:cNvSpPr/>
      </dsp:nvSpPr>
      <dsp:spPr bwMode="white">
        <a:xfrm>
          <a:off x="7173684" y="811639"/>
          <a:ext cx="1278321" cy="3246556"/>
        </a:xfrm>
        <a:prstGeom prst="wedgeRectCallout">
          <a:avLst>
            <a:gd name="adj1" fmla="val 0"/>
            <a:gd name="adj2" fmla="val 0"/>
          </a:avLst>
        </a:prstGeom>
      </dsp:spPr>
      <dsp:style>
        <a:lnRef idx="2">
          <a:schemeClr val="lt1"/>
        </a:lnRef>
        <a:fillRef idx="1">
          <a:schemeClr val="accent1">
            <a:tint val="50000"/>
            <a:hueOff val="0"/>
            <a:satOff val="0"/>
            <a:lumOff val="0"/>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7173684" y="811639"/>
        <a:ext cx="1278321" cy="3246556"/>
      </dsp:txXfrm>
    </dsp:sp>
    <dsp:sp modelId="{C73DE52A-2F45-45E6-AD0E-D5BEAF609F8E}">
      <dsp:nvSpPr>
        <dsp:cNvPr id="4" name="Rectangles 3"/>
        <dsp:cNvSpPr/>
      </dsp:nvSpPr>
      <dsp:spPr bwMode="white">
        <a:xfrm>
          <a:off x="7173684" y="0"/>
          <a:ext cx="1278321" cy="811639"/>
        </a:xfrm>
        <a:prstGeom prst="rect">
          <a:avLst/>
        </a:prstGeom>
      </dsp:spPr>
      <dsp:style>
        <a:lnRef idx="2">
          <a:schemeClr val="lt1"/>
        </a:lnRef>
        <a:fillRef idx="1">
          <a:schemeClr val="accent2"/>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Final Review</a:t>
          </a:r>
          <a:endParaRPr lang="en-US" dirty="0">
            <a:latin typeface="Times New Roman" panose="02020603050405020304" pitchFamily="18" charset="0"/>
            <a:cs typeface="Times New Roman" panose="02020603050405020304" pitchFamily="18" charset="0"/>
          </a:endParaRPr>
        </a:p>
      </dsp:txBody>
      <dsp:txXfrm>
        <a:off x="7173684" y="0"/>
        <a:ext cx="1278321" cy="811639"/>
      </dsp:txXfrm>
    </dsp:sp>
    <dsp:sp modelId="{FC0F1314-3294-4A8C-8DCE-EB53E236164C}">
      <dsp:nvSpPr>
        <dsp:cNvPr id="5" name="Rectangular Callout 4"/>
        <dsp:cNvSpPr/>
      </dsp:nvSpPr>
      <dsp:spPr bwMode="white">
        <a:xfrm>
          <a:off x="5898558" y="811639"/>
          <a:ext cx="1278321" cy="3043646"/>
        </a:xfrm>
        <a:prstGeom prst="wedgeRectCallout">
          <a:avLst>
            <a:gd name="adj1" fmla="val 62500"/>
            <a:gd name="adj2" fmla="val 20830"/>
          </a:avLst>
        </a:prstGeom>
      </dsp:spPr>
      <dsp:style>
        <a:lnRef idx="2">
          <a:schemeClr val="lt1"/>
        </a:lnRef>
        <a:fillRef idx="1">
          <a:schemeClr val="accent1">
            <a:tint val="50000"/>
            <a:hueOff val="-3195000"/>
            <a:satOff val="9216"/>
            <a:lumOff val="3137"/>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5898558" y="811639"/>
        <a:ext cx="1278321" cy="3043646"/>
      </dsp:txXfrm>
    </dsp:sp>
    <dsp:sp modelId="{2AAD338D-3122-4454-9A67-16BE024D44E3}">
      <dsp:nvSpPr>
        <dsp:cNvPr id="6" name="Rectangles 5"/>
        <dsp:cNvSpPr/>
      </dsp:nvSpPr>
      <dsp:spPr bwMode="white">
        <a:xfrm>
          <a:off x="5898558" y="101455"/>
          <a:ext cx="1278321" cy="710184"/>
        </a:xfrm>
        <a:prstGeom prst="rect">
          <a:avLst/>
        </a:prstGeom>
      </dsp:spPr>
      <dsp:style>
        <a:lnRef idx="2">
          <a:schemeClr val="lt1"/>
        </a:lnRef>
        <a:fillRef idx="1">
          <a:schemeClr val="accent3"/>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4</a:t>
          </a:r>
          <a:endParaRPr lang="en-US" dirty="0">
            <a:latin typeface="Times New Roman" panose="02020603050405020304" pitchFamily="18" charset="0"/>
            <a:cs typeface="Times New Roman" panose="02020603050405020304" pitchFamily="18" charset="0"/>
          </a:endParaRPr>
        </a:p>
      </dsp:txBody>
      <dsp:txXfrm>
        <a:off x="5898558" y="101455"/>
        <a:ext cx="1278321" cy="710184"/>
      </dsp:txXfrm>
    </dsp:sp>
    <dsp:sp modelId="{2532504F-5FE1-4C97-B485-F05E8885EACC}">
      <dsp:nvSpPr>
        <dsp:cNvPr id="7" name="Rectangular Callout 6"/>
        <dsp:cNvSpPr/>
      </dsp:nvSpPr>
      <dsp:spPr bwMode="white">
        <a:xfrm>
          <a:off x="4620237" y="811639"/>
          <a:ext cx="1278321" cy="2840736"/>
        </a:xfrm>
        <a:prstGeom prst="wedgeRectCallout">
          <a:avLst>
            <a:gd name="adj1" fmla="val 62500"/>
            <a:gd name="adj2" fmla="val 20830"/>
          </a:avLst>
        </a:prstGeom>
      </dsp:spPr>
      <dsp:style>
        <a:lnRef idx="2">
          <a:schemeClr val="lt1"/>
        </a:lnRef>
        <a:fillRef idx="1">
          <a:schemeClr val="accent1">
            <a:tint val="50000"/>
            <a:hueOff val="-6390000"/>
            <a:satOff val="18431"/>
            <a:lumOff val="6275"/>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pPr lvl="0">
            <a:lnSpc>
              <a:spcPct val="100000"/>
            </a:lnSpc>
            <a:spcBef>
              <a:spcPct val="0"/>
            </a:spcBef>
            <a:spcAft>
              <a:spcPct val="35000"/>
            </a:spcAft>
          </a:pPr>
          <a:endParaRPr lang="en-US" dirty="0">
            <a:solidFill>
              <a:schemeClr val="tx1"/>
            </a:solidFill>
            <a:latin typeface="Times New Roman" panose="02020603050405020304" pitchFamily="18" charset="0"/>
            <a:cs typeface="Times New Roman" panose="02020603050405020304" pitchFamily="18" charset="0"/>
          </a:endParaRPr>
        </a:p>
      </dsp:txBody>
      <dsp:txXfrm>
        <a:off x="4620237" y="811639"/>
        <a:ext cx="1278321" cy="2840736"/>
      </dsp:txXfrm>
    </dsp:sp>
    <dsp:sp modelId="{4C66D42D-7E6D-4563-AFDC-369C30B73F70}">
      <dsp:nvSpPr>
        <dsp:cNvPr id="8" name="Rectangles 7"/>
        <dsp:cNvSpPr/>
      </dsp:nvSpPr>
      <dsp:spPr bwMode="white">
        <a:xfrm>
          <a:off x="4620237" y="206156"/>
          <a:ext cx="1278321" cy="608729"/>
        </a:xfrm>
        <a:prstGeom prst="rect">
          <a:avLst/>
        </a:prstGeom>
      </dsp:spPr>
      <dsp:style>
        <a:lnRef idx="2">
          <a:schemeClr val="lt1"/>
        </a:lnRef>
        <a:fillRef idx="1">
          <a:schemeClr val="accent4"/>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3</a:t>
          </a:r>
          <a:endParaRPr lang="en-US" dirty="0">
            <a:latin typeface="Times New Roman" panose="02020603050405020304" pitchFamily="18" charset="0"/>
            <a:cs typeface="Times New Roman" panose="02020603050405020304" pitchFamily="18" charset="0"/>
          </a:endParaRPr>
        </a:p>
      </dsp:txBody>
      <dsp:txXfrm>
        <a:off x="4620237" y="206156"/>
        <a:ext cx="1278321" cy="608729"/>
      </dsp:txXfrm>
    </dsp:sp>
    <dsp:sp modelId="{06F8D57B-EDF4-4CF4-8700-DC2CA3E3028E}">
      <dsp:nvSpPr>
        <dsp:cNvPr id="9" name="Rectangular Callout 8"/>
        <dsp:cNvSpPr/>
      </dsp:nvSpPr>
      <dsp:spPr bwMode="white">
        <a:xfrm>
          <a:off x="3341916" y="811639"/>
          <a:ext cx="1278321" cy="2637827"/>
        </a:xfrm>
        <a:prstGeom prst="wedgeRectCallout">
          <a:avLst>
            <a:gd name="adj1" fmla="val 62500"/>
            <a:gd name="adj2" fmla="val 20830"/>
          </a:avLst>
        </a:prstGeom>
      </dsp:spPr>
      <dsp:style>
        <a:lnRef idx="2">
          <a:schemeClr val="lt1"/>
        </a:lnRef>
        <a:fillRef idx="1">
          <a:schemeClr val="accent1">
            <a:tint val="50000"/>
            <a:hueOff val="-9585000"/>
            <a:satOff val="27647"/>
            <a:lumOff val="9412"/>
            <a:alpha val="100000"/>
          </a:schemeClr>
        </a:fillRef>
        <a:effectRef idx="0">
          <a:scrgbClr r="0" g="0" b="0"/>
        </a:effectRef>
        <a:fontRef idx="minor"/>
      </dsp:style>
      <dsp:txXfrm>
        <a:off x="3341916" y="811639"/>
        <a:ext cx="1278321" cy="2637827"/>
      </dsp:txXfrm>
    </dsp:sp>
    <dsp:sp modelId="{00BB3360-A9BB-4051-A4B1-1216F82F642C}">
      <dsp:nvSpPr>
        <dsp:cNvPr id="11" name="Rectangles 10"/>
        <dsp:cNvSpPr/>
      </dsp:nvSpPr>
      <dsp:spPr bwMode="white">
        <a:xfrm>
          <a:off x="3341916" y="304365"/>
          <a:ext cx="1278321" cy="507274"/>
        </a:xfrm>
        <a:prstGeom prst="rect">
          <a:avLst/>
        </a:prstGeom>
      </dsp:spPr>
      <dsp:style>
        <a:lnRef idx="2">
          <a:schemeClr val="lt1"/>
        </a:lnRef>
        <a:fillRef idx="1">
          <a:schemeClr val="accent5"/>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2</a:t>
          </a:r>
          <a:endParaRPr lang="en-US" dirty="0">
            <a:latin typeface="Times New Roman" panose="02020603050405020304" pitchFamily="18" charset="0"/>
            <a:cs typeface="Times New Roman" panose="02020603050405020304" pitchFamily="18" charset="0"/>
          </a:endParaRPr>
        </a:p>
      </dsp:txBody>
      <dsp:txXfrm>
        <a:off x="3341916" y="304365"/>
        <a:ext cx="1278321" cy="507274"/>
      </dsp:txXfrm>
    </dsp:sp>
    <dsp:sp modelId="{A134CDD1-D85F-44EF-8BEE-9F99A855C1E6}">
      <dsp:nvSpPr>
        <dsp:cNvPr id="12" name="Rectangular Callout 11"/>
        <dsp:cNvSpPr/>
      </dsp:nvSpPr>
      <dsp:spPr bwMode="white">
        <a:xfrm>
          <a:off x="2063595" y="811639"/>
          <a:ext cx="1278321" cy="2434917"/>
        </a:xfrm>
        <a:prstGeom prst="wedgeRectCallout">
          <a:avLst>
            <a:gd name="adj1" fmla="val 62500"/>
            <a:gd name="adj2" fmla="val 20830"/>
          </a:avLst>
        </a:prstGeom>
      </dsp:spPr>
      <dsp:style>
        <a:lnRef idx="2">
          <a:schemeClr val="lt1"/>
        </a:lnRef>
        <a:fillRef idx="1">
          <a:schemeClr val="accent1">
            <a:tint val="50000"/>
            <a:hueOff val="-12780000"/>
            <a:satOff val="36863"/>
            <a:lumOff val="12549"/>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pPr lvl="0">
            <a:lnSpc>
              <a:spcPct val="100000"/>
            </a:lnSpc>
            <a:spcBef>
              <a:spcPct val="0"/>
            </a:spcBef>
            <a:spcAft>
              <a:spcPct val="35000"/>
            </a:spcAft>
          </a:pPr>
          <a:endParaRPr lang="en-US" dirty="0">
            <a:solidFill>
              <a:schemeClr val="tx1"/>
            </a:solidFill>
            <a:latin typeface="Times New Roman" panose="02020603050405020304" pitchFamily="18" charset="0"/>
            <a:cs typeface="Times New Roman" panose="02020603050405020304" pitchFamily="18" charset="0"/>
          </a:endParaRPr>
        </a:p>
      </dsp:txBody>
      <dsp:txXfrm>
        <a:off x="2063595" y="811639"/>
        <a:ext cx="1278321" cy="2434917"/>
      </dsp:txXfrm>
    </dsp:sp>
    <dsp:sp modelId="{65257024-FAC0-4522-B139-1CC85B547BE8}">
      <dsp:nvSpPr>
        <dsp:cNvPr id="13" name="Rectangles 12"/>
        <dsp:cNvSpPr/>
      </dsp:nvSpPr>
      <dsp:spPr bwMode="white">
        <a:xfrm>
          <a:off x="2063595" y="405820"/>
          <a:ext cx="1278321" cy="405820"/>
        </a:xfrm>
        <a:prstGeom prst="rect">
          <a:avLst/>
        </a:prstGeom>
      </dsp:spPr>
      <dsp:style>
        <a:lnRef idx="2">
          <a:schemeClr val="lt1"/>
        </a:lnRef>
        <a:fillRef idx="1">
          <a:schemeClr val="accent6"/>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1</a:t>
          </a:r>
          <a:endParaRPr lang="en-US" dirty="0">
            <a:latin typeface="Times New Roman" panose="02020603050405020304" pitchFamily="18" charset="0"/>
            <a:cs typeface="Times New Roman" panose="02020603050405020304" pitchFamily="18" charset="0"/>
          </a:endParaRPr>
        </a:p>
      </dsp:txBody>
      <dsp:txXfrm>
        <a:off x="2063595" y="405820"/>
        <a:ext cx="1278321" cy="405820"/>
      </dsp:txXfrm>
    </dsp:sp>
    <dsp:sp modelId="{6BCCFBA6-7A43-4631-AD7F-AFB10E1E6CD7}">
      <dsp:nvSpPr>
        <dsp:cNvPr id="10" name="Rectangles 9"/>
        <dsp:cNvSpPr/>
      </dsp:nvSpPr>
      <dsp:spPr bwMode="white">
        <a:xfrm>
          <a:off x="3504181" y="811639"/>
          <a:ext cx="1116055" cy="2637827"/>
        </a:xfrm>
        <a:prstGeom prst="rect">
          <a:avLst/>
        </a:prstGeom>
        <a:noFill/>
        <a:ln>
          <a:noFill/>
        </a:ln>
      </dsp:spPr>
      <dsp:style>
        <a:lnRef idx="0">
          <a:scrgbClr r="0" g="0" b="0"/>
        </a:lnRef>
        <a:fillRef idx="0">
          <a:scrgbClr r="0" g="0" b="0"/>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3504181" y="811639"/>
        <a:ext cx="1116055" cy="2637827"/>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des des des des des des des des des des des des des des des des des des des des des des des des des des des des des des des des des des des des des des des des des des des des des des des des des des des des des des des des des des des des des des des" ptType="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dgm:presOf axis="des des des des des des des des des des des des des des des des des des des des des des des des des des des des des des des des des des des des des des des des des des des des des des des des des des des des des des des des des des des des des des des des" ptType="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fld>
            <a:endParaRPr lang="en-GB"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F66083A-C1B7-4B46-82C5-289BB6E6D5A4}"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sp>
        <p:nvSpPr>
          <p:cNvPr id="4" name="Date Placeholder 3"/>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B3E8F52-857A-4C89-954C-57943DB51290}"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2BBD7B4D-DDD6-4CA2-87A0-9BDD5E5268EC}" type="datetime1">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C130D9E5-0635-43A8-8973-488E7408FAF7}" type="datetime1">
              <a:rPr lang="en-IN" smtClean="0"/>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1D0CEA8-D591-4CC9-939A-A3BE6FD93E89}" type="datetime1">
              <a:rPr lang="en-IN" smtClean="0"/>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BE2297-DC8B-48E6-B6D6-34773F9A5984}" type="datetime1">
              <a:rPr lang="en-IN" smtClean="0"/>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4C2A547-6E4B-4188-9BD5-035CB9C4BCC5}" type="datetime1">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2706E29-16A1-4AAE-B55B-4E3DB7265605}" type="datetime1">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FC26915-BE00-456E-A9CA-DB9FE1FD674A}"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FAA2D233-408A-4415-B919-B7ECAA5043E2}"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lang="en-GB"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ctr" rtl="0">
              <a:spcBef>
                <a:spcPts val="0"/>
              </a:spcBef>
              <a:spcAft>
                <a:spcPts val="0"/>
              </a:spcAft>
              <a:buClr>
                <a:srgbClr val="17365D"/>
              </a:buClr>
              <a:buSzPts val="20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Mr. Sakthi S</a:t>
            </a:r>
            <a:endPar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ctr" rtl="0">
              <a:spcBef>
                <a:spcPts val="340"/>
              </a:spcBef>
              <a:spcAft>
                <a:spcPts val="0"/>
              </a:spcAft>
              <a:buClr>
                <a:srgbClr val="17365D"/>
              </a:buClr>
              <a:buSzPts val="17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sz="2000"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School of CSE</a:t>
            </a:r>
            <a:endParaRPr sz="2000"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sz="2000"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2000" b="1" dirty="0">
                <a:solidFill>
                  <a:schemeClr val="accent1"/>
                </a:solidFill>
                <a:latin typeface="Cambria" panose="02040503050406030204"/>
                <a:ea typeface="Cambria" panose="02040503050406030204"/>
                <a:cs typeface="Verdana" panose="020B0604030504040204"/>
                <a:sym typeface="Verdana" panose="020B0604030504040204"/>
              </a:rPr>
              <a:t>Name of the Program:</a:t>
            </a:r>
            <a:r>
              <a:rPr lang="en-US" sz="2000" b="1" dirty="0">
                <a:solidFill>
                  <a:schemeClr val="bg2">
                    <a:lumMod val="10000"/>
                  </a:schemeClr>
                </a:solidFill>
                <a:latin typeface="Cambria" panose="02040503050406030204"/>
                <a:ea typeface="Cambria" panose="02040503050406030204"/>
                <a:cs typeface="Verdana" panose="020B0604030504040204"/>
                <a:sym typeface="Verdana" panose="020B0604030504040204"/>
              </a:rPr>
              <a:t> Internship</a:t>
            </a:r>
            <a:endParaRPr lang="en-US" sz="2000" b="1" i="0" u="none" strike="noStrike" cap="none" dirty="0">
              <a:solidFill>
                <a:schemeClr val="bg2">
                  <a:lumMod val="10000"/>
                </a:schemeClr>
              </a:solidFill>
              <a:latin typeface="Cambria" panose="02040503050406030204" pitchFamily="18" charset="0"/>
              <a:ea typeface="Cambria" panose="02040503050406030204" pitchFamily="18" charset="0"/>
              <a:cs typeface="Verdana" panose="020B0604030504040204"/>
            </a:endParaRPr>
          </a:p>
          <a:p>
            <a:pPr>
              <a:buClr>
                <a:srgbClr val="17365D"/>
              </a:buClr>
              <a:buSzPct val="100000"/>
            </a:pPr>
            <a:r>
              <a:rPr lang="en-US" sz="2000" b="1" dirty="0">
                <a:solidFill>
                  <a:schemeClr val="accent1"/>
                </a:solidFill>
                <a:latin typeface="Cambria" panose="02040503050406030204"/>
                <a:ea typeface="Cambria" panose="02040503050406030204"/>
                <a:cs typeface="Verdana" panose="020B0604030504040204"/>
                <a:sym typeface="Verdana" panose="020B0604030504040204"/>
              </a:rPr>
              <a:t>Name of the </a:t>
            </a:r>
            <a:r>
              <a:rPr lang="en-US" sz="2000" b="1" err="1">
                <a:solidFill>
                  <a:schemeClr val="accent1"/>
                </a:solidFill>
                <a:latin typeface="Cambria" panose="02040503050406030204"/>
                <a:ea typeface="Cambria" panose="02040503050406030204"/>
                <a:cs typeface="Verdana" panose="020B0604030504040204"/>
                <a:sym typeface="Verdana" panose="020B0604030504040204"/>
              </a:rPr>
              <a:t>HoD</a:t>
            </a:r>
            <a:r>
              <a:rPr lang="en-US" sz="2000" b="1" dirty="0">
                <a:solidFill>
                  <a:schemeClr val="accent1"/>
                </a:solidFill>
                <a:latin typeface="Cambria" panose="02040503050406030204"/>
                <a:ea typeface="Cambria" panose="02040503050406030204"/>
                <a:cs typeface="Verdana" panose="020B0604030504040204"/>
                <a:sym typeface="Verdana" panose="020B0604030504040204"/>
              </a:rPr>
              <a:t>: </a:t>
            </a:r>
            <a:r>
              <a:rPr lang="en-US" sz="2000" b="1" dirty="0">
                <a:solidFill>
                  <a:schemeClr val="bg2">
                    <a:lumMod val="10000"/>
                  </a:schemeClr>
                </a:solidFill>
                <a:latin typeface="Cambria" panose="02040503050406030204"/>
                <a:ea typeface="Cambria" panose="02040503050406030204"/>
                <a:cs typeface="Verdana" panose="020B0604030504040204"/>
                <a:sym typeface="Verdana" panose="020B0604030504040204"/>
              </a:rPr>
              <a:t>Dr. Blessed Prince</a:t>
            </a:r>
            <a:endParaRPr lang="en-US" sz="2000" b="1">
              <a:solidFill>
                <a:schemeClr val="bg2">
                  <a:lumMod val="10000"/>
                </a:schemeClr>
              </a:solidFill>
              <a:latin typeface="Cambria" panose="02040503050406030204" pitchFamily="18" charset="0"/>
              <a:ea typeface="Cambria" panose="02040503050406030204" pitchFamily="18" charset="0"/>
              <a:cs typeface="Verdana" panose="020B0604030504040204"/>
            </a:endParaRPr>
          </a:p>
          <a:p>
            <a:pPr>
              <a:buClr>
                <a:srgbClr val="17365D"/>
              </a:buClr>
              <a:buSzPct val="100000"/>
            </a:pPr>
            <a:r>
              <a:rPr lang="en-US" sz="2000" b="1" dirty="0">
                <a:solidFill>
                  <a:schemeClr val="accent1"/>
                </a:solidFill>
                <a:latin typeface="Cambria" panose="02040503050406030204"/>
                <a:ea typeface="Cambria" panose="02040503050406030204"/>
                <a:cs typeface="Verdana" panose="020B0604030504040204"/>
                <a:sym typeface="Verdana" panose="020B0604030504040204"/>
              </a:rPr>
              <a:t>Name of the Program Internship Coordinator: </a:t>
            </a:r>
            <a:r>
              <a:rPr lang="en-US" sz="2000" b="1" dirty="0">
                <a:solidFill>
                  <a:schemeClr val="bg2">
                    <a:lumMod val="10000"/>
                  </a:schemeClr>
                </a:solidFill>
                <a:latin typeface="Cambria" panose="02040503050406030204"/>
                <a:ea typeface="Cambria" panose="02040503050406030204"/>
                <a:cs typeface="Verdana" panose="020B0604030504040204"/>
                <a:sym typeface="Verdana" panose="020B0604030504040204"/>
              </a:rPr>
              <a:t>Ms. Vidya R</a:t>
            </a:r>
            <a:endParaRPr lang="en-US" sz="2000" b="1" i="0" u="none" strike="noStrike" cap="none" dirty="0">
              <a:solidFill>
                <a:schemeClr val="bg2">
                  <a:lumMod val="10000"/>
                </a:schemeClr>
              </a:solidFill>
              <a:latin typeface="Cambria" panose="02040503050406030204" pitchFamily="18" charset="0"/>
              <a:ea typeface="Cambria" panose="02040503050406030204" pitchFamily="18" charset="0"/>
              <a:cs typeface="Verdana" panose="020B0604030504040204"/>
            </a:endParaRPr>
          </a:p>
          <a:p>
            <a:pPr>
              <a:buClr>
                <a:srgbClr val="17365D"/>
              </a:buClr>
              <a:buSzPct val="100000"/>
            </a:pPr>
            <a:r>
              <a:rPr lang="en-US" sz="2000" b="1" dirty="0">
                <a:solidFill>
                  <a:schemeClr val="accent1"/>
                </a:solidFill>
                <a:latin typeface="Cambria" panose="02040503050406030204"/>
                <a:ea typeface="Cambria" panose="02040503050406030204"/>
                <a:cs typeface="Verdana" panose="020B0604030504040204"/>
                <a:sym typeface="Verdana" panose="020B0604030504040204"/>
              </a:rPr>
              <a:t>Name of the School Internship Coordinator: Dr. </a:t>
            </a:r>
            <a:r>
              <a:rPr lang="en-US" sz="2000" b="1" dirty="0">
                <a:solidFill>
                  <a:srgbClr val="000000"/>
                </a:solidFill>
                <a:latin typeface="Cambria" panose="02040503050406030204"/>
                <a:ea typeface="Cambria" panose="02040503050406030204"/>
                <a:cs typeface="Verdana" panose="020B0604030504040204"/>
                <a:sym typeface="Verdana" panose="020B0604030504040204"/>
              </a:rPr>
              <a:t>Md Ziaur Rahman</a:t>
            </a:r>
            <a:endParaRPr lang="en-US" sz="2000" b="1" dirty="0">
              <a:solidFill>
                <a:schemeClr val="accent1"/>
              </a:solidFill>
              <a:latin typeface="Cambria" panose="02040503050406030204"/>
              <a:ea typeface="Cambria" panose="02040503050406030204"/>
              <a:cs typeface="Verdana" panose="020B0604030504040204"/>
            </a:endParaRPr>
          </a:p>
          <a:p>
            <a:pPr lvl="0">
              <a:buClr>
                <a:srgbClr val="17365D"/>
              </a:buClr>
              <a:buSzPct val="100000"/>
            </a:pP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endParaRPr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10" name="Table 9"/>
          <p:cNvGraphicFramePr>
            <a:graphicFrameLocks noGrp="1"/>
          </p:cNvGraphicFramePr>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gridCol w="3950282"/>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c hMerge="1">
                  <a:tcPr/>
                </a:tc>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a:latin typeface="Cambria" panose="02040503050406030204"/>
                          <a:ea typeface="Cambria" panose="02040503050406030204"/>
                          <a:cs typeface="Times New Roman" panose="02020603050405020304"/>
                        </a:rPr>
                        <a:t>KARTHIK</a:t>
                      </a:r>
                      <a:endParaRPr lang="en-US" dirty="0">
                        <a:latin typeface="Cambria" panose="02040503050406030204"/>
                        <a:ea typeface="Cambria" panose="02040503050406030204"/>
                        <a:cs typeface="Times New Roman" panose="02020603050405020304"/>
                      </a:endParaRPr>
                    </a:p>
                  </a:txBody>
                  <a:tcPr/>
                </a:tc>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a:latin typeface="Cambria" panose="02040503050406030204"/>
                          <a:ea typeface="Cambria" panose="02040503050406030204"/>
                          <a:cs typeface="Times New Roman" panose="02020603050405020304"/>
                        </a:rPr>
                        <a:t>20231CSE3047</a:t>
                      </a:r>
                      <a:endParaRPr lang="en-US" dirty="0"/>
                    </a:p>
                  </a:txBody>
                  <a:tcPr/>
                </a:tc>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a:latin typeface="Cambria" panose="02040503050406030204"/>
                          <a:ea typeface="Cambria" panose="02040503050406030204"/>
                          <a:cs typeface="Times New Roman" panose="02020603050405020304"/>
                        </a:rPr>
                        <a:t>8CSE07</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r>
            </a:tbl>
          </a:graphicData>
        </a:graphic>
      </p:graphicFrame>
      <p:graphicFrame>
        <p:nvGraphicFramePr>
          <p:cNvPr id="3" name="Table 2"/>
          <p:cNvGraphicFramePr>
            <a:graphicFrameLocks noGrp="1"/>
          </p:cNvGraphicFramePr>
          <p:nvPr>
            <p:custDataLst>
              <p:tags r:id="rId1"/>
            </p:custDataLst>
          </p:nvPr>
        </p:nvGraphicFramePr>
        <p:xfrm>
          <a:off x="979805" y="0"/>
          <a:ext cx="9084310" cy="3230880"/>
        </p:xfrm>
        <a:graphic>
          <a:graphicData uri="http://schemas.openxmlformats.org/drawingml/2006/table">
            <a:tbl>
              <a:tblPr firstRow="1" bandRow="1">
                <a:tableStyleId>{2D5ABB26-0587-4C30-8999-92F81FD0307C}</a:tableStyleId>
              </a:tblPr>
              <a:tblGrid>
                <a:gridCol w="9084310"/>
              </a:tblGrid>
              <a:tr h="3230880">
                <a:tc>
                  <a:txBody>
                    <a:bodyPr/>
                    <a:lstStyle/>
                    <a:p>
                      <a:pPr lvl="0" algn="ctr">
                        <a:lnSpc>
                          <a:spcPct val="100000"/>
                        </a:lnSpc>
                        <a:spcBef>
                          <a:spcPts val="0"/>
                        </a:spcBef>
                        <a:spcAft>
                          <a:spcPts val="0"/>
                        </a:spcAft>
                        <a:buNone/>
                      </a:pPr>
                      <a:r>
                        <a:rPr lang="en-US" altLang="en-US" sz="2000" b="1" dirty="0">
                          <a:solidFill>
                            <a:schemeClr val="accent1">
                              <a:lumMod val="50000"/>
                            </a:schemeClr>
                          </a:solidFill>
                          <a:latin typeface="Times New Roman" panose="02020603050405020304" pitchFamily="18" charset="0"/>
                          <a:cs typeface="Times New Roman" panose="02020603050405020304" pitchFamily="18" charset="0"/>
                          <a:sym typeface="+mn-ea"/>
                        </a:rPr>
                        <a:t>CSE7302 - INTERNSHIP</a:t>
                      </a:r>
                      <a:br>
                        <a:rPr lang="en-US" sz="2000" b="0" i="0" u="none" strike="noStrike" noProof="0" dirty="0">
                          <a:solidFill>
                            <a:srgbClr val="2F5597"/>
                          </a:solidFill>
                          <a:latin typeface="Times New Roman" panose="02020603050405020304"/>
                          <a:cs typeface="Times New Roman" panose="02020603050405020304"/>
                        </a:rPr>
                      </a:br>
                      <a:r>
                        <a:rPr lang="en-US" sz="2000" b="1" i="0" u="none" strike="noStrike" noProof="0" dirty="0">
                          <a:solidFill>
                            <a:schemeClr val="accent1"/>
                          </a:solidFill>
                          <a:latin typeface="Times New Roman" panose="02020603050405020304"/>
                          <a:cs typeface="Times New Roman" panose="02020603050405020304"/>
                        </a:rPr>
                        <a:t> </a:t>
                      </a:r>
                      <a:r>
                        <a:rPr lang="en-US" sz="2000" b="1" i="0" u="none" strike="noStrike" noProof="0">
                          <a:solidFill>
                            <a:schemeClr val="accent1"/>
                          </a:solidFill>
                          <a:latin typeface="Times New Roman" panose="02020603050405020304"/>
                          <a:cs typeface="Times New Roman" panose="02020603050405020304"/>
                        </a:rPr>
                        <a:t>Review-3 Presentation</a:t>
                      </a:r>
                      <a:r>
                        <a:rPr lang="en-US" sz="2000" b="0" i="0" u="none" strike="noStrike" noProof="0">
                          <a:solidFill>
                            <a:schemeClr val="accent1"/>
                          </a:solidFill>
                          <a:latin typeface="Times New Roman" panose="02020603050405020304"/>
                          <a:cs typeface="Times New Roman" panose="02020603050405020304"/>
                        </a:rPr>
                        <a:t> </a:t>
                      </a:r>
                      <a:endParaRPr lang="en-US" sz="2000" b="0" i="0" u="none" strike="noStrike" noProof="0">
                        <a:solidFill>
                          <a:schemeClr val="accent1"/>
                        </a:solidFill>
                        <a:latin typeface="Times New Roman" panose="02020603050405020304"/>
                        <a:cs typeface="Times New Roman" panose="02020603050405020304"/>
                      </a:endParaRPr>
                    </a:p>
                    <a:p>
                      <a:pPr algn="ctr">
                        <a:buNone/>
                      </a:pPr>
                      <a:r>
                        <a:rPr lang="en-US" sz="2000" b="1" dirty="0">
                          <a:solidFill>
                            <a:schemeClr val="accent1"/>
                          </a:solidFill>
                          <a:latin typeface="Times New Roman" panose="02020603050405020304"/>
                          <a:ea typeface="+mn-lt"/>
                          <a:cs typeface="Times New Roman" panose="02020603050405020304"/>
                          <a:sym typeface="+mn-ea"/>
                        </a:rPr>
                        <a:t>Web-Based Vehicle and Rail Wheel Monitoring System with</a:t>
                      </a:r>
                      <a:endParaRPr lang="en-US" sz="2000" dirty="0">
                        <a:solidFill>
                          <a:schemeClr val="accent1"/>
                        </a:solidFill>
                        <a:latin typeface="Times New Roman" panose="02020603050405020304"/>
                        <a:ea typeface="+mn-lt"/>
                        <a:cs typeface="Times New Roman" panose="02020603050405020304"/>
                      </a:endParaRPr>
                    </a:p>
                    <a:p>
                      <a:pPr algn="ctr">
                        <a:buNone/>
                      </a:pPr>
                      <a:r>
                        <a:rPr lang="en-US" sz="2000" b="1" dirty="0">
                          <a:solidFill>
                            <a:schemeClr val="accent1"/>
                          </a:solidFill>
                          <a:latin typeface="Times New Roman" panose="02020603050405020304"/>
                          <a:ea typeface="+mn-lt"/>
                          <a:cs typeface="Times New Roman" panose="02020603050405020304"/>
                          <a:sym typeface="+mn-ea"/>
                        </a:rPr>
                        <a:t> Object Detection</a:t>
                      </a:r>
                      <a:endParaRPr lang="en-US" sz="2000" dirty="0">
                        <a:solidFill>
                          <a:schemeClr val="accent1"/>
                        </a:solidFill>
                        <a:latin typeface="Times New Roman" panose="02020603050405020304"/>
                        <a:ea typeface="Calibri" panose="020F0502020204030204"/>
                        <a:cs typeface="Times New Roman" panose="02020603050405020304"/>
                      </a:endParaRPr>
                    </a:p>
                    <a:p>
                      <a:pPr lvl="0" algn="ctr">
                        <a:lnSpc>
                          <a:spcPct val="100000"/>
                        </a:lnSpc>
                        <a:spcBef>
                          <a:spcPts val="0"/>
                        </a:spcBef>
                        <a:spcAft>
                          <a:spcPts val="0"/>
                        </a:spcAft>
                        <a:buNone/>
                      </a:pPr>
                      <a:br>
                        <a:rPr lang="en-US" sz="2400" b="0" i="0" u="none" strike="noStrike" noProof="0" dirty="0">
                          <a:solidFill>
                            <a:srgbClr val="0070C0"/>
                          </a:solidFill>
                          <a:latin typeface="Times New Roman" panose="02020603050405020304"/>
                          <a:cs typeface="Times New Roman" panose="02020603050405020304"/>
                        </a:rPr>
                      </a:br>
                      <a:br>
                        <a:rPr lang="en-US" sz="2400" b="0" i="0" u="none" strike="noStrike" noProof="0" dirty="0">
                          <a:solidFill>
                            <a:srgbClr val="0070C0"/>
                          </a:solidFill>
                          <a:latin typeface="Times New Roman" panose="02020603050405020304"/>
                          <a:cs typeface="Times New Roman" panose="02020603050405020304"/>
                        </a:rPr>
                      </a:br>
                      <a:r>
                        <a:rPr lang="en-US" sz="2400" b="0" i="0" u="none" strike="noStrike" noProof="0" dirty="0">
                          <a:solidFill>
                            <a:srgbClr val="0070C0"/>
                          </a:solidFill>
                          <a:latin typeface="Times New Roman" panose="02020603050405020304"/>
                          <a:cs typeface="Times New Roman" panose="02020603050405020304"/>
                        </a:rPr>
                        <a:t> </a:t>
                      </a:r>
                      <a:endParaRPr lang="en-US" dirty="0"/>
                    </a:p>
                    <a:p>
                      <a:pPr lvl="0">
                        <a:buNone/>
                      </a:pPr>
                      <a:endParaRPr lang="en-US" dirty="0"/>
                    </a:p>
                  </a:txBody>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709478" y="274638"/>
            <a:ext cx="10771322"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800734"/>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sym typeface="+mn-ea"/>
              </a:rPr>
              <a:t>About Company or </a:t>
            </a:r>
            <a:r>
              <a:rPr lang="en-US"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Organization</a:t>
            </a:r>
            <a:endParaRPr lang="en-US"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Working domain or the technology</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About your team and reporting Manager</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Challenges Faced in Internship</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Objectives of the </a:t>
            </a: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work</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Literature Review</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Proposed System</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Problem Statement</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System Requirements</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Advantages of Proposed System/Work</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System Design</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System Implementation</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Internship Roadmap</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Github Link</a:t>
            </a:r>
            <a:endParaRPr lang="en-US" sz="2000" b="1" dirty="0">
              <a:solidFill>
                <a:srgbClr val="0070C0"/>
              </a:solidFill>
              <a:latin typeface="Times New Roman" panose="02020603050405020304"/>
              <a:ea typeface="Cambria" panose="02040503050406030204" pitchFamily="18" charset="0"/>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90" y="33655"/>
            <a:ext cx="10615295" cy="584200"/>
          </a:xfrm>
          <a:ln>
            <a:solidFill>
              <a:schemeClr val="accent1">
                <a:lumMod val="75000"/>
              </a:schemeClr>
            </a:solidFill>
          </a:ln>
        </p:spPr>
        <p:txBody>
          <a:bodyPr>
            <a:normAutofit fontScale="90000"/>
          </a:bodyPr>
          <a:lstStyle/>
          <a:p>
            <a:r>
              <a:rPr lang="en-US" sz="4000" b="1" dirty="0" smtClean="0">
                <a:solidFill>
                  <a:srgbClr val="0070C0"/>
                </a:solidFill>
                <a:latin typeface="Times New Roman" panose="02020603050405020304" pitchFamily="18" charset="0"/>
                <a:cs typeface="Times New Roman" panose="02020603050405020304" pitchFamily="18" charset="0"/>
                <a:sym typeface="+mn-ea"/>
              </a:rPr>
              <a:t>About Company or Organization</a:t>
            </a:r>
            <a:endParaRPr lang="en-US" sz="4000">
              <a:solidFill>
                <a:schemeClr val="accent1"/>
              </a:solidFill>
              <a:latin typeface="Times New Roman" panose="02020603050405020304"/>
              <a:cs typeface="Times New Roman" panose="02020603050405020304"/>
            </a:endParaRPr>
          </a:p>
        </p:txBody>
      </p:sp>
      <p:pic>
        <p:nvPicPr>
          <p:cNvPr id="8" name="Content Placeholder 7" descr="0 Departures from Rail Wheel Factory Siding SWR/South Western Zone - Railway  Enquiry"/>
          <p:cNvPicPr>
            <a:picLocks noGrp="1" noChangeAspect="1"/>
          </p:cNvPicPr>
          <p:nvPr>
            <p:ph idx="1"/>
          </p:nvPr>
        </p:nvPicPr>
        <p:blipFill>
          <a:blip r:embed="rId1"/>
          <a:stretch>
            <a:fillRect/>
          </a:stretch>
        </p:blipFill>
        <p:spPr>
          <a:xfrm>
            <a:off x="5899854" y="1584875"/>
            <a:ext cx="5828580" cy="4002483"/>
          </a:xfrm>
          <a:prstGeom prst="rect">
            <a:avLst/>
          </a:prstGeom>
        </p:spPr>
      </p:pic>
      <p:sp>
        <p:nvSpPr>
          <p:cNvPr id="4" name="Text Placeholder 3"/>
          <p:cNvSpPr>
            <a:spLocks noGrp="1"/>
          </p:cNvSpPr>
          <p:nvPr>
            <p:ph type="body" sz="half" idx="2"/>
          </p:nvPr>
        </p:nvSpPr>
        <p:spPr>
          <a:xfrm>
            <a:off x="279901" y="618223"/>
            <a:ext cx="5159185" cy="4448125"/>
          </a:xfrm>
        </p:spPr>
        <p:txBody>
          <a:bodyPr vert="horz" lIns="91440" tIns="45720" rIns="91440" bIns="45720" rtlCol="0" anchor="t">
            <a:noAutofit/>
          </a:bodyPr>
          <a:lstStyle/>
          <a:p>
            <a:pPr marL="342900" indent="-342900">
              <a:buFont typeface="Wingdings" panose="05000000000000000000" pitchFamily="34" charset="0"/>
              <a:buChar char="Ø"/>
            </a:pPr>
            <a:r>
              <a:rPr lang="en-US" sz="2400" b="1">
                <a:latin typeface="Times New Roman" panose="02020603050405020304"/>
                <a:cs typeface="Times New Roman" panose="02020603050405020304"/>
              </a:rPr>
              <a:t>Organization Name</a:t>
            </a:r>
            <a:endParaRPr lang="en-US" sz="2400">
              <a:ea typeface="Calibri" panose="020F0502020204030204"/>
              <a:cs typeface="Calibri" panose="020F0502020204030204"/>
            </a:endParaRPr>
          </a:p>
          <a:p>
            <a:r>
              <a:rPr lang="en-US" sz="2400">
                <a:latin typeface="Times New Roman" panose="02020603050405020304"/>
                <a:ea typeface="+mn-lt"/>
                <a:cs typeface="Times New Roman" panose="02020603050405020304"/>
              </a:rPr>
              <a:t>Rail Wheel Factory (RWF)</a:t>
            </a:r>
            <a:endParaRPr lang="en-US" sz="2400">
              <a:latin typeface="Times New Roman" panose="02020603050405020304"/>
              <a:cs typeface="Times New Roman" panose="02020603050405020304"/>
            </a:endParaRPr>
          </a:p>
          <a:p>
            <a:pPr marL="285750" indent="-285750">
              <a:buFont typeface="Wingdings" panose="05000000000000000000" pitchFamily="34" charset="0"/>
              <a:buChar char="Ø"/>
            </a:pPr>
            <a:r>
              <a:rPr lang="en-US" sz="2400" b="1">
                <a:latin typeface="Times New Roman" panose="02020603050405020304"/>
                <a:cs typeface="Times New Roman" panose="02020603050405020304"/>
              </a:rPr>
              <a:t>Type</a:t>
            </a:r>
            <a:endParaRPr lang="en-US" sz="2400" b="1">
              <a:latin typeface="Times New Roman" panose="02020603050405020304"/>
              <a:cs typeface="Times New Roman" panose="02020603050405020304"/>
            </a:endParaRPr>
          </a:p>
          <a:p>
            <a:r>
              <a:rPr lang="en-US" sz="2400">
                <a:latin typeface="Times New Roman" panose="02020603050405020304"/>
                <a:ea typeface="+mn-lt"/>
                <a:cs typeface="Times New Roman" panose="02020603050405020304"/>
              </a:rPr>
              <a:t>Government of India Enterprise</a:t>
            </a:r>
            <a:br>
              <a:rPr lang="en-US" sz="2400" dirty="0">
                <a:latin typeface="Times New Roman" panose="02020603050405020304"/>
                <a:ea typeface="+mn-lt"/>
                <a:cs typeface="Times New Roman" panose="02020603050405020304"/>
              </a:rPr>
            </a:br>
            <a:r>
              <a:rPr lang="en-US" sz="2400">
                <a:latin typeface="Times New Roman" panose="02020603050405020304"/>
                <a:ea typeface="+mn-lt"/>
                <a:cs typeface="Times New Roman" panose="02020603050405020304"/>
              </a:rPr>
              <a:t> (Under Ministry of Railways)</a:t>
            </a:r>
            <a:endParaRPr lang="en-US" sz="2400">
              <a:latin typeface="Times New Roman" panose="02020603050405020304"/>
              <a:cs typeface="Times New Roman" panose="02020603050405020304"/>
            </a:endParaRPr>
          </a:p>
          <a:p>
            <a:pPr marL="285750" indent="-285750">
              <a:buFont typeface="Wingdings" panose="05000000000000000000" pitchFamily="34" charset="0"/>
              <a:buChar char="Ø"/>
            </a:pPr>
            <a:r>
              <a:rPr lang="en-US" sz="2400" b="1">
                <a:latin typeface="Times New Roman" panose="02020603050405020304"/>
                <a:cs typeface="Times New Roman" panose="02020603050405020304"/>
              </a:rPr>
              <a:t>Location</a:t>
            </a:r>
            <a:endParaRPr lang="en-US" sz="2400" b="1">
              <a:latin typeface="Times New Roman" panose="02020603050405020304"/>
              <a:cs typeface="Times New Roman" panose="02020603050405020304"/>
            </a:endParaRPr>
          </a:p>
          <a:p>
            <a:r>
              <a:rPr lang="en-US" sz="2400">
                <a:latin typeface="Times New Roman" panose="02020603050405020304"/>
                <a:ea typeface="+mn-lt"/>
                <a:cs typeface="Times New Roman" panose="02020603050405020304"/>
              </a:rPr>
              <a:t>Yelahanka, Bengaluru, Karnataka</a:t>
            </a:r>
            <a:endParaRPr lang="en-US" sz="2400">
              <a:latin typeface="Times New Roman" panose="02020603050405020304"/>
              <a:cs typeface="Times New Roman" panose="02020603050405020304"/>
            </a:endParaRPr>
          </a:p>
          <a:p>
            <a:pPr marL="285750" indent="-285750">
              <a:buFont typeface="Wingdings" panose="05000000000000000000" pitchFamily="34" charset="0"/>
              <a:buChar char="Ø"/>
            </a:pPr>
            <a:r>
              <a:rPr lang="en-US" sz="2400" b="1">
                <a:latin typeface="Times New Roman" panose="02020603050405020304"/>
                <a:cs typeface="Times New Roman" panose="02020603050405020304"/>
              </a:rPr>
              <a:t>Overview</a:t>
            </a:r>
            <a:endParaRPr lang="en-US" sz="2400" b="1">
              <a:latin typeface="Times New Roman" panose="02020603050405020304"/>
              <a:cs typeface="Times New Roman" panose="02020603050405020304"/>
            </a:endParaRPr>
          </a:p>
          <a:p>
            <a:r>
              <a:rPr lang="en-US" sz="2400" dirty="0">
                <a:latin typeface="Times New Roman" panose="02020603050405020304"/>
                <a:ea typeface="+mn-lt"/>
                <a:cs typeface="Times New Roman" panose="02020603050405020304"/>
              </a:rPr>
              <a:t>Rail Wheel Factory manufactures cast steel railway wheels and axles used in Indian Railways. The organization maintains strict quality standards and is moving towards automation and digital monitoring systems.</a:t>
            </a:r>
            <a:endParaRPr lang="en-US" sz="2400" dirty="0">
              <a:latin typeface="Times New Roman" panose="02020603050405020304"/>
              <a:cs typeface="Times New Roman" panose="02020603050405020304"/>
            </a:endParaRPr>
          </a:p>
          <a:p>
            <a:endParaRPr lang="en-US" sz="2400" dirty="0">
              <a:ea typeface="Calibri" panose="020F0502020204030204"/>
              <a:cs typeface="Calibri" panose="020F0502020204030204"/>
            </a:endParaRPr>
          </a:p>
        </p:txBody>
      </p:sp>
      <p:sp>
        <p:nvSpPr>
          <p:cNvPr id="5" name="Date Placeholder 4"/>
          <p:cNvSpPr>
            <a:spLocks noGrp="1"/>
          </p:cNvSpPr>
          <p:nvPr>
            <p:ph type="dt" sz="half" idx="10"/>
          </p:nvPr>
        </p:nvSpPr>
        <p:spPr/>
        <p:txBody>
          <a:bodyPr/>
          <a:lstStyle/>
          <a:p>
            <a:fld id="{64C2A547-6E4B-4188-9BD5-035CB9C4BCC5}" type="datetime1">
              <a:rPr lang="en-IN" smtClean="0"/>
            </a:fld>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885" y="0"/>
            <a:ext cx="10515600" cy="1002682"/>
          </a:xfrm>
          <a:ln>
            <a:solidFill>
              <a:srgbClr val="4472C4"/>
            </a:solidFill>
          </a:ln>
        </p:spPr>
        <p:txBody>
          <a:bodyPr>
            <a:normAutofit/>
          </a:bodyPr>
          <a:lstStyle/>
          <a:p>
            <a:r>
              <a:rPr lang="en-IN" sz="4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Working domain or the technology</a:t>
            </a:r>
            <a:endParaRPr lang="en-US" sz="4000">
              <a:solidFill>
                <a:schemeClr val="accent1"/>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403225" y="1002665"/>
            <a:ext cx="11416665" cy="4123055"/>
          </a:xfrm>
        </p:spPr>
        <p:txBody>
          <a:bodyPr vert="horz" lIns="91440" tIns="45720" rIns="91440" bIns="45720" rtlCol="0" anchor="t">
            <a:noAutofit/>
          </a:bodyPr>
          <a:lstStyle/>
          <a:p>
            <a:pPr>
              <a:buNone/>
            </a:pPr>
            <a:r>
              <a:rPr lang="en-US" sz="2300" b="1" dirty="0">
                <a:latin typeface="Times New Roman" panose="02020603050405020304"/>
                <a:cs typeface="Times New Roman" panose="02020603050405020304"/>
              </a:rPr>
              <a:t>Project Title</a:t>
            </a:r>
            <a:endParaRPr lang="en-US" sz="2300" dirty="0">
              <a:latin typeface="Times New Roman" panose="02020603050405020304"/>
              <a:cs typeface="Times New Roman" panose="02020603050405020304"/>
            </a:endParaRPr>
          </a:p>
          <a:p>
            <a:pPr>
              <a:buNone/>
            </a:pPr>
            <a:r>
              <a:rPr lang="en-US" sz="2300" dirty="0">
                <a:latin typeface="Times New Roman" panose="02020603050405020304"/>
                <a:ea typeface="+mn-lt"/>
                <a:cs typeface="Times New Roman" panose="02020603050405020304"/>
              </a:rPr>
              <a:t>Web-Based Vehicle and Rail Wheel</a:t>
            </a:r>
            <a:endParaRPr lang="en-US" sz="2300" dirty="0">
              <a:latin typeface="Times New Roman" panose="02020603050405020304"/>
              <a:ea typeface="+mn-lt"/>
              <a:cs typeface="Times New Roman" panose="02020603050405020304"/>
            </a:endParaRPr>
          </a:p>
          <a:p>
            <a:pPr>
              <a:buNone/>
            </a:pPr>
            <a:r>
              <a:rPr lang="en-US" sz="2300" dirty="0">
                <a:latin typeface="Times New Roman" panose="02020603050405020304"/>
                <a:ea typeface="+mn-lt"/>
                <a:cs typeface="Times New Roman" panose="02020603050405020304"/>
              </a:rPr>
              <a:t>Monitoring System with Object Detection</a:t>
            </a:r>
            <a:endParaRPr lang="en-US" sz="2300" dirty="0">
              <a:latin typeface="Times New Roman" panose="02020603050405020304"/>
              <a:ea typeface="Calibri" panose="020F0502020204030204"/>
              <a:cs typeface="Times New Roman" panose="02020603050405020304"/>
            </a:endParaRPr>
          </a:p>
          <a:p>
            <a:pPr>
              <a:buNone/>
            </a:pPr>
            <a:r>
              <a:rPr lang="en-US" sz="2300" b="1" dirty="0">
                <a:latin typeface="Times New Roman" panose="02020603050405020304"/>
                <a:cs typeface="Times New Roman" panose="02020603050405020304"/>
              </a:rPr>
              <a:t>Internship Domain</a:t>
            </a:r>
            <a:endParaRPr lang="en-US" sz="2300" b="1" dirty="0">
              <a:latin typeface="Times New Roman" panose="02020603050405020304"/>
              <a:cs typeface="Times New Roman" panose="02020603050405020304"/>
            </a:endParaRPr>
          </a:p>
          <a:p>
            <a:pPr>
              <a:buNone/>
            </a:pPr>
            <a:r>
              <a:rPr lang="en-US" sz="2300" dirty="0">
                <a:latin typeface="Times New Roman" panose="02020603050405020304"/>
                <a:ea typeface="+mn-lt"/>
                <a:cs typeface="Times New Roman" panose="02020603050405020304"/>
              </a:rPr>
              <a:t>Full Stack Development with AI Integration</a:t>
            </a:r>
            <a:endParaRPr lang="en-US" sz="2300" dirty="0">
              <a:latin typeface="Times New Roman" panose="02020603050405020304"/>
              <a:cs typeface="Times New Roman" panose="02020603050405020304"/>
            </a:endParaRPr>
          </a:p>
          <a:p>
            <a:pPr>
              <a:buNone/>
            </a:pPr>
            <a:r>
              <a:rPr lang="en-US" sz="2300" b="1" dirty="0">
                <a:latin typeface="Times New Roman" panose="02020603050405020304"/>
                <a:cs typeface="Times New Roman" panose="02020603050405020304"/>
              </a:rPr>
              <a:t>Technologies Used</a:t>
            </a:r>
            <a:endParaRPr lang="en-US" sz="2300" b="1" dirty="0">
              <a:latin typeface="Times New Roman" panose="020206030504050203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Programming Language: </a:t>
            </a:r>
            <a:r>
              <a:rPr lang="en-US" sz="2300" b="1" dirty="0">
                <a:latin typeface="Times New Roman" panose="02020603050405020304"/>
                <a:ea typeface="Calibri" panose="020F0502020204030204"/>
                <a:cs typeface="Times New Roman" panose="02020603050405020304"/>
              </a:rPr>
              <a:t>Python</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Backend: </a:t>
            </a:r>
            <a:r>
              <a:rPr lang="en-US" sz="2300" b="1" dirty="0">
                <a:latin typeface="Times New Roman" panose="02020603050405020304"/>
                <a:ea typeface="Calibri" panose="020F0502020204030204"/>
                <a:cs typeface="Times New Roman" panose="02020603050405020304"/>
              </a:rPr>
              <a:t>Python Flask</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AI Module: </a:t>
            </a:r>
            <a:r>
              <a:rPr lang="en-US" sz="2300" b="1" dirty="0">
                <a:latin typeface="Times New Roman" panose="02020603050405020304"/>
                <a:ea typeface="Calibri" panose="020F0502020204030204"/>
                <a:cs typeface="Times New Roman" panose="02020603050405020304"/>
              </a:rPr>
              <a:t>OpenCV + Object Detection</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Frontend: </a:t>
            </a:r>
            <a:r>
              <a:rPr lang="en-US" sz="2300" b="1" dirty="0">
                <a:latin typeface="Times New Roman" panose="02020603050405020304"/>
                <a:ea typeface="Calibri" panose="020F0502020204030204"/>
                <a:cs typeface="Times New Roman" panose="02020603050405020304"/>
              </a:rPr>
              <a:t>Basic Web Dashboard</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Database: </a:t>
            </a:r>
            <a:r>
              <a:rPr lang="en-US" sz="2300" b="1" dirty="0">
                <a:latin typeface="Times New Roman" panose="02020603050405020304"/>
                <a:ea typeface="Calibri" panose="020F0502020204030204"/>
                <a:cs typeface="Times New Roman" panose="02020603050405020304"/>
              </a:rPr>
              <a:t>SQL</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Version Control: </a:t>
            </a:r>
            <a:r>
              <a:rPr lang="en-US" sz="2300" b="1" dirty="0">
                <a:latin typeface="Times New Roman" panose="02020603050405020304"/>
                <a:ea typeface="Calibri" panose="020F0502020204030204"/>
                <a:cs typeface="Times New Roman" panose="02020603050405020304"/>
              </a:rPr>
              <a:t>GitHub</a:t>
            </a:r>
            <a:endParaRPr lang="en-US" sz="2300" dirty="0"/>
          </a:p>
          <a:p>
            <a:pPr marL="0" indent="0">
              <a:buNone/>
            </a:pPr>
            <a:endParaRPr lang="en-US" sz="1700" b="1"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fld id="{864BFFB7-4443-4602-A990-B076C1CFE86C}" type="datetime1">
              <a:rPr lang="en-IN" smtClean="0"/>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Date Placeholder 3"/>
          <p:cNvSpPr>
            <a:spLocks noGrp="1"/>
          </p:cNvSpPr>
          <p:nvPr>
            <p:ph type="dt" sz="half" idx="10"/>
          </p:nvPr>
        </p:nvSpPr>
        <p:spPr/>
        <p:txBody>
          <a:bodyPr/>
          <a:p>
            <a:fld id="{864BFFB7-4443-4602-A990-B076C1CFE86C}" type="datetime1">
              <a:rPr lang="en-IN" smtClean="0"/>
            </a:fld>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
        <p:nvSpPr>
          <p:cNvPr id="6" name="Title 5"/>
          <p:cNvSpPr>
            <a:spLocks noGrp="1"/>
          </p:cNvSpPr>
          <p:nvPr>
            <p:ph type="title"/>
          </p:nvPr>
        </p:nvSpPr>
        <p:spPr>
          <a:xfrm>
            <a:off x="838200" y="365125"/>
            <a:ext cx="10515600" cy="819241"/>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sym typeface="+mn-ea"/>
              </a:rPr>
              <a:t>About your team and reporting Manager</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762000" y="1070702"/>
            <a:ext cx="10515600" cy="4058194"/>
          </a:xfrm>
        </p:spPr>
        <p:txBody>
          <a:bodyPr>
            <a:noAutofit/>
          </a:bodyPr>
          <a:lstStyle/>
          <a:p>
            <a:pPr algn="just"/>
            <a:r>
              <a:rPr lang="en-US" sz="2400" dirty="0">
                <a:latin typeface="Times New Roman" panose="02020603050405020304" pitchFamily="18" charset="0"/>
                <a:cs typeface="Times New Roman" panose="02020603050405020304" pitchFamily="18" charset="0"/>
                <a:sym typeface="+mn-ea"/>
              </a:rPr>
              <a:t>Individual Leader: </a:t>
            </a:r>
            <a:r>
              <a:rPr lang="en-US" sz="2400" b="1" dirty="0">
                <a:latin typeface="Times New Roman" panose="02020603050405020304" pitchFamily="18" charset="0"/>
                <a:cs typeface="Times New Roman" panose="02020603050405020304" pitchFamily="18" charset="0"/>
                <a:sym typeface="+mn-ea"/>
              </a:rPr>
              <a:t>Karthik</a:t>
            </a:r>
            <a:endParaRPr lang="en-US" sz="2400" dirty="0">
              <a:latin typeface="Times New Roman" panose="02020603050405020304" pitchFamily="18" charset="0"/>
              <a:cs typeface="Times New Roman" panose="02020603050405020304" pitchFamily="18" charset="0"/>
            </a:endParaRPr>
          </a:p>
          <a:p>
            <a:pPr algn="just"/>
            <a:r>
              <a:rPr lang="en-US" sz="2400" dirty="0"/>
              <a:t>I worked under the guidance of my </a:t>
            </a:r>
            <a:r>
              <a:rPr lang="en-US" sz="2400" b="1" dirty="0"/>
              <a:t>Team Lead: </a:t>
            </a:r>
            <a:r>
              <a:rPr lang="en-US" sz="2400" b="1" i="1" dirty="0"/>
              <a:t>Mr. Buddha </a:t>
            </a:r>
            <a:r>
              <a:rPr lang="en-US" sz="2400" b="1" i="1" dirty="0" err="1"/>
              <a:t>AppaRao</a:t>
            </a:r>
            <a:r>
              <a:rPr lang="en-US" sz="2400" dirty="0"/>
              <a:t> at </a:t>
            </a:r>
            <a:r>
              <a:rPr lang="en-US" sz="2400" b="1" dirty="0"/>
              <a:t>Rail Wheel Factory</a:t>
            </a:r>
            <a:r>
              <a:rPr lang="en-US" sz="2400" dirty="0"/>
              <a:t>.</a:t>
            </a:r>
            <a:endParaRPr lang="en-US" sz="2400" dirty="0"/>
          </a:p>
          <a:p>
            <a:pPr algn="just"/>
            <a:r>
              <a:rPr lang="en-US" sz="2400" dirty="0"/>
              <a:t>My team consisted of software engineers, supervisors, and interns.</a:t>
            </a:r>
            <a:endParaRPr lang="en-US" sz="2400" dirty="0"/>
          </a:p>
          <a:p>
            <a:pPr algn="just"/>
            <a:r>
              <a:rPr lang="en-US" sz="2400" dirty="0"/>
              <a:t>I was involved in developing the </a:t>
            </a:r>
            <a:r>
              <a:rPr lang="en-US" sz="2400" b="1" dirty="0"/>
              <a:t>AI Face Recognition Attendance System</a:t>
            </a:r>
            <a:r>
              <a:rPr lang="en-US" sz="2400" dirty="0"/>
              <a:t>.</a:t>
            </a:r>
            <a:endParaRPr lang="en-US" sz="2400" dirty="0"/>
          </a:p>
          <a:p>
            <a:pPr algn="just"/>
            <a:r>
              <a:rPr lang="en-US" sz="2400" dirty="0"/>
              <a:t>My responsibilities included frontend, backend, and AI model integration.</a:t>
            </a:r>
            <a:endParaRPr lang="en-US" sz="2400" dirty="0"/>
          </a:p>
          <a:p>
            <a:pPr algn="just"/>
            <a:r>
              <a:rPr lang="en-US" sz="2400" dirty="0"/>
              <a:t>I received regular guidance, reviews, and technical support from my team lead.</a:t>
            </a:r>
            <a:endParaRPr lang="en-US" sz="2400" dirty="0"/>
          </a:p>
          <a:p>
            <a:pPr algn="just"/>
            <a:r>
              <a:rPr lang="en-US" sz="2400" dirty="0"/>
              <a:t>Periodic discussions helped in improving my technical and professional skills.</a:t>
            </a:r>
            <a:endParaRPr lang="en-US" sz="2400" dirty="0"/>
          </a:p>
          <a:p>
            <a:pPr>
              <a:buNone/>
            </a:pPr>
            <a:endParaRPr lang="en-US" sz="2400" dirty="0">
              <a:latin typeface="Times New Roman" panose="02020603050405020304" pitchFamily="18" charset="0"/>
              <a:cs typeface="Times New Roman" panose="02020603050405020304" pitchFamily="18" charset="0"/>
            </a:endParaRPr>
          </a:p>
        </p:txBody>
      </p:sp>
      <p:sp>
        <p:nvSpPr>
          <p:cNvPr id="8" name="Slide Number Placeholder 3"/>
          <p:cNvSpPr>
            <a:spLocks noGrp="1"/>
          </p:cNvSpPr>
          <p:nvPr/>
        </p:nvSpPr>
        <p:spPr>
          <a:xfrm>
            <a:off x="8737600" y="6483350"/>
            <a:ext cx="2743200" cy="365125"/>
          </a:xfrm>
          <a:prstGeom prst="rect">
            <a:avLst/>
          </a:prstGeom>
          <a:noFill/>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15EC703-C051-410C-8BA1-62752E291E83}" type="slidenum">
              <a:rPr lang="en-US" altLang="en-US" smtClean="0"/>
            </a:fld>
            <a:endParaRPr lang="en-US" altLang="en-US"/>
          </a:p>
        </p:txBody>
      </p:sp>
      <p:sp>
        <p:nvSpPr>
          <p:cNvPr id="9" name="Text Box 8"/>
          <p:cNvSpPr txBox="1"/>
          <p:nvPr/>
        </p:nvSpPr>
        <p:spPr>
          <a:xfrm>
            <a:off x="2689225" y="5639435"/>
            <a:ext cx="4064000" cy="368300"/>
          </a:xfrm>
          <a:prstGeom prst="rect">
            <a:avLst/>
          </a:prstGeom>
          <a:noFill/>
        </p:spPr>
        <p:txBody>
          <a:bodyPr wrap="square" rtlCol="0">
            <a:spAutoFit/>
          </a:bodyPr>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795" y="127635"/>
            <a:ext cx="10515600" cy="677545"/>
          </a:xfrm>
          <a:ln>
            <a:solidFill>
              <a:schemeClr val="accent1">
                <a:lumMod val="75000"/>
              </a:schemeClr>
            </a:solidFill>
          </a:ln>
        </p:spPr>
        <p:txBody>
          <a:bodyPr>
            <a:normAutofit/>
          </a:bodyPr>
          <a:lstStyle/>
          <a:p>
            <a:r>
              <a:rPr lang="en-IN" sz="4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Challenges Faced in Internship</a:t>
            </a:r>
            <a:endParaRPr lang="en-US" sz="4000">
              <a:solidFill>
                <a:schemeClr val="accent1">
                  <a:lumMod val="76000"/>
                </a:schemeClr>
              </a:solidFill>
              <a:latin typeface="Times New Roman" panose="02020603050405020304"/>
              <a:cs typeface="Times New Roman" panose="02020603050405020304"/>
            </a:endParaRPr>
          </a:p>
        </p:txBody>
      </p:sp>
      <p:sp>
        <p:nvSpPr>
          <p:cNvPr id="3" name="Content Placeholder 2"/>
          <p:cNvSpPr>
            <a:spLocks noGrp="1"/>
          </p:cNvSpPr>
          <p:nvPr>
            <p:ph idx="1"/>
          </p:nvPr>
        </p:nvSpPr>
        <p:spPr>
          <a:xfrm>
            <a:off x="584200" y="805180"/>
            <a:ext cx="9379585" cy="5911215"/>
          </a:xfrm>
        </p:spPr>
        <p:txBody>
          <a:bodyPr vert="horz" lIns="91440" tIns="45720" rIns="91440" bIns="45720" rtlCol="0" anchor="t">
            <a:noAutofit/>
          </a:bodyPr>
          <a:lstStyle/>
          <a:p>
            <a:pPr>
              <a:buNone/>
            </a:pPr>
            <a:r>
              <a:rPr lang="en-US" sz="2000" b="1">
                <a:latin typeface="Times New Roman" panose="02020603050405020304"/>
                <a:cs typeface="Times New Roman" panose="02020603050405020304"/>
              </a:rPr>
              <a:t>1. Detection-Related Challenges</a:t>
            </a:r>
            <a:endParaRPr lang="en-US" sz="2000" b="1">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Accurate detection of rail wheels inside loaded trucks</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Differentiating wheels from similar circular objects</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Handling multiple wheels in a single video frame</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Maintaining detection accuracy under varying lighting conditions</a:t>
            </a:r>
            <a:endParaRPr lang="en-US" sz="2000">
              <a:latin typeface="Times New Roman" panose="02020603050405020304"/>
              <a:cs typeface="Times New Roman" panose="02020603050405020304"/>
            </a:endParaRPr>
          </a:p>
          <a:p>
            <a:pPr>
              <a:buNone/>
            </a:pPr>
            <a:r>
              <a:rPr lang="en-US" sz="2000" b="1">
                <a:latin typeface="Times New Roman" panose="02020603050405020304"/>
                <a:cs typeface="Times New Roman" panose="02020603050405020304"/>
              </a:rPr>
              <a:t>2. Backend Integration Challenges</a:t>
            </a:r>
            <a:endParaRPr lang="en-US" sz="2000" b="1">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Integrating object detection output with Flask REST APIs</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Processing real-time detection results efficiently</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Managing structured API responses</a:t>
            </a:r>
            <a:endParaRPr lang="en-US" sz="2000">
              <a:latin typeface="Times New Roman" panose="02020603050405020304"/>
              <a:cs typeface="Times New Roman" panose="02020603050405020304"/>
            </a:endParaRPr>
          </a:p>
          <a:p>
            <a:pPr>
              <a:buNone/>
            </a:pPr>
            <a:r>
              <a:rPr lang="en-US" sz="2000" b="1">
                <a:latin typeface="Times New Roman" panose="02020603050405020304"/>
                <a:cs typeface="Times New Roman" panose="02020603050405020304"/>
              </a:rPr>
              <a:t>3. Database Management Challenges</a:t>
            </a:r>
            <a:endParaRPr lang="en-US" sz="2000" b="1">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Designing proper schema for vehicle and wheel records</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Preventing duplicate inward/outward entries</a:t>
            </a:r>
            <a:endParaRPr lang="en-US" sz="2000">
              <a:latin typeface="Times New Roman" panose="02020603050405020304"/>
              <a:cs typeface="Times New Roman" panose="02020603050405020304"/>
            </a:endParaRPr>
          </a:p>
          <a:p>
            <a:pPr>
              <a:buFont typeface="Arial" panose="020B0604020202020204"/>
              <a:buChar char="•"/>
            </a:pPr>
            <a:r>
              <a:rPr lang="en-US" sz="2000" dirty="0">
                <a:latin typeface="Times New Roman" panose="02020603050405020304"/>
                <a:ea typeface="+mn-lt"/>
                <a:cs typeface="Times New Roman" panose="02020603050405020304"/>
              </a:rPr>
              <a:t>Ensuring accurate data storage and retrieval</a:t>
            </a:r>
            <a:endParaRPr lang="en-US" sz="2000" dirty="0">
              <a:latin typeface="Times New Roman" panose="02020603050405020304"/>
              <a:cs typeface="Times New Roman" panose="02020603050405020304"/>
            </a:endParaRPr>
          </a:p>
          <a:p>
            <a:pPr marL="0" indent="0">
              <a:buNone/>
            </a:pPr>
            <a:endParaRPr lang="en-US" sz="2000" dirty="0">
              <a:latin typeface="Times New Roman" panose="02020603050405020304"/>
              <a:ea typeface="Calibri" panose="020F0502020204030204"/>
              <a:cs typeface="Times New Roman" panose="02020603050405020304"/>
            </a:endParaRPr>
          </a:p>
          <a:p>
            <a:pPr>
              <a:buNone/>
            </a:pPr>
            <a:endParaRPr lang="en-US" sz="2000" dirty="0">
              <a:latin typeface="Times New Roman" panose="02020603050405020304"/>
              <a:ea typeface="Calibri" panose="020F0502020204030204"/>
              <a:cs typeface="Times New Roman" panose="02020603050405020304"/>
            </a:endParaRPr>
          </a:p>
          <a:p>
            <a:pPr marL="0" indent="0">
              <a:buNone/>
            </a:pPr>
            <a:endParaRPr lang="en-US" sz="2000"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fld id="{864BFFB7-4443-4602-A990-B076C1CFE86C}" type="datetime1">
              <a:rPr lang="en-IN" smtClean="0"/>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30" y="259715"/>
            <a:ext cx="10515600" cy="807979"/>
          </a:xfrm>
        </p:spPr>
        <p:txBody>
          <a:bodyPr>
            <a:normAutofit/>
          </a:bodyPr>
          <a:lstStyle/>
          <a:p>
            <a:r>
              <a:rPr lang="en-IN" sz="4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Objectives of the work</a:t>
            </a:r>
            <a:endParaRPr lang="en-US" sz="4000">
              <a:solidFill>
                <a:schemeClr val="accent1">
                  <a:lumMod val="76000"/>
                </a:schemeClr>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838200" y="1586230"/>
            <a:ext cx="9789160" cy="4251325"/>
          </a:xfrm>
        </p:spPr>
        <p:txBody>
          <a:bodyPr vert="horz" lIns="91440" tIns="45720" rIns="91440" bIns="45720" rtlCol="0" anchor="ctr">
            <a:noAutofit/>
          </a:bodyPr>
          <a:lstStyle/>
          <a:p>
            <a:pPr>
              <a:buNone/>
            </a:pPr>
            <a:r>
              <a:rPr lang="en-US" sz="2400" b="1">
                <a:latin typeface="Times New Roman" panose="02020603050405020304"/>
                <a:cs typeface="Times New Roman" panose="02020603050405020304"/>
              </a:rPr>
              <a:t>Primary Objectives</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Automate vehicle entry and exit monitoring at factory gates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Detect and count rail wheels loaded inside trucks using object detection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Store inward and outward movement records in a centralized database</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Reduce manual counting errors and improve operational efficiency</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Develop a scalable web-based monitoring dashboard</a:t>
            </a:r>
            <a:endParaRPr lang="en-US" sz="2400">
              <a:latin typeface="Times New Roman" panose="02020603050405020304"/>
              <a:cs typeface="Times New Roman" panose="02020603050405020304"/>
            </a:endParaRPr>
          </a:p>
          <a:p>
            <a:pPr marL="0" indent="0">
              <a:buNone/>
            </a:pPr>
            <a:r>
              <a:rPr lang="en-US" sz="2400" b="1">
                <a:latin typeface="Times New Roman" panose="02020603050405020304"/>
                <a:cs typeface="Times New Roman" panose="02020603050405020304"/>
              </a:rPr>
              <a:t>Technical Objectives </a:t>
            </a:r>
            <a:endParaRPr lang="en-US" sz="2400" b="1">
              <a:latin typeface="Times New Roman" panose="02020603050405020304"/>
              <a:ea typeface="Calibri" panose="020F0502020204030204"/>
              <a:cs typeface="Times New Roman" panose="02020603050405020304"/>
            </a:endParaRPr>
          </a:p>
          <a:p>
            <a:r>
              <a:rPr lang="en-US" sz="2400">
                <a:latin typeface="Times New Roman" panose="02020603050405020304"/>
                <a:ea typeface="+mn-lt"/>
                <a:cs typeface="Times New Roman" panose="02020603050405020304"/>
              </a:rPr>
              <a:t>Integrate detection module with Flask backend</a:t>
            </a:r>
            <a:endParaRPr lang="en-US" sz="2400">
              <a:latin typeface="Times New Roman" panose="02020603050405020304"/>
              <a:cs typeface="Times New Roman" panose="02020603050405020304"/>
            </a:endParaRPr>
          </a:p>
          <a:p>
            <a:r>
              <a:rPr lang="en-US" sz="2400">
                <a:latin typeface="Times New Roman" panose="02020603050405020304"/>
                <a:ea typeface="+mn-lt"/>
                <a:cs typeface="Times New Roman" panose="02020603050405020304"/>
              </a:rPr>
              <a:t>Implement SQL database for structured record storage</a:t>
            </a:r>
            <a:endParaRPr lang="en-US" sz="2400">
              <a:latin typeface="Times New Roman" panose="02020603050405020304"/>
              <a:cs typeface="Times New Roman" panose="02020603050405020304"/>
            </a:endParaRPr>
          </a:p>
          <a:p>
            <a:r>
              <a:rPr lang="en-US" sz="2400">
                <a:latin typeface="Times New Roman" panose="02020603050405020304"/>
                <a:ea typeface="+mn-lt"/>
                <a:cs typeface="Times New Roman" panose="02020603050405020304"/>
              </a:rPr>
              <a:t>Enable API-based data communication between modules</a:t>
            </a:r>
            <a:endParaRPr lang="en-US" sz="2400">
              <a:latin typeface="Times New Roman" panose="02020603050405020304"/>
              <a:cs typeface="Times New Roman" panose="02020603050405020304"/>
            </a:endParaRPr>
          </a:p>
          <a:p>
            <a:r>
              <a:rPr lang="en-US" sz="2400">
                <a:latin typeface="Times New Roman" panose="02020603050405020304"/>
                <a:ea typeface="+mn-lt"/>
                <a:cs typeface="Times New Roman" panose="02020603050405020304"/>
              </a:rPr>
              <a:t>Validate system workflow through testing</a:t>
            </a:r>
            <a:endParaRPr lang="en-US" sz="2400">
              <a:latin typeface="Times New Roman" panose="02020603050405020304"/>
              <a:cs typeface="Times New Roman" panose="02020603050405020304"/>
            </a:endParaRPr>
          </a:p>
          <a:p>
            <a:endParaRPr lang="en-US" sz="2400"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fld id="{864BFFB7-4443-4602-A990-B076C1CFE86C}" type="datetime1">
              <a:rPr lang="en-IN" smtClean="0"/>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525" y="248285"/>
            <a:ext cx="10515600" cy="757292"/>
          </a:xfrm>
        </p:spPr>
        <p:txBody>
          <a:bodyPr>
            <a:normAutofit/>
          </a:bodyPr>
          <a:lstStyle/>
          <a:p>
            <a:r>
              <a:rPr lang="en-IN" sz="4000" b="1" dirty="0">
                <a:solidFill>
                  <a:schemeClr val="accent1">
                    <a:lumMod val="75000"/>
                  </a:schemeClr>
                </a:solidFill>
                <a:latin typeface="Times New Roman" panose="02020603050405020304" pitchFamily="18" charset="0"/>
                <a:cs typeface="Times New Roman" panose="02020603050405020304" pitchFamily="18" charset="0"/>
                <a:sym typeface="+mn-ea"/>
              </a:rPr>
              <a:t>Literature Review</a:t>
            </a:r>
            <a:endParaRPr lang="en-US" sz="4000">
              <a:solidFill>
                <a:schemeClr val="accent1">
                  <a:lumMod val="76000"/>
                </a:schemeClr>
              </a:solidFill>
              <a:latin typeface="Times New Roman" panose="02020603050405020304"/>
              <a:cs typeface="Times New Roman" panose="02020603050405020304"/>
            </a:endParaRPr>
          </a:p>
        </p:txBody>
      </p:sp>
      <p:sp>
        <p:nvSpPr>
          <p:cNvPr id="4" name="Date Placeholder 3"/>
          <p:cNvSpPr>
            <a:spLocks noGrp="1"/>
          </p:cNvSpPr>
          <p:nvPr>
            <p:ph type="dt" sz="half" idx="10"/>
          </p:nvPr>
        </p:nvSpPr>
        <p:spPr/>
        <p:txBody>
          <a:bodyPr/>
          <a:lstStyle/>
          <a:p>
            <a:fld id="{864BFFB7-4443-4602-A990-B076C1CFE86C}" type="datetime1">
              <a:rPr lang="en-IN" smtClean="0"/>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graphicFrame>
        <p:nvGraphicFramePr>
          <p:cNvPr id="8" name="Table 7"/>
          <p:cNvGraphicFramePr/>
          <p:nvPr>
            <p:custDataLst>
              <p:tags r:id="rId1"/>
            </p:custDataLst>
          </p:nvPr>
        </p:nvGraphicFramePr>
        <p:xfrm>
          <a:off x="838200" y="948690"/>
          <a:ext cx="10564495" cy="4700270"/>
        </p:xfrm>
        <a:graphic>
          <a:graphicData uri="http://schemas.openxmlformats.org/drawingml/2006/table">
            <a:tbl>
              <a:tblPr firstRow="1" bandRow="1">
                <a:tableStyleId>{5C22544A-7EE6-4342-B048-85BDC9FD1C3A}</a:tableStyleId>
              </a:tblPr>
              <a:tblGrid>
                <a:gridCol w="867410"/>
                <a:gridCol w="2654300"/>
                <a:gridCol w="1760855"/>
                <a:gridCol w="1760220"/>
                <a:gridCol w="1760855"/>
                <a:gridCol w="1760855"/>
              </a:tblGrid>
              <a:tr h="521335">
                <a:tc>
                  <a:txBody>
                    <a:bodyPr/>
                    <a:p>
                      <a:pPr algn="ctr"/>
                      <a:r>
                        <a:rPr sz="1400"/>
                        <a:t>S.No</a:t>
                      </a:r>
                      <a:endParaRPr sz="1400"/>
                    </a:p>
                  </a:txBody>
                  <a:tcPr marL="0" marR="0" marT="0" marB="0" anchor="ctr" anchorCtr="0"/>
                </a:tc>
                <a:tc>
                  <a:txBody>
                    <a:bodyPr/>
                    <a:p>
                      <a:pPr algn="ctr"/>
                      <a:r>
                        <a:rPr sz="1400"/>
                        <a:t>Title of the Paper</a:t>
                      </a:r>
                      <a:endParaRPr sz="1400"/>
                    </a:p>
                  </a:txBody>
                  <a:tcPr marL="0" marR="0" marT="0" marB="0" anchor="ctr" anchorCtr="0"/>
                </a:tc>
                <a:tc>
                  <a:txBody>
                    <a:bodyPr/>
                    <a:p>
                      <a:pPr algn="ctr"/>
                      <a:r>
                        <a:rPr sz="1400"/>
                        <a:t>Year</a:t>
                      </a:r>
                      <a:endParaRPr sz="1400"/>
                    </a:p>
                  </a:txBody>
                  <a:tcPr marL="0" marR="0" marT="0" marB="0" anchor="ctr" anchorCtr="0"/>
                </a:tc>
                <a:tc>
                  <a:txBody>
                    <a:bodyPr/>
                    <a:p>
                      <a:pPr algn="ctr"/>
                      <a:r>
                        <a:rPr sz="1400"/>
                        <a:t>Algorithm / Technique Used</a:t>
                      </a:r>
                      <a:endParaRPr sz="1400"/>
                    </a:p>
                  </a:txBody>
                  <a:tcPr marL="0" marR="0" marT="0" marB="0" anchor="ctr" anchorCtr="0"/>
                </a:tc>
                <a:tc>
                  <a:txBody>
                    <a:bodyPr/>
                    <a:p>
                      <a:pPr algn="ctr"/>
                      <a:r>
                        <a:rPr sz="1400"/>
                        <a:t>Advantages</a:t>
                      </a:r>
                      <a:endParaRPr sz="1400"/>
                    </a:p>
                  </a:txBody>
                  <a:tcPr marL="0" marR="0" marT="0" marB="0" anchor="ctr" anchorCtr="0"/>
                </a:tc>
                <a:tc>
                  <a:txBody>
                    <a:bodyPr/>
                    <a:p>
                      <a:pPr algn="ctr"/>
                      <a:r>
                        <a:rPr sz="1400"/>
                        <a:t>Disadvantages</a:t>
                      </a:r>
                      <a:endParaRPr sz="1400"/>
                    </a:p>
                  </a:txBody>
                  <a:tcPr marL="0" marR="0" marT="0" marB="0" anchor="ctr" anchorCtr="0"/>
                </a:tc>
              </a:tr>
              <a:tr h="929005">
                <a:tc>
                  <a:txBody>
                    <a:bodyPr/>
                    <a:p>
                      <a:pPr algn="ctr"/>
                      <a:r>
                        <a:rPr sz="1400"/>
                        <a:t>1</a:t>
                      </a:r>
                      <a:endParaRPr sz="1400"/>
                    </a:p>
                  </a:txBody>
                  <a:tcPr marL="0" marR="0" marT="0" marB="0" anchor="ctr" anchorCtr="0"/>
                </a:tc>
                <a:tc>
                  <a:txBody>
                    <a:bodyPr/>
                    <a:p>
                      <a:pPr algn="ctr"/>
                      <a:r>
                        <a:rPr sz="1400"/>
                        <a:t>Research on the Method of Foreign Object Detection for Railway Tracks Based on Deep Learning</a:t>
                      </a:r>
                      <a:endParaRPr sz="1400"/>
                    </a:p>
                  </a:txBody>
                  <a:tcPr marL="0" marR="0" marT="0" marB="0" anchor="ctr" anchorCtr="0"/>
                </a:tc>
                <a:tc>
                  <a:txBody>
                    <a:bodyPr/>
                    <a:p>
                      <a:pPr algn="ctr"/>
                      <a:r>
                        <a:rPr sz="1400"/>
                        <a:t>2024</a:t>
                      </a:r>
                      <a:endParaRPr sz="1400"/>
                    </a:p>
                  </a:txBody>
                  <a:tcPr marL="0" marR="0" marT="0" marB="0" anchor="ctr" anchorCtr="0"/>
                </a:tc>
                <a:tc>
                  <a:txBody>
                    <a:bodyPr/>
                    <a:p>
                      <a:pPr algn="ctr"/>
                      <a:r>
                        <a:rPr sz="1400"/>
                        <a:t>Deep Learning + Enhanced UNet Segmentation</a:t>
                      </a:r>
                      <a:endParaRPr sz="1400"/>
                    </a:p>
                  </a:txBody>
                  <a:tcPr marL="0" marR="0" marT="0" marB="0" anchor="ctr" anchorCtr="0"/>
                </a:tc>
                <a:tc>
                  <a:txBody>
                    <a:bodyPr/>
                    <a:p>
                      <a:pPr algn="ctr"/>
                      <a:r>
                        <a:rPr sz="1400"/>
                        <a:t>Accurate detection of objects on railway tracks and improved segmentation</a:t>
                      </a:r>
                      <a:endParaRPr sz="1400"/>
                    </a:p>
                  </a:txBody>
                  <a:tcPr marL="0" marR="0" marT="0" marB="0" anchor="ctr" anchorCtr="0"/>
                </a:tc>
                <a:tc>
                  <a:txBody>
                    <a:bodyPr/>
                    <a:p>
                      <a:pPr algn="ctr"/>
                      <a:r>
                        <a:rPr sz="1400"/>
                        <a:t>Requires large training datasets and high computing resources</a:t>
                      </a:r>
                      <a:endParaRPr sz="1400"/>
                    </a:p>
                  </a:txBody>
                  <a:tcPr marL="0" marR="0" marT="0" marB="0" anchor="ctr" anchorCtr="0"/>
                </a:tc>
              </a:tr>
              <a:tr h="928370">
                <a:tc>
                  <a:txBody>
                    <a:bodyPr/>
                    <a:p>
                      <a:pPr algn="ctr"/>
                      <a:r>
                        <a:rPr sz="1400"/>
                        <a:t>2</a:t>
                      </a:r>
                      <a:endParaRPr sz="1400"/>
                    </a:p>
                  </a:txBody>
                  <a:tcPr marL="0" marR="0" marT="0" marB="0" anchor="ctr" anchorCtr="0"/>
                </a:tc>
                <a:tc>
                  <a:txBody>
                    <a:bodyPr/>
                    <a:p>
                      <a:pPr algn="ctr"/>
                      <a:r>
                        <a:rPr sz="1400"/>
                        <a:t>Rail Surface Defect Detection Based on an Improved YOLOv5s</a:t>
                      </a:r>
                      <a:endParaRPr sz="1400"/>
                    </a:p>
                  </a:txBody>
                  <a:tcPr marL="0" marR="0" marT="0" marB="0" anchor="ctr" anchorCtr="0"/>
                </a:tc>
                <a:tc>
                  <a:txBody>
                    <a:bodyPr/>
                    <a:p>
                      <a:pPr algn="ctr"/>
                      <a:r>
                        <a:rPr sz="1400"/>
                        <a:t>2023</a:t>
                      </a:r>
                      <a:endParaRPr sz="1400"/>
                    </a:p>
                  </a:txBody>
                  <a:tcPr marL="0" marR="0" marT="0" marB="0" anchor="ctr" anchorCtr="0"/>
                </a:tc>
                <a:tc>
                  <a:txBody>
                    <a:bodyPr/>
                    <a:p>
                      <a:pPr algn="ctr"/>
                      <a:r>
                        <a:rPr sz="1400"/>
                        <a:t>Improved YOLOv5 Object Detection</a:t>
                      </a:r>
                      <a:endParaRPr sz="1400"/>
                    </a:p>
                  </a:txBody>
                  <a:tcPr marL="0" marR="0" marT="0" marB="0" anchor="ctr" anchorCtr="0"/>
                </a:tc>
                <a:tc>
                  <a:txBody>
                    <a:bodyPr/>
                    <a:p>
                      <a:pPr algn="ctr"/>
                      <a:r>
                        <a:rPr sz="1400"/>
                        <a:t>Fast and accurate rail defect detection and real-time monitoring</a:t>
                      </a:r>
                      <a:endParaRPr sz="1400"/>
                    </a:p>
                  </a:txBody>
                  <a:tcPr marL="0" marR="0" marT="0" marB="0" anchor="ctr" anchorCtr="0"/>
                </a:tc>
                <a:tc>
                  <a:txBody>
                    <a:bodyPr/>
                    <a:p>
                      <a:pPr algn="ctr"/>
                      <a:r>
                        <a:rPr sz="1400"/>
                        <a:t>Performance affected by low contrast between defects and background</a:t>
                      </a:r>
                      <a:endParaRPr sz="1400"/>
                    </a:p>
                  </a:txBody>
                  <a:tcPr marL="0" marR="0" marT="0" marB="0" anchor="ctr" anchorCtr="0"/>
                </a:tc>
              </a:tr>
              <a:tr h="696595">
                <a:tc>
                  <a:txBody>
                    <a:bodyPr/>
                    <a:p>
                      <a:pPr algn="ctr"/>
                      <a:r>
                        <a:rPr sz="1400"/>
                        <a:t>3</a:t>
                      </a:r>
                      <a:endParaRPr sz="1400"/>
                    </a:p>
                  </a:txBody>
                  <a:tcPr marL="0" marR="0" marT="0" marB="0" anchor="ctr" anchorCtr="0"/>
                </a:tc>
                <a:tc>
                  <a:txBody>
                    <a:bodyPr/>
                    <a:p>
                      <a:pPr algn="ctr"/>
                      <a:r>
                        <a:rPr sz="1400"/>
                        <a:t>Detection of Foreign Objects Around the Railway Line with YOLOv8</a:t>
                      </a:r>
                      <a:endParaRPr sz="1400"/>
                    </a:p>
                  </a:txBody>
                  <a:tcPr marL="0" marR="0" marT="0" marB="0" anchor="ctr" anchorCtr="0"/>
                </a:tc>
                <a:tc>
                  <a:txBody>
                    <a:bodyPr/>
                    <a:p>
                      <a:pPr algn="ctr"/>
                      <a:r>
                        <a:rPr sz="1400"/>
                        <a:t>2023</a:t>
                      </a:r>
                      <a:endParaRPr sz="1400"/>
                    </a:p>
                  </a:txBody>
                  <a:tcPr marL="0" marR="0" marT="0" marB="0" anchor="ctr" anchorCtr="0"/>
                </a:tc>
                <a:tc>
                  <a:txBody>
                    <a:bodyPr/>
                    <a:p>
                      <a:pPr algn="ctr"/>
                      <a:r>
                        <a:rPr sz="1400"/>
                        <a:t>YOLOv8 Deep Learning Model</a:t>
                      </a:r>
                      <a:endParaRPr sz="1400"/>
                    </a:p>
                  </a:txBody>
                  <a:tcPr marL="0" marR="0" marT="0" marB="0" anchor="ctr" anchorCtr="0"/>
                </a:tc>
                <a:tc>
                  <a:txBody>
                    <a:bodyPr/>
                    <a:p>
                      <a:pPr algn="ctr"/>
                      <a:r>
                        <a:rPr sz="1400"/>
                        <a:t>High detection accuracy (around 88% mAP) and fast processing</a:t>
                      </a:r>
                      <a:endParaRPr sz="1400"/>
                    </a:p>
                  </a:txBody>
                  <a:tcPr marL="0" marR="0" marT="0" marB="0" anchor="ctr" anchorCtr="0"/>
                </a:tc>
                <a:tc>
                  <a:txBody>
                    <a:bodyPr/>
                    <a:p>
                      <a:pPr algn="ctr"/>
                      <a:r>
                        <a:rPr sz="1400"/>
                        <a:t>Needs labeled datasets and GPU resources</a:t>
                      </a:r>
                      <a:endParaRPr sz="1400"/>
                    </a:p>
                  </a:txBody>
                  <a:tcPr marL="0" marR="0" marT="0" marB="0" anchor="ctr" anchorCtr="0"/>
                </a:tc>
              </a:tr>
              <a:tr h="928370">
                <a:tc>
                  <a:txBody>
                    <a:bodyPr/>
                    <a:p>
                      <a:pPr algn="ctr"/>
                      <a:r>
                        <a:rPr sz="1400"/>
                        <a:t>4</a:t>
                      </a:r>
                      <a:endParaRPr sz="1400"/>
                    </a:p>
                  </a:txBody>
                  <a:tcPr marL="0" marR="0" marT="0" marB="0" anchor="ctr" anchorCtr="0"/>
                </a:tc>
                <a:tc>
                  <a:txBody>
                    <a:bodyPr/>
                    <a:p>
                      <a:pPr algn="ctr"/>
                      <a:r>
                        <a:rPr sz="1400"/>
                        <a:t>An Intelligent Railway Surveillance Framework Based on Recognition of Object and Railway Track Using Deep Learning</a:t>
                      </a:r>
                      <a:endParaRPr sz="1400"/>
                    </a:p>
                  </a:txBody>
                  <a:tcPr marL="0" marR="0" marT="0" marB="0" anchor="ctr" anchorCtr="0"/>
                </a:tc>
                <a:tc>
                  <a:txBody>
                    <a:bodyPr/>
                    <a:p>
                      <a:pPr algn="ctr"/>
                      <a:r>
                        <a:rPr sz="1400"/>
                        <a:t>2022</a:t>
                      </a:r>
                      <a:endParaRPr sz="1400"/>
                    </a:p>
                  </a:txBody>
                  <a:tcPr marL="0" marR="0" marT="0" marB="0" anchor="ctr" anchorCtr="0"/>
                </a:tc>
                <a:tc>
                  <a:txBody>
                    <a:bodyPr/>
                    <a:p>
                      <a:pPr algn="ctr"/>
                      <a:r>
                        <a:rPr sz="1400"/>
                        <a:t>Faster-RCNN + Thermal Imaging + SVD</a:t>
                      </a:r>
                      <a:endParaRPr sz="1400"/>
                    </a:p>
                  </a:txBody>
                  <a:tcPr marL="0" marR="0" marT="0" marB="0" anchor="ctr" anchorCtr="0"/>
                </a:tc>
                <a:tc>
                  <a:txBody>
                    <a:bodyPr/>
                    <a:p>
                      <a:pPr algn="ctr"/>
                      <a:r>
                        <a:rPr sz="1400"/>
                        <a:t>Detects obstacles and improves railway safety</a:t>
                      </a:r>
                      <a:endParaRPr sz="1400"/>
                    </a:p>
                  </a:txBody>
                  <a:tcPr marL="0" marR="0" marT="0" marB="0" anchor="ctr" anchorCtr="0"/>
                </a:tc>
                <a:tc>
                  <a:txBody>
                    <a:bodyPr/>
                    <a:p>
                      <a:pPr algn="ctr"/>
                      <a:r>
                        <a:rPr sz="1400"/>
                        <a:t>Complex implementation and slower computation</a:t>
                      </a:r>
                      <a:endParaRPr sz="1400"/>
                    </a:p>
                  </a:txBody>
                  <a:tcPr marL="0" marR="0" marT="0" marB="0" anchor="ctr" anchorCtr="0"/>
                </a:tc>
              </a:tr>
              <a:tr h="696595">
                <a:tc>
                  <a:txBody>
                    <a:bodyPr/>
                    <a:p>
                      <a:pPr algn="ctr"/>
                      <a:r>
                        <a:rPr sz="1400"/>
                        <a:t>5</a:t>
                      </a:r>
                      <a:endParaRPr sz="1400"/>
                    </a:p>
                  </a:txBody>
                  <a:tcPr marL="0" marR="0" marT="0" marB="0" anchor="ctr" anchorCtr="0"/>
                </a:tc>
                <a:tc>
                  <a:txBody>
                    <a:bodyPr/>
                    <a:p>
                      <a:pPr algn="ctr"/>
                      <a:r>
                        <a:rPr sz="1400"/>
                        <a:t>Improved YOLOv5 Based on Attention Mechanism for Foreign Object Detection on Railway Tracks</a:t>
                      </a:r>
                      <a:endParaRPr sz="1400"/>
                    </a:p>
                  </a:txBody>
                  <a:tcPr marL="0" marR="0" marT="0" marB="0" anchor="ctr" anchorCtr="0"/>
                </a:tc>
                <a:tc>
                  <a:txBody>
                    <a:bodyPr/>
                    <a:p>
                      <a:pPr algn="ctr"/>
                      <a:r>
                        <a:rPr sz="1400"/>
                        <a:t>2024</a:t>
                      </a:r>
                      <a:endParaRPr sz="1400"/>
                    </a:p>
                  </a:txBody>
                  <a:tcPr marL="0" marR="0" marT="0" marB="0" anchor="ctr" anchorCtr="0"/>
                </a:tc>
                <a:tc>
                  <a:txBody>
                    <a:bodyPr/>
                    <a:p>
                      <a:pPr algn="ctr"/>
                      <a:r>
                        <a:rPr sz="1400"/>
                        <a:t>YOLOv5 + Attention Mechanism + FasterNet</a:t>
                      </a:r>
                      <a:endParaRPr sz="1400"/>
                    </a:p>
                  </a:txBody>
                  <a:tcPr marL="0" marR="0" marT="0" marB="0" anchor="ctr" anchorCtr="0"/>
                </a:tc>
                <a:tc>
                  <a:txBody>
                    <a:bodyPr/>
                    <a:p>
                      <a:pPr algn="ctr"/>
                      <a:r>
                        <a:rPr sz="1400"/>
                        <a:t>Improved precision and reduced model parameters</a:t>
                      </a:r>
                      <a:endParaRPr sz="1400"/>
                    </a:p>
                  </a:txBody>
                  <a:tcPr marL="0" marR="0" marT="0" marB="0" anchor="ctr" anchorCtr="0"/>
                </a:tc>
                <a:tc>
                  <a:txBody>
                    <a:bodyPr/>
                    <a:p>
                      <a:pPr algn="ctr"/>
                      <a:r>
                        <a:rPr sz="1400"/>
                        <a:t>Model still requires high-quality datasets</a:t>
                      </a:r>
                      <a:endParaRPr sz="1400"/>
                    </a:p>
                  </a:txBody>
                  <a:tcPr marL="0" marR="0" marT="0" marB="0" anchor="ctr" anchorCtr="0"/>
                </a:tc>
              </a:tr>
            </a:tbl>
          </a:graphicData>
        </a:graphic>
      </p:graphicFrame>
      <p:sp>
        <p:nvSpPr>
          <p:cNvPr id="10" name="Text Box 9"/>
          <p:cNvSpPr txBox="1"/>
          <p:nvPr/>
        </p:nvSpPr>
        <p:spPr>
          <a:xfrm>
            <a:off x="308610" y="5455285"/>
            <a:ext cx="4064000" cy="368300"/>
          </a:xfrm>
          <a:prstGeom prst="rect">
            <a:avLst/>
          </a:prstGeom>
          <a:noFill/>
        </p:spPr>
        <p:txBody>
          <a:bodyPr wrap="square" rtlCol="0">
            <a:spAutoFit/>
          </a:bodyPr>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550" y="365125"/>
            <a:ext cx="10515600" cy="770208"/>
          </a:xfrm>
        </p:spPr>
        <p:txBody>
          <a:bodyPr>
            <a:normAutofit/>
          </a:bodyPr>
          <a:lstStyle/>
          <a:p>
            <a:r>
              <a:rPr lang="en-IN" sz="4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Proposed System / Work</a:t>
            </a:r>
            <a:endParaRPr lang="en-US" sz="4000">
              <a:solidFill>
                <a:schemeClr val="accent1">
                  <a:lumMod val="76000"/>
                </a:schemeClr>
              </a:solidFill>
              <a:latin typeface="Times New Roman" panose="02020603050405020304"/>
              <a:cs typeface="Times New Roman" panose="02020603050405020304"/>
            </a:endParaRPr>
          </a:p>
        </p:txBody>
      </p:sp>
      <p:sp>
        <p:nvSpPr>
          <p:cNvPr id="3" name="Content Placeholder 2"/>
          <p:cNvSpPr>
            <a:spLocks noGrp="1"/>
          </p:cNvSpPr>
          <p:nvPr>
            <p:ph idx="1"/>
          </p:nvPr>
        </p:nvSpPr>
        <p:spPr>
          <a:xfrm>
            <a:off x="838200" y="1135380"/>
            <a:ext cx="9766300" cy="4476115"/>
          </a:xfrm>
        </p:spPr>
        <p:txBody>
          <a:bodyPr vert="horz" lIns="91440" tIns="45720" rIns="91440" bIns="45720" rtlCol="0" anchor="t">
            <a:noAutofit/>
          </a:bodyPr>
          <a:lstStyle/>
          <a:p>
            <a:pPr>
              <a:buNone/>
            </a:pPr>
            <a:r>
              <a:rPr lang="en-US" sz="2400" b="1">
                <a:latin typeface="Times New Roman" panose="02020603050405020304"/>
                <a:ea typeface="+mn-lt"/>
                <a:cs typeface="Times New Roman" panose="02020603050405020304"/>
              </a:rPr>
              <a:t>Proposed System</a:t>
            </a:r>
            <a:endParaRPr lang="en-US" sz="2400" b="1">
              <a:latin typeface="Times New Roman" panose="02020603050405020304"/>
              <a:cs typeface="Times New Roman" panose="02020603050405020304"/>
            </a:endParaRPr>
          </a:p>
          <a:p>
            <a:pPr>
              <a:buNone/>
            </a:pPr>
            <a:r>
              <a:rPr lang="en-US" sz="2400">
                <a:latin typeface="Times New Roman" panose="02020603050405020304"/>
                <a:ea typeface="+mn-lt"/>
                <a:cs typeface="Times New Roman" panose="02020603050405020304"/>
              </a:rPr>
              <a:t>The proposed system automates vehicle and rail wheel</a:t>
            </a:r>
            <a:endParaRPr lang="en-US" sz="2400" dirty="0">
              <a:latin typeface="Times New Roman" panose="02020603050405020304"/>
              <a:ea typeface="+mn-lt"/>
              <a:cs typeface="Times New Roman" panose="02020603050405020304"/>
            </a:endParaRPr>
          </a:p>
          <a:p>
            <a:pPr>
              <a:buNone/>
            </a:pPr>
            <a:r>
              <a:rPr lang="en-US" sz="2400" dirty="0">
                <a:latin typeface="Times New Roman" panose="02020603050405020304"/>
                <a:ea typeface="+mn-lt"/>
                <a:cs typeface="Times New Roman" panose="02020603050405020304"/>
              </a:rPr>
              <a:t>monitoring using object detection and full-stack Integrat</a:t>
            </a:r>
            <a:r>
              <a:rPr lang="en-US" sz="2400">
                <a:latin typeface="Times New Roman" panose="02020603050405020304"/>
                <a:ea typeface="+mn-lt"/>
                <a:cs typeface="Times New Roman" panose="02020603050405020304"/>
              </a:rPr>
              <a:t>ion.</a:t>
            </a:r>
            <a:endParaRPr lang="en-US" sz="2400">
              <a:latin typeface="Times New Roman" panose="02020603050405020304"/>
              <a:cs typeface="Times New Roman" panose="02020603050405020304"/>
            </a:endParaRPr>
          </a:p>
          <a:p>
            <a:pPr>
              <a:buNone/>
            </a:pPr>
            <a:r>
              <a:rPr lang="en-US" sz="2400" b="1">
                <a:latin typeface="Times New Roman" panose="02020603050405020304"/>
                <a:cs typeface="Times New Roman" panose="02020603050405020304"/>
              </a:rPr>
              <a:t>System Flow</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Camera captures vehicle at factory gate</a:t>
            </a:r>
            <a:endParaRPr lang="en-US" sz="2400">
              <a:latin typeface="Times New Roman" panose="02020603050405020304"/>
              <a:cs typeface="Times New Roman" panose="02020603050405020304"/>
            </a:endParaRPr>
          </a:p>
          <a:p>
            <a:pPr>
              <a:buFont typeface="Arial" panose="020B0604020202020204"/>
              <a:buChar char="•"/>
            </a:pPr>
            <a:r>
              <a:rPr lang="en-US" sz="2400" dirty="0">
                <a:latin typeface="Times New Roman" panose="02020603050405020304"/>
                <a:ea typeface="+mn-lt"/>
                <a:cs typeface="Times New Roman" panose="02020603050405020304"/>
              </a:rPr>
              <a:t>Object detection identifies vehicle and rail wheels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Wheel count is generated automatically</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Backend processes detection results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Data stored in SQL database</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Dashboard displays inward and outward records</a:t>
            </a:r>
            <a:endParaRPr lang="en-US" sz="2400">
              <a:latin typeface="Times New Roman" panose="02020603050405020304"/>
              <a:cs typeface="Times New Roman" panose="02020603050405020304"/>
            </a:endParaRPr>
          </a:p>
          <a:p>
            <a:pPr marL="0" indent="0">
              <a:buNone/>
            </a:pPr>
            <a:endParaRPr lang="en-US" sz="2400" b="1" dirty="0">
              <a:latin typeface="Times New Roman" panose="02020603050405020304"/>
              <a:ea typeface="Calibri" panose="020F0502020204030204"/>
              <a:cs typeface="Times New Roman" panose="02020603050405020304"/>
            </a:endParaRPr>
          </a:p>
          <a:p>
            <a:endParaRPr lang="en-US" sz="2400" b="1"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fld id="{864BFFB7-4443-4602-A990-B076C1CFE86C}" type="datetime1">
              <a:rPr lang="en-IN" smtClean="0"/>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545" y="365125"/>
            <a:ext cx="10515600" cy="783123"/>
          </a:xfrm>
        </p:spPr>
        <p:txBody>
          <a:bodyPr>
            <a:normAutofit/>
          </a:bodyPr>
          <a:lstStyle/>
          <a:p>
            <a:r>
              <a:rPr lang="en-IN" sz="4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Problem Statement</a:t>
            </a:r>
            <a:endParaRPr lang="en-US" sz="4000" dirty="0">
              <a:solidFill>
                <a:schemeClr val="accent1">
                  <a:lumMod val="76000"/>
                </a:schemeClr>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509270" y="1358265"/>
            <a:ext cx="10707370" cy="4681855"/>
          </a:xfrm>
        </p:spPr>
        <p:txBody>
          <a:bodyPr vert="horz" lIns="91440" tIns="45720" rIns="91440" bIns="45720" rtlCol="0" anchor="t">
            <a:noAutofit/>
          </a:bodyPr>
          <a:lstStyle/>
          <a:p>
            <a:pPr>
              <a:buNone/>
            </a:pPr>
            <a:r>
              <a:rPr lang="en-US" sz="2400" b="1">
                <a:latin typeface="Times New Roman" panose="02020603050405020304"/>
                <a:cs typeface="Times New Roman" panose="02020603050405020304"/>
              </a:rPr>
              <a:t>Problem Statement</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Vehicle entry and exit at factory gates are recorded manually.</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Rail wheel counting inside trucks depends on human inspection.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Manual counting increases the possibility of errors.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CCTV cameras are used only for surveillance, not automation.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No integrated system connects camera input, backend processing, and database storage.</a:t>
            </a:r>
            <a:endParaRPr lang="en-US" sz="2400">
              <a:latin typeface="Times New Roman" panose="02020603050405020304"/>
              <a:cs typeface="Times New Roman" panose="02020603050405020304"/>
            </a:endParaRPr>
          </a:p>
          <a:p>
            <a:pPr indent="0">
              <a:buNone/>
            </a:pPr>
            <a:r>
              <a:rPr lang="en-US" sz="2400">
                <a:latin typeface="Times New Roman" panose="02020603050405020304"/>
                <a:ea typeface="+mn-lt"/>
                <a:cs typeface="Times New Roman" panose="02020603050405020304"/>
              </a:rPr>
              <a:t>This results in lack of real-time tracking, reduced efficiency, and dependency on manual processes.</a:t>
            </a:r>
            <a:endParaRPr lang="en-US" sz="2400">
              <a:latin typeface="Times New Roman" panose="02020603050405020304"/>
              <a:cs typeface="Times New Roman" panose="02020603050405020304"/>
            </a:endParaRPr>
          </a:p>
          <a:p>
            <a:pPr marL="0" indent="0">
              <a:buNone/>
            </a:pPr>
            <a:endParaRPr lang="en-US" sz="2400" b="1" dirty="0">
              <a:latin typeface="Times New Roman" panose="02020603050405020304"/>
              <a:cs typeface="Times New Roman" panose="02020603050405020304"/>
            </a:endParaRPr>
          </a:p>
          <a:p>
            <a:endParaRPr lang="en-US" sz="2400" dirty="0">
              <a:latin typeface="Times New Roman" panose="02020603050405020304"/>
              <a:ea typeface="Calibri" panose="020F0502020204030204"/>
              <a:cs typeface="Calibri" panose="020F0502020204030204"/>
            </a:endParaRPr>
          </a:p>
        </p:txBody>
      </p:sp>
      <p:sp>
        <p:nvSpPr>
          <p:cNvPr id="4" name="Date Placeholder 3"/>
          <p:cNvSpPr>
            <a:spLocks noGrp="1"/>
          </p:cNvSpPr>
          <p:nvPr>
            <p:ph type="dt" sz="half" idx="10"/>
          </p:nvPr>
        </p:nvSpPr>
        <p:spPr/>
        <p:txBody>
          <a:bodyPr/>
          <a:lstStyle/>
          <a:p>
            <a:fld id="{864BFFB7-4443-4602-A990-B076C1CFE86C}" type="datetime1">
              <a:rPr lang="en-IN" smtClean="0"/>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269875"/>
            <a:ext cx="10515600" cy="480712"/>
          </a:xfrm>
        </p:spPr>
        <p:txBody>
          <a:bodyPr>
            <a:normAutofit fontScale="90000"/>
          </a:bodyPr>
          <a:lstStyle/>
          <a:p>
            <a:r>
              <a:rPr lang="en-IN" sz="4000" b="1" dirty="0">
                <a:solidFill>
                  <a:schemeClr val="accent1">
                    <a:lumMod val="75000"/>
                  </a:schemeClr>
                </a:solidFill>
                <a:latin typeface="Times New Roman" panose="02020603050405020304" pitchFamily="18" charset="0"/>
                <a:cs typeface="Times New Roman" panose="02020603050405020304" pitchFamily="18" charset="0"/>
                <a:sym typeface="+mn-ea"/>
              </a:rPr>
              <a:t>System Requirements</a:t>
            </a:r>
            <a:endParaRPr lang="en-US" sz="4000">
              <a:solidFill>
                <a:schemeClr val="accent1">
                  <a:lumMod val="76000"/>
                </a:schemeClr>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688340" y="899795"/>
            <a:ext cx="10115550" cy="4670425"/>
          </a:xfrm>
        </p:spPr>
        <p:txBody>
          <a:bodyPr vert="horz" lIns="91440" tIns="45720" rIns="91440" bIns="45720" rtlCol="0" anchor="t">
            <a:noAutofit/>
          </a:bodyPr>
          <a:lstStyle/>
          <a:p>
            <a:pPr>
              <a:buNone/>
            </a:pPr>
            <a:r>
              <a:rPr lang="en-US" sz="2400" b="1">
                <a:latin typeface="Times New Roman" panose="02020603050405020304"/>
                <a:cs typeface="Times New Roman" panose="02020603050405020304"/>
              </a:rPr>
              <a:t>Hardware Requirements</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CCTV / Industrial Camera at entry and exit gates</a:t>
            </a:r>
            <a:endParaRPr lang="en-US" sz="2400">
              <a:latin typeface="Times New Roman" panose="02020603050405020304"/>
              <a:cs typeface="Times New Roman" panose="02020603050405020304"/>
            </a:endParaRPr>
          </a:p>
          <a:p>
            <a:pPr>
              <a:buFont typeface="Arial" panose="020B0604020202020204"/>
              <a:buChar char="•"/>
            </a:pPr>
            <a:r>
              <a:rPr lang="en-US" sz="2400" dirty="0">
                <a:latin typeface="Times New Roman" panose="02020603050405020304"/>
                <a:ea typeface="+mn-lt"/>
                <a:cs typeface="Times New Roman" panose="02020603050405020304"/>
              </a:rPr>
              <a:t>Processing System (PC with sufficient RAM and GPU support if required)</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Stable Network Connectivity</a:t>
            </a:r>
            <a:endParaRPr lang="en-US" sz="2400">
              <a:latin typeface="Times New Roman" panose="02020603050405020304"/>
              <a:cs typeface="Times New Roman" panose="02020603050405020304"/>
            </a:endParaRPr>
          </a:p>
          <a:p>
            <a:pPr marL="0" indent="0">
              <a:buNone/>
            </a:pPr>
            <a:r>
              <a:rPr lang="en-US" sz="2400" b="1">
                <a:latin typeface="Times New Roman" panose="02020603050405020304"/>
                <a:cs typeface="Times New Roman" panose="02020603050405020304"/>
              </a:rPr>
              <a:t>Software Requirements</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Python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Flask (Backend API)</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SQL Server (Database)</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OpenCV (Object Detection)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ReactJS (Web Dashboard)</a:t>
            </a:r>
            <a:endParaRPr lang="en-US" sz="2400">
              <a:latin typeface="Times New Roman" panose="02020603050405020304"/>
              <a:cs typeface="Times New Roman" panose="02020603050405020304"/>
            </a:endParaRPr>
          </a:p>
          <a:p>
            <a:pPr>
              <a:buFont typeface="Arial" panose="020B0604020202020204"/>
              <a:buChar char="•"/>
            </a:pPr>
            <a:r>
              <a:rPr lang="en-US" sz="2400" dirty="0">
                <a:latin typeface="Times New Roman" panose="02020603050405020304"/>
                <a:ea typeface="+mn-lt"/>
                <a:cs typeface="Times New Roman" panose="02020603050405020304"/>
              </a:rPr>
              <a:t>Postman (API Testing)</a:t>
            </a:r>
            <a:endParaRPr lang="en-US" sz="2400" dirty="0">
              <a:latin typeface="Times New Roman" panose="02020603050405020304"/>
              <a:cs typeface="Times New Roman" panose="02020603050405020304"/>
            </a:endParaRPr>
          </a:p>
          <a:p>
            <a:pPr marL="0" indent="0">
              <a:buNone/>
            </a:pPr>
            <a:endParaRPr lang="en-US" sz="2400" b="1" dirty="0">
              <a:ea typeface="Calibri" panose="020F0502020204030204"/>
              <a:cs typeface="Calibri" panose="020F0502020204030204"/>
            </a:endParaRPr>
          </a:p>
          <a:p>
            <a:endParaRPr lang="en-US" sz="2200" b="1" dirty="0">
              <a:ea typeface="Calibri" panose="020F0502020204030204"/>
              <a:cs typeface="Calibri" panose="020F0502020204030204"/>
            </a:endParaRPr>
          </a:p>
        </p:txBody>
      </p:sp>
      <p:sp>
        <p:nvSpPr>
          <p:cNvPr id="4" name="Date Placeholder 3"/>
          <p:cNvSpPr>
            <a:spLocks noGrp="1"/>
          </p:cNvSpPr>
          <p:nvPr>
            <p:ph type="dt" sz="half" idx="10"/>
          </p:nvPr>
        </p:nvSpPr>
        <p:spPr/>
        <p:txBody>
          <a:bodyPr/>
          <a:lstStyle/>
          <a:p>
            <a:fld id="{864BFFB7-4443-4602-A990-B076C1CFE86C}" type="datetime1">
              <a:rPr lang="en-IN" smtClean="0"/>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930" y="375285"/>
            <a:ext cx="10515600" cy="783123"/>
          </a:xfrm>
        </p:spPr>
        <p:txBody>
          <a:bodyPr>
            <a:normAutofit/>
          </a:bodyPr>
          <a:lstStyle/>
          <a:p>
            <a:r>
              <a:rPr lang="en-IN" sz="4000" b="1" dirty="0">
                <a:solidFill>
                  <a:schemeClr val="accent1">
                    <a:lumMod val="75000"/>
                  </a:schemeClr>
                </a:solidFill>
                <a:latin typeface="Times New Roman" panose="02020603050405020304" pitchFamily="18" charset="0"/>
                <a:cs typeface="Times New Roman" panose="02020603050405020304" pitchFamily="18" charset="0"/>
                <a:sym typeface="+mn-ea"/>
              </a:rPr>
              <a:t>Advantages of Proposed System/Work</a:t>
            </a:r>
            <a:endParaRPr lang="en-US" sz="4000">
              <a:solidFill>
                <a:schemeClr val="accent1">
                  <a:lumMod val="76000"/>
                </a:schemeClr>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838200" y="1270270"/>
            <a:ext cx="10515600" cy="4002626"/>
          </a:xfrm>
        </p:spPr>
        <p:txBody>
          <a:bodyPr vert="horz" lIns="91440" tIns="45720" rIns="91440" bIns="45720" rtlCol="0" anchor="t">
            <a:normAutofit/>
          </a:bodyPr>
          <a:lstStyle/>
          <a:p>
            <a:pPr>
              <a:buNone/>
            </a:pPr>
            <a:r>
              <a:rPr lang="en-US" sz="2400" b="1">
                <a:latin typeface="Times New Roman" panose="02020603050405020304"/>
                <a:cs typeface="Times New Roman" panose="02020603050405020304"/>
              </a:rPr>
              <a:t>Future Enhancements</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Improve detection accuracy using trained datasets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Implement full number plate recognition (OCR integration)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Complete real-time dashboard integration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Add automatic entry/exit direction detection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Optimize system performance for live video processing</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Prepare system for deployment in real factory environment</a:t>
            </a:r>
            <a:endParaRPr lang="en-US" sz="2400">
              <a:latin typeface="Times New Roman" panose="02020603050405020304"/>
              <a:cs typeface="Times New Roman" panose="02020603050405020304"/>
            </a:endParaRPr>
          </a:p>
          <a:p>
            <a:pPr marL="0" indent="0">
              <a:buNone/>
            </a:pPr>
            <a:endParaRPr lang="en-US" sz="2400" b="1" dirty="0">
              <a:latin typeface="Times New Roman" panose="02020603050405020304"/>
              <a:cs typeface="Times New Roman" panose="02020603050405020304"/>
            </a:endParaRPr>
          </a:p>
          <a:p>
            <a:endParaRPr lang="en-US" sz="2400" dirty="0">
              <a:latin typeface="Times New Roman" panose="02020603050405020304"/>
              <a:ea typeface="Calibri" panose="020F0502020204030204"/>
              <a:cs typeface="Calibri" panose="020F0502020204030204"/>
            </a:endParaRPr>
          </a:p>
        </p:txBody>
      </p:sp>
      <p:sp>
        <p:nvSpPr>
          <p:cNvPr id="4" name="Date Placeholder 3"/>
          <p:cNvSpPr>
            <a:spLocks noGrp="1"/>
          </p:cNvSpPr>
          <p:nvPr>
            <p:ph type="dt" sz="half" idx="10"/>
          </p:nvPr>
        </p:nvSpPr>
        <p:spPr/>
        <p:txBody>
          <a:bodyPr/>
          <a:lstStyle/>
          <a:p>
            <a:fld id="{864BFFB7-4443-4602-A990-B076C1CFE86C}" type="datetime1">
              <a:rPr lang="en-IN" smtClean="0"/>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4625" y="0"/>
            <a:ext cx="8435975" cy="790575"/>
          </a:xfrm>
        </p:spPr>
        <p:txBody>
          <a:bodyPr>
            <a:normAutofit/>
            <a:scene3d>
              <a:camera prst="orthographicFront"/>
              <a:lightRig rig="threePt" dir="t"/>
            </a:scene3d>
          </a:bodyPr>
          <a:p>
            <a:pPr algn="l"/>
            <a:r>
              <a:rPr lang="en-IN" sz="2800" b="1" dirty="0" smtClean="0">
                <a:solidFill>
                  <a:schemeClr val="accent1">
                    <a:lumMod val="75000"/>
                  </a:schemeClr>
                </a:solidFill>
                <a:latin typeface="Times New Roman" panose="02020603050405020304" pitchFamily="18" charset="0"/>
                <a:cs typeface="Times New Roman" panose="02020603050405020304" pitchFamily="18" charset="0"/>
                <a:sym typeface="+mn-ea"/>
              </a:rPr>
              <a:t>System Design</a:t>
            </a:r>
            <a:endParaRPr lang="en-IN" sz="2800" b="1" dirty="0" smtClean="0">
              <a:solidFill>
                <a:schemeClr val="accent1">
                  <a:lumMod val="75000"/>
                </a:schemeClr>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sym typeface="+mn-ea"/>
            </a:endParaRPr>
          </a:p>
        </p:txBody>
      </p:sp>
      <p:sp>
        <p:nvSpPr>
          <p:cNvPr id="4" name="Date Placeholder 3"/>
          <p:cNvSpPr>
            <a:spLocks noGrp="1"/>
          </p:cNvSpPr>
          <p:nvPr>
            <p:ph type="dt" sz="half" idx="10"/>
          </p:nvPr>
        </p:nvSpPr>
        <p:spPr/>
        <p:txBody>
          <a:bodyPr/>
          <a:p>
            <a:fld id="{864BFFB7-4443-4602-A990-B076C1CFE86C}" type="datetime1">
              <a:rPr lang="en-IN" smtClean="0"/>
            </a:fld>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
        <p:nvSpPr>
          <p:cNvPr id="9" name="Rectangles 8"/>
          <p:cNvSpPr/>
          <p:nvPr/>
        </p:nvSpPr>
        <p:spPr>
          <a:xfrm>
            <a:off x="2687955" y="790575"/>
            <a:ext cx="1645285" cy="56959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Initialize Camera System</a:t>
            </a:r>
            <a:endParaRPr lang="en-US"/>
          </a:p>
        </p:txBody>
      </p:sp>
      <p:sp>
        <p:nvSpPr>
          <p:cNvPr id="10" name="Rectangles 9"/>
          <p:cNvSpPr/>
          <p:nvPr/>
        </p:nvSpPr>
        <p:spPr>
          <a:xfrm>
            <a:off x="2687955" y="1510665"/>
            <a:ext cx="1676400" cy="71437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Capture Vehicle Image</a:t>
            </a:r>
            <a:endParaRPr lang="en-US" altLang="en-US"/>
          </a:p>
          <a:p>
            <a:pPr algn="ctr"/>
            <a:r>
              <a:rPr lang="en-US" altLang="en-US"/>
              <a:t>or Video Frame</a:t>
            </a:r>
            <a:endParaRPr lang="en-US" altLang="en-US"/>
          </a:p>
        </p:txBody>
      </p:sp>
      <p:sp>
        <p:nvSpPr>
          <p:cNvPr id="11" name="Rectangles 10"/>
          <p:cNvSpPr/>
          <p:nvPr/>
        </p:nvSpPr>
        <p:spPr>
          <a:xfrm>
            <a:off x="2687320" y="2375535"/>
            <a:ext cx="1645285" cy="71628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Preprocess Image</a:t>
            </a:r>
            <a:endParaRPr lang="en-US" altLang="en-US"/>
          </a:p>
          <a:p>
            <a:pPr algn="ctr"/>
            <a:r>
              <a:rPr lang="en-US" altLang="en-US"/>
              <a:t>Using OpenCV</a:t>
            </a:r>
            <a:endParaRPr lang="en-US" altLang="en-US"/>
          </a:p>
        </p:txBody>
      </p:sp>
      <p:sp>
        <p:nvSpPr>
          <p:cNvPr id="12" name="Oval 11"/>
          <p:cNvSpPr/>
          <p:nvPr/>
        </p:nvSpPr>
        <p:spPr>
          <a:xfrm>
            <a:off x="2929890" y="116205"/>
            <a:ext cx="1276985" cy="52387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Start System</a:t>
            </a:r>
            <a:endParaRPr lang="en-US" altLang="en-US"/>
          </a:p>
        </p:txBody>
      </p:sp>
      <p:sp>
        <p:nvSpPr>
          <p:cNvPr id="13" name="Rectangles 12"/>
          <p:cNvSpPr/>
          <p:nvPr/>
        </p:nvSpPr>
        <p:spPr>
          <a:xfrm>
            <a:off x="2687955" y="3242310"/>
            <a:ext cx="1676400" cy="6350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Apply Object Detection</a:t>
            </a:r>
            <a:endParaRPr lang="en-US" altLang="en-US"/>
          </a:p>
          <a:p>
            <a:pPr algn="ctr"/>
            <a:r>
              <a:rPr lang="en-US" altLang="en-US"/>
              <a:t>Model</a:t>
            </a:r>
            <a:endParaRPr lang="en-US" altLang="en-US"/>
          </a:p>
        </p:txBody>
      </p:sp>
      <p:sp>
        <p:nvSpPr>
          <p:cNvPr id="14" name="Diamond 13"/>
          <p:cNvSpPr/>
          <p:nvPr/>
        </p:nvSpPr>
        <p:spPr>
          <a:xfrm>
            <a:off x="2496820" y="4154805"/>
            <a:ext cx="2025650" cy="858520"/>
          </a:xfrm>
          <a:prstGeom prst="diamond">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600"/>
              <a:t>Is Vehicle</a:t>
            </a:r>
            <a:endParaRPr lang="en-US" altLang="en-US" sz="1600"/>
          </a:p>
          <a:p>
            <a:pPr algn="ctr"/>
            <a:r>
              <a:rPr lang="en-US" altLang="en-US" sz="1600"/>
              <a:t>Detected?</a:t>
            </a:r>
            <a:endParaRPr lang="en-US" altLang="en-US" sz="1600"/>
          </a:p>
        </p:txBody>
      </p:sp>
      <p:sp>
        <p:nvSpPr>
          <p:cNvPr id="3" name="Rectangles 2"/>
          <p:cNvSpPr/>
          <p:nvPr/>
        </p:nvSpPr>
        <p:spPr>
          <a:xfrm>
            <a:off x="4943475" y="4116705"/>
            <a:ext cx="1614170" cy="62801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Capture Next Frame</a:t>
            </a:r>
            <a:endParaRPr lang="en-US" altLang="en-US"/>
          </a:p>
        </p:txBody>
      </p:sp>
      <p:sp>
        <p:nvSpPr>
          <p:cNvPr id="6" name="Rectangles 5"/>
          <p:cNvSpPr/>
          <p:nvPr/>
        </p:nvSpPr>
        <p:spPr>
          <a:xfrm>
            <a:off x="292100" y="4138295"/>
            <a:ext cx="1648460" cy="60642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400"/>
              <a:t>Detect Rail Wheels</a:t>
            </a:r>
            <a:endParaRPr lang="en-US" altLang="en-US" sz="1400"/>
          </a:p>
          <a:p>
            <a:pPr algn="ctr"/>
            <a:r>
              <a:rPr lang="en-US" altLang="en-US" sz="1400"/>
              <a:t>Inside the Truck</a:t>
            </a:r>
            <a:endParaRPr lang="en-US" altLang="en-US" sz="1400"/>
          </a:p>
        </p:txBody>
      </p:sp>
      <p:sp>
        <p:nvSpPr>
          <p:cNvPr id="7" name="Rectangles 6"/>
          <p:cNvSpPr/>
          <p:nvPr/>
        </p:nvSpPr>
        <p:spPr>
          <a:xfrm>
            <a:off x="2687320" y="5163820"/>
            <a:ext cx="1677670" cy="7251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600"/>
              <a:t>Count Number</a:t>
            </a:r>
            <a:endParaRPr lang="en-US" altLang="en-US" sz="1600"/>
          </a:p>
          <a:p>
            <a:pPr algn="ctr"/>
            <a:r>
              <a:rPr lang="en-US" altLang="en-US" sz="1600"/>
              <a:t>of Rail Wheels</a:t>
            </a:r>
            <a:endParaRPr lang="en-US" altLang="en-US" sz="1600"/>
          </a:p>
        </p:txBody>
      </p:sp>
      <p:sp>
        <p:nvSpPr>
          <p:cNvPr id="8" name="Rectangles 7"/>
          <p:cNvSpPr/>
          <p:nvPr/>
        </p:nvSpPr>
        <p:spPr>
          <a:xfrm>
            <a:off x="6927850" y="1793875"/>
            <a:ext cx="1634490" cy="78676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400"/>
              <a:t>Send Detection Data</a:t>
            </a:r>
            <a:endParaRPr lang="en-US" altLang="en-US" sz="1400"/>
          </a:p>
          <a:p>
            <a:pPr algn="ctr"/>
            <a:r>
              <a:rPr lang="en-US" altLang="en-US" sz="1400"/>
              <a:t>to Flask Backend API</a:t>
            </a:r>
            <a:endParaRPr lang="en-US" altLang="en-US" sz="1400"/>
          </a:p>
        </p:txBody>
      </p:sp>
      <p:sp>
        <p:nvSpPr>
          <p:cNvPr id="15" name="Rectangles 14"/>
          <p:cNvSpPr/>
          <p:nvPr/>
        </p:nvSpPr>
        <p:spPr>
          <a:xfrm>
            <a:off x="6918960" y="2796540"/>
            <a:ext cx="1634490" cy="71818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600"/>
              <a:t>Store Vehicle and</a:t>
            </a:r>
            <a:endParaRPr lang="en-US" altLang="en-US" sz="1600"/>
          </a:p>
          <a:p>
            <a:pPr algn="ctr"/>
            <a:r>
              <a:rPr lang="en-US" altLang="en-US" sz="1600"/>
              <a:t>Wheel Data in</a:t>
            </a:r>
            <a:endParaRPr lang="en-US" altLang="en-US" sz="1600"/>
          </a:p>
          <a:p>
            <a:pPr algn="ctr"/>
            <a:r>
              <a:rPr lang="en-US" altLang="en-US" sz="1600"/>
              <a:t>SQL Database</a:t>
            </a:r>
            <a:endParaRPr lang="en-US" altLang="en-US" sz="1600"/>
          </a:p>
        </p:txBody>
      </p:sp>
      <p:sp>
        <p:nvSpPr>
          <p:cNvPr id="16" name="Rectangles 15"/>
          <p:cNvSpPr/>
          <p:nvPr/>
        </p:nvSpPr>
        <p:spPr>
          <a:xfrm>
            <a:off x="6961505" y="3849370"/>
            <a:ext cx="1649095" cy="9144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600"/>
              <a:t>Display Monitoring</a:t>
            </a:r>
            <a:endParaRPr lang="en-US" altLang="en-US" sz="1600"/>
          </a:p>
          <a:p>
            <a:pPr algn="ctr"/>
            <a:r>
              <a:rPr lang="en-US" altLang="en-US" sz="1600"/>
              <a:t>Data in Web</a:t>
            </a:r>
            <a:endParaRPr lang="en-US" altLang="en-US" sz="1600"/>
          </a:p>
          <a:p>
            <a:pPr algn="ctr"/>
            <a:r>
              <a:rPr lang="en-US" altLang="en-US" sz="1600"/>
              <a:t>Dashboard</a:t>
            </a:r>
            <a:endParaRPr lang="en-US" altLang="en-US" sz="1600"/>
          </a:p>
        </p:txBody>
      </p:sp>
      <p:sp>
        <p:nvSpPr>
          <p:cNvPr id="17" name="Oval 16"/>
          <p:cNvSpPr/>
          <p:nvPr/>
        </p:nvSpPr>
        <p:spPr>
          <a:xfrm>
            <a:off x="7191375" y="5098415"/>
            <a:ext cx="1189990" cy="56324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600"/>
              <a:t>End System</a:t>
            </a:r>
            <a:endParaRPr lang="en-US" altLang="en-US" sz="1600"/>
          </a:p>
        </p:txBody>
      </p:sp>
      <p:sp>
        <p:nvSpPr>
          <p:cNvPr id="18" name="Down Arrow 17"/>
          <p:cNvSpPr/>
          <p:nvPr/>
        </p:nvSpPr>
        <p:spPr>
          <a:xfrm>
            <a:off x="3519805" y="643255"/>
            <a:ext cx="104140" cy="147320"/>
          </a:xfrm>
          <a:prstGeom prst="downArrow">
            <a:avLst/>
          </a:prstGeom>
          <a:gradFill>
            <a:gsLst>
              <a:gs pos="50000">
                <a:schemeClr val="tx1"/>
              </a:gs>
              <a:gs pos="0">
                <a:schemeClr val="tx1">
                  <a:lumMod val="25000"/>
                  <a:lumOff val="75000"/>
                </a:schemeClr>
              </a:gs>
              <a:gs pos="100000">
                <a:schemeClr val="tx1">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Down Arrow 18"/>
          <p:cNvSpPr/>
          <p:nvPr/>
        </p:nvSpPr>
        <p:spPr>
          <a:xfrm>
            <a:off x="3521710" y="1343025"/>
            <a:ext cx="106045" cy="16954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0" name="Down Arrow 19"/>
          <p:cNvSpPr/>
          <p:nvPr/>
        </p:nvSpPr>
        <p:spPr>
          <a:xfrm>
            <a:off x="3521710" y="2223770"/>
            <a:ext cx="138430" cy="13779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1" name="Down Arrow 20"/>
          <p:cNvSpPr/>
          <p:nvPr/>
        </p:nvSpPr>
        <p:spPr>
          <a:xfrm>
            <a:off x="3415665" y="3957955"/>
            <a:ext cx="212090" cy="15938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Down Arrow 22"/>
          <p:cNvSpPr/>
          <p:nvPr/>
        </p:nvSpPr>
        <p:spPr>
          <a:xfrm>
            <a:off x="3405505" y="4982845"/>
            <a:ext cx="190500" cy="16954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7" name="Down Arrow 26"/>
          <p:cNvSpPr/>
          <p:nvPr/>
        </p:nvSpPr>
        <p:spPr>
          <a:xfrm>
            <a:off x="7586980" y="1553845"/>
            <a:ext cx="222885" cy="22415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8" name="Down Arrow 27"/>
          <p:cNvSpPr/>
          <p:nvPr/>
        </p:nvSpPr>
        <p:spPr>
          <a:xfrm>
            <a:off x="7629525" y="2626995"/>
            <a:ext cx="180340" cy="16954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9" name="Down Arrow 28"/>
          <p:cNvSpPr/>
          <p:nvPr/>
        </p:nvSpPr>
        <p:spPr>
          <a:xfrm>
            <a:off x="7629525" y="3604260"/>
            <a:ext cx="191135" cy="22288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0" name="Down Arrow 29"/>
          <p:cNvSpPr/>
          <p:nvPr/>
        </p:nvSpPr>
        <p:spPr>
          <a:xfrm>
            <a:off x="7651115" y="4851400"/>
            <a:ext cx="169545" cy="15938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2" name="Down Arrow 31"/>
          <p:cNvSpPr/>
          <p:nvPr/>
        </p:nvSpPr>
        <p:spPr>
          <a:xfrm>
            <a:off x="3469005" y="3093720"/>
            <a:ext cx="116840" cy="14859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33" name="Elbow Connector 32"/>
          <p:cNvCxnSpPr>
            <a:stCxn id="14" idx="3"/>
          </p:cNvCxnSpPr>
          <p:nvPr/>
        </p:nvCxnSpPr>
        <p:spPr>
          <a:xfrm flipV="1">
            <a:off x="4522470" y="4366895"/>
            <a:ext cx="421005" cy="217170"/>
          </a:xfrm>
          <a:prstGeom prst="bentConnector3">
            <a:avLst>
              <a:gd name="adj1" fmla="val 50075"/>
            </a:avLst>
          </a:prstGeom>
          <a:ln>
            <a:tailEnd type="arrow"/>
          </a:ln>
        </p:spPr>
        <p:style>
          <a:lnRef idx="2">
            <a:schemeClr val="accent1"/>
          </a:lnRef>
          <a:fillRef idx="0">
            <a:srgbClr val="FFFFFF"/>
          </a:fillRef>
          <a:effectRef idx="0">
            <a:srgbClr val="FFFFFF"/>
          </a:effectRef>
          <a:fontRef idx="minor">
            <a:schemeClr val="tx1"/>
          </a:fontRef>
        </p:style>
      </p:cxnSp>
      <p:cxnSp>
        <p:nvCxnSpPr>
          <p:cNvPr id="34" name="Elbow Connector 33"/>
          <p:cNvCxnSpPr>
            <a:stCxn id="14" idx="1"/>
          </p:cNvCxnSpPr>
          <p:nvPr/>
        </p:nvCxnSpPr>
        <p:spPr>
          <a:xfrm rot="10800000">
            <a:off x="1940560" y="4356735"/>
            <a:ext cx="555625" cy="227330"/>
          </a:xfrm>
          <a:prstGeom prst="bentConnector3">
            <a:avLst>
              <a:gd name="adj1" fmla="val 49943"/>
            </a:avLst>
          </a:prstGeom>
          <a:ln>
            <a:tailEnd type="arrow"/>
          </a:ln>
        </p:spPr>
        <p:style>
          <a:lnRef idx="2">
            <a:schemeClr val="accent1"/>
          </a:lnRef>
          <a:fillRef idx="0">
            <a:srgbClr val="FFFFFF"/>
          </a:fillRef>
          <a:effectRef idx="0">
            <a:srgbClr val="FFFFFF"/>
          </a:effectRef>
          <a:fontRef idx="minor">
            <a:schemeClr val="tx1"/>
          </a:fontRef>
        </p:style>
      </p:cxnSp>
      <p:sp>
        <p:nvSpPr>
          <p:cNvPr id="36" name="Text Box 35"/>
          <p:cNvSpPr txBox="1"/>
          <p:nvPr/>
        </p:nvSpPr>
        <p:spPr>
          <a:xfrm>
            <a:off x="444500" y="3815080"/>
            <a:ext cx="2052320" cy="368300"/>
          </a:xfrm>
          <a:prstGeom prst="rect">
            <a:avLst/>
          </a:prstGeom>
          <a:noFill/>
        </p:spPr>
        <p:txBody>
          <a:bodyPr wrap="square" rtlCol="0">
            <a:spAutoFit/>
          </a:bodyPr>
          <a:p>
            <a:r>
              <a:rPr lang="en-US"/>
              <a:t>YES</a:t>
            </a:r>
            <a:endParaRPr lang="en-US"/>
          </a:p>
        </p:txBody>
      </p:sp>
      <p:sp>
        <p:nvSpPr>
          <p:cNvPr id="37" name="Text Box 36"/>
          <p:cNvSpPr txBox="1"/>
          <p:nvPr/>
        </p:nvSpPr>
        <p:spPr>
          <a:xfrm>
            <a:off x="5484495" y="3763645"/>
            <a:ext cx="4064000" cy="368300"/>
          </a:xfrm>
          <a:prstGeom prst="rect">
            <a:avLst/>
          </a:prstGeom>
          <a:noFill/>
        </p:spPr>
        <p:txBody>
          <a:bodyPr wrap="square" rtlCol="0">
            <a:spAutoFit/>
          </a:bodyPr>
          <a:p>
            <a:r>
              <a:rPr lang="en-US"/>
              <a:t>NO</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0340"/>
            <a:ext cx="6866255" cy="428625"/>
          </a:xfrm>
        </p:spPr>
        <p:txBody>
          <a:bodyPr>
            <a:noAutofit/>
          </a:bodyPr>
          <a:lstStyle/>
          <a:p>
            <a:r>
              <a:rPr lang="en-IN" sz="3600" b="1" dirty="0" smtClean="0">
                <a:solidFill>
                  <a:schemeClr val="accent1">
                    <a:lumMod val="75000"/>
                  </a:schemeClr>
                </a:solidFill>
                <a:latin typeface="Times New Roman" panose="02020603050405020304" pitchFamily="18" charset="0"/>
                <a:cs typeface="Times New Roman" panose="02020603050405020304" pitchFamily="18" charset="0"/>
                <a:sym typeface="+mn-ea"/>
              </a:rPr>
              <a:t>System Implementation (50%)</a:t>
            </a:r>
            <a:endParaRPr lang="en-IN" sz="3600" b="1" dirty="0" smtClean="0">
              <a:solidFill>
                <a:schemeClr val="accent1">
                  <a:lumMod val="75000"/>
                </a:schemeClr>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128905" y="608965"/>
            <a:ext cx="12190095" cy="5950585"/>
          </a:xfrm>
        </p:spPr>
        <p:txBody>
          <a:bodyPr vert="horz" lIns="91440" tIns="45720" rIns="91440" bIns="45720" rtlCol="0" anchor="t">
            <a:noAutofit/>
          </a:bodyPr>
          <a:lstStyle/>
          <a:p>
            <a:pPr algn="l">
              <a:buFont typeface="Arial" panose="020B0604020202020204" pitchFamily="34" charset="0"/>
              <a:buChar char="•"/>
            </a:pPr>
            <a:r>
              <a:rPr lang="en-US" altLang="en-US" sz="2400" b="1" dirty="0">
                <a:latin typeface="Times New Roman" panose="02020603050405020304"/>
                <a:ea typeface="Calibri" panose="020F0502020204030204"/>
                <a:cs typeface="Times New Roman" panose="02020603050405020304"/>
              </a:rPr>
              <a:t>Start System</a:t>
            </a:r>
            <a:endParaRPr lang="en-US" altLang="en-US" sz="2400" b="1" dirty="0">
              <a:latin typeface="Times New Roman" panose="02020603050405020304"/>
              <a:ea typeface="Calibri" panose="020F0502020204030204"/>
              <a:cs typeface="Times New Roman" panose="02020603050405020304"/>
            </a:endParaRPr>
          </a:p>
          <a:p>
            <a:pPr algn="l">
              <a:buNone/>
            </a:pPr>
            <a:r>
              <a:rPr lang="en-US" altLang="en-US" sz="2400" dirty="0">
                <a:latin typeface="Times New Roman" panose="02020603050405020304"/>
                <a:ea typeface="Calibri" panose="020F0502020204030204"/>
                <a:cs typeface="Times New Roman" panose="02020603050405020304"/>
              </a:rPr>
              <a:t>The monitoring system is started and the required modules are initialized.</a:t>
            </a:r>
            <a:endParaRPr lang="en-US" altLang="en-US" sz="2400" dirty="0">
              <a:latin typeface="Times New Roman" panose="02020603050405020304"/>
              <a:ea typeface="Calibri" panose="020F0502020204030204"/>
              <a:cs typeface="Times New Roman" panose="02020603050405020304"/>
            </a:endParaRPr>
          </a:p>
          <a:p>
            <a:pPr algn="l">
              <a:buFont typeface="Arial" panose="020B0604020202020204" pitchFamily="34" charset="0"/>
              <a:buChar char="•"/>
            </a:pPr>
            <a:r>
              <a:rPr lang="en-US" altLang="en-US" sz="2400" b="1" dirty="0">
                <a:latin typeface="Times New Roman" panose="02020603050405020304"/>
                <a:ea typeface="Calibri" panose="020F0502020204030204"/>
                <a:cs typeface="Times New Roman" panose="02020603050405020304"/>
              </a:rPr>
              <a:t>Initialize Camera and Video Capture</a:t>
            </a:r>
            <a:endParaRPr lang="en-US" altLang="en-US" sz="2400" b="1" dirty="0">
              <a:latin typeface="Times New Roman" panose="02020603050405020304"/>
              <a:ea typeface="Calibri" panose="020F0502020204030204"/>
              <a:cs typeface="Times New Roman" panose="02020603050405020304"/>
            </a:endParaRPr>
          </a:p>
          <a:p>
            <a:pPr algn="l">
              <a:buNone/>
            </a:pPr>
            <a:r>
              <a:rPr lang="en-US" altLang="en-US" sz="2400" dirty="0">
                <a:latin typeface="Times New Roman" panose="02020603050405020304"/>
                <a:ea typeface="Calibri" panose="020F0502020204030204"/>
                <a:cs typeface="Times New Roman" panose="02020603050405020304"/>
              </a:rPr>
              <a:t>The CCTV or connected camera is initialized to capture vehicle images or video frames at the factory gate.</a:t>
            </a:r>
            <a:endParaRPr lang="en-US" altLang="en-US" sz="2400" dirty="0">
              <a:latin typeface="Times New Roman" panose="02020603050405020304"/>
              <a:ea typeface="Calibri" panose="020F0502020204030204"/>
              <a:cs typeface="Times New Roman" panose="02020603050405020304"/>
            </a:endParaRPr>
          </a:p>
          <a:p>
            <a:pPr algn="l"/>
            <a:r>
              <a:rPr lang="en-US" altLang="en-US" sz="2400" b="1" dirty="0">
                <a:latin typeface="Times New Roman" panose="02020603050405020304"/>
                <a:ea typeface="Calibri" panose="020F0502020204030204"/>
                <a:cs typeface="Times New Roman" panose="02020603050405020304"/>
              </a:rPr>
              <a:t>Capture Vehicle Image / Video Frame</a:t>
            </a:r>
            <a:endParaRPr lang="en-US" altLang="en-US" sz="2400" b="1" dirty="0">
              <a:latin typeface="Times New Roman" panose="02020603050405020304"/>
              <a:ea typeface="Calibri" panose="020F0502020204030204"/>
              <a:cs typeface="Times New Roman" panose="02020603050405020304"/>
            </a:endParaRPr>
          </a:p>
          <a:p>
            <a:pPr algn="l">
              <a:buNone/>
            </a:pPr>
            <a:r>
              <a:rPr lang="en-US" altLang="en-US" sz="2400" dirty="0">
                <a:latin typeface="Times New Roman" panose="02020603050405020304"/>
                <a:ea typeface="Calibri" panose="020F0502020204030204"/>
                <a:cs typeface="Times New Roman" panose="02020603050405020304"/>
              </a:rPr>
              <a:t>The system continuously captures frames from the camera to monitor incoming vehicles.</a:t>
            </a:r>
            <a:endParaRPr lang="en-US" altLang="en-US" sz="2400" dirty="0">
              <a:latin typeface="Times New Roman" panose="02020603050405020304"/>
              <a:ea typeface="Calibri" panose="020F0502020204030204"/>
              <a:cs typeface="Times New Roman" panose="02020603050405020304"/>
            </a:endParaRPr>
          </a:p>
          <a:p>
            <a:pPr algn="l"/>
            <a:r>
              <a:rPr lang="en-US" altLang="en-US" sz="2400" b="1" dirty="0">
                <a:latin typeface="Times New Roman" panose="02020603050405020304"/>
                <a:ea typeface="Calibri" panose="020F0502020204030204"/>
                <a:cs typeface="Times New Roman" panose="02020603050405020304"/>
              </a:rPr>
              <a:t>Preprocess Image using OpenCV</a:t>
            </a:r>
            <a:endParaRPr lang="en-US" altLang="en-US" sz="2400" b="1" dirty="0">
              <a:latin typeface="Times New Roman" panose="02020603050405020304"/>
              <a:ea typeface="Calibri" panose="020F0502020204030204"/>
              <a:cs typeface="Times New Roman" panose="02020603050405020304"/>
            </a:endParaRPr>
          </a:p>
          <a:p>
            <a:pPr algn="l">
              <a:buNone/>
            </a:pPr>
            <a:r>
              <a:rPr lang="en-US" altLang="en-US" sz="2400" dirty="0">
                <a:latin typeface="Times New Roman" panose="02020603050405020304"/>
                <a:ea typeface="Calibri" panose="020F0502020204030204"/>
                <a:cs typeface="Times New Roman" panose="02020603050405020304"/>
              </a:rPr>
              <a:t>The captured frame is processed using OpenCV techniques such as resizing and filtering to improve detection performance.</a:t>
            </a:r>
            <a:endParaRPr lang="en-US" altLang="en-US" sz="2400" dirty="0">
              <a:latin typeface="Times New Roman" panose="02020603050405020304"/>
              <a:ea typeface="Calibri" panose="020F0502020204030204"/>
              <a:cs typeface="Times New Roman" panose="02020603050405020304"/>
            </a:endParaRPr>
          </a:p>
          <a:p>
            <a:pPr algn="l"/>
            <a:r>
              <a:rPr lang="en-US" altLang="en-US" sz="2400" b="1" dirty="0">
                <a:latin typeface="Times New Roman" panose="02020603050405020304"/>
                <a:ea typeface="Calibri" panose="020F0502020204030204"/>
                <a:cs typeface="Times New Roman" panose="02020603050405020304"/>
              </a:rPr>
              <a:t>Apply Object Detection Model</a:t>
            </a:r>
            <a:endParaRPr lang="en-US" altLang="en-US" sz="2400" b="1" dirty="0">
              <a:latin typeface="Times New Roman" panose="02020603050405020304"/>
              <a:ea typeface="Calibri" panose="020F0502020204030204"/>
              <a:cs typeface="Times New Roman" panose="02020603050405020304"/>
            </a:endParaRPr>
          </a:p>
          <a:p>
            <a:pPr algn="l">
              <a:buNone/>
            </a:pPr>
            <a:r>
              <a:rPr lang="en-US" altLang="en-US" sz="2400" dirty="0">
                <a:latin typeface="Times New Roman" panose="02020603050405020304"/>
                <a:ea typeface="Calibri" panose="020F0502020204030204"/>
                <a:cs typeface="Times New Roman" panose="02020603050405020304"/>
              </a:rPr>
              <a:t>The object detection algorithm is applied to identify vehicles and rail wheels present in the image.</a:t>
            </a:r>
            <a:endParaRPr lang="en-US" altLang="en-US" sz="2400" dirty="0">
              <a:latin typeface="Times New Roman" panose="02020603050405020304"/>
              <a:ea typeface="Calibri" panose="020F0502020204030204"/>
              <a:cs typeface="Times New Roman" panose="02020603050405020304"/>
            </a:endParaRPr>
          </a:p>
          <a:p>
            <a:pPr algn="l">
              <a:buFont typeface="Arial" panose="020B0604020202020204" pitchFamily="34" charset="0"/>
              <a:buChar char="•"/>
            </a:pPr>
            <a:endParaRPr lang="en-US" altLang="en-US" sz="2400"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fld id="{864BFFB7-4443-4602-A990-B076C1CFE86C}" type="datetime1">
              <a:rPr lang="en-IN" smtClean="0"/>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
        <p:nvSpPr>
          <p:cNvPr id="6" name="Text Box 5"/>
          <p:cNvSpPr txBox="1"/>
          <p:nvPr/>
        </p:nvSpPr>
        <p:spPr>
          <a:xfrm>
            <a:off x="5591175" y="884555"/>
            <a:ext cx="6005195" cy="4351020"/>
          </a:xfrm>
          <a:prstGeom prst="rect">
            <a:avLst/>
          </a:prstGeom>
          <a:noFill/>
        </p:spPr>
        <p:txBody>
          <a:bodyPr wrap="square" rtlCol="0">
            <a:noAutofit/>
          </a:bodyPr>
          <a:p>
            <a:pPr algn="l"/>
            <a:endParaRPr lang="en-US" altLang="en-US" sz="1600" dirty="0">
              <a:latin typeface="Times New Roman" panose="02020603050405020304"/>
              <a:ea typeface="Calibri" panose="020F0502020204030204"/>
              <a:cs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78105"/>
            <a:ext cx="10515600" cy="1325563"/>
          </a:xfrm>
        </p:spPr>
        <p:txBody>
          <a:bodyPr/>
          <a:p>
            <a:r>
              <a:rPr lang="en-US" altLang="en-US" b="1">
                <a:solidFill>
                  <a:schemeClr val="accent1"/>
                </a:solidFill>
              </a:rPr>
              <a:t>System Execution</a:t>
            </a:r>
            <a:endParaRPr lang="en-US" altLang="en-US" b="1">
              <a:solidFill>
                <a:schemeClr val="accent1"/>
              </a:solidFill>
            </a:endParaRPr>
          </a:p>
        </p:txBody>
      </p:sp>
      <p:sp>
        <p:nvSpPr>
          <p:cNvPr id="4" name="Date Placeholder 3"/>
          <p:cNvSpPr>
            <a:spLocks noGrp="1"/>
          </p:cNvSpPr>
          <p:nvPr>
            <p:ph type="dt" sz="half" idx="10"/>
          </p:nvPr>
        </p:nvSpPr>
        <p:spPr/>
        <p:txBody>
          <a:bodyPr/>
          <a:p>
            <a:fld id="{864BFFB7-4443-4602-A990-B076C1CFE86C}" type="datetime1">
              <a:rPr lang="en-IN" smtClean="0"/>
            </a:fld>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pic>
        <p:nvPicPr>
          <p:cNvPr id="13" name="Content Placeholder 12" descr="Screenshot (11)"/>
          <p:cNvPicPr>
            <a:picLocks noChangeAspect="1"/>
          </p:cNvPicPr>
          <p:nvPr>
            <p:ph idx="1"/>
          </p:nvPr>
        </p:nvPicPr>
        <p:blipFill>
          <a:blip r:embed="rId1"/>
          <a:stretch>
            <a:fillRect/>
          </a:stretch>
        </p:blipFill>
        <p:spPr>
          <a:xfrm>
            <a:off x="1929765" y="1276350"/>
            <a:ext cx="8930640" cy="44958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200660"/>
            <a:ext cx="10515600" cy="1325563"/>
          </a:xfrm>
        </p:spPr>
        <p:txBody>
          <a:bodyPr/>
          <a:p>
            <a:r>
              <a:rPr lang="en-IN" sz="3600" b="1" dirty="0" smtClean="0">
                <a:solidFill>
                  <a:schemeClr val="accent1">
                    <a:lumMod val="75000"/>
                  </a:schemeClr>
                </a:solidFill>
                <a:latin typeface="Times New Roman" panose="02020603050405020304" pitchFamily="18" charset="0"/>
                <a:cs typeface="Times New Roman" panose="02020603050405020304" pitchFamily="18" charset="0"/>
                <a:sym typeface="+mn-ea"/>
              </a:rPr>
              <a:t>System Implementation (50%)</a:t>
            </a:r>
            <a:endParaRPr lang="en-IN" sz="3600" b="1" dirty="0" smtClean="0">
              <a:solidFill>
                <a:schemeClr val="accent1">
                  <a:lumMod val="75000"/>
                </a:schemeClr>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732155" y="733425"/>
            <a:ext cx="11322050" cy="4351655"/>
          </a:xfrm>
        </p:spPr>
        <p:txBody>
          <a:bodyPr>
            <a:noAutofit/>
          </a:bodyPr>
          <a:p>
            <a:pPr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 Vehicle Detected? (Decision)</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The system checks whether a vehicle is detected in the captured frame.</a:t>
            </a:r>
            <a:endParaRPr lang="en-US" altLang="en-US" sz="2300" dirty="0">
              <a:latin typeface="Times New Roman" panose="02020603050405020304"/>
              <a:ea typeface="Calibri" panose="020F0502020204030204"/>
              <a:cs typeface="Times New Roman" panose="02020603050405020304"/>
            </a:endParaRPr>
          </a:p>
          <a:p>
            <a:pPr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Detect Rail Wheels</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If a vehicle is detected, the system analyzes the truck area and detects rail wheels inside the vehicle.</a:t>
            </a:r>
            <a:endParaRPr lang="en-US" altLang="en-US" sz="2300" dirty="0">
              <a:latin typeface="Times New Roman" panose="02020603050405020304"/>
              <a:ea typeface="Calibri" panose="020F0502020204030204"/>
              <a:cs typeface="Times New Roman" panose="02020603050405020304"/>
            </a:endParaRPr>
          </a:p>
          <a:p>
            <a:pPr marL="285750" indent="-285750"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Count Number of Rail Wheels</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The system counts the number of detected rail wheels automatically.</a:t>
            </a:r>
            <a:endParaRPr lang="en-US" altLang="en-US" sz="2300" dirty="0">
              <a:latin typeface="Times New Roman" panose="02020603050405020304"/>
              <a:ea typeface="Calibri" panose="020F0502020204030204"/>
              <a:cs typeface="Times New Roman" panose="02020603050405020304"/>
            </a:endParaRPr>
          </a:p>
          <a:p>
            <a:pPr marL="285750" indent="-285750"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Send Detection Data to Flask Backend API</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The detection results including vehicle details and wheel count are sent to the backend server using Flask REST APIs.</a:t>
            </a:r>
            <a:endParaRPr lang="en-US" altLang="en-US" sz="2300" dirty="0">
              <a:latin typeface="Times New Roman" panose="02020603050405020304"/>
              <a:ea typeface="Calibri" panose="020F0502020204030204"/>
              <a:cs typeface="Times New Roman" panose="02020603050405020304"/>
            </a:endParaRPr>
          </a:p>
          <a:p>
            <a:pPr marL="285750" indent="-285750"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Store Vehicle and Wheel Data in SQL Database</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The backend stores the vehicle entry information and rail wheel count in the SQL database for monitoring and record management.</a:t>
            </a:r>
            <a:endParaRPr lang="en-US" altLang="en-US" sz="2300" dirty="0">
              <a:latin typeface="Times New Roman" panose="02020603050405020304"/>
              <a:ea typeface="Calibri" panose="020F0502020204030204"/>
              <a:cs typeface="Times New Roman" panose="02020603050405020304"/>
            </a:endParaRPr>
          </a:p>
          <a:p>
            <a:pPr algn="l"/>
            <a:endParaRPr lang="en-US" altLang="en-US" sz="2300" dirty="0">
              <a:latin typeface="Times New Roman" panose="02020603050405020304"/>
              <a:ea typeface="Calibri" panose="020F0502020204030204"/>
              <a:cs typeface="Times New Roman" panose="02020603050405020304"/>
            </a:endParaRPr>
          </a:p>
          <a:p>
            <a:endParaRPr lang="en-US" altLang="en-US" sz="1300"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p>
            <a:fld id="{864BFFB7-4443-4602-A990-B076C1CFE86C}" type="datetime1">
              <a:rPr lang="en-IN" smtClean="0"/>
            </a:fld>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25400"/>
            <a:ext cx="10515600" cy="1325563"/>
          </a:xfrm>
        </p:spPr>
        <p:txBody>
          <a:bodyPr/>
          <a:p>
            <a:r>
              <a:rPr lang="en-US" altLang="en-US" b="1">
                <a:solidFill>
                  <a:schemeClr val="accent1"/>
                </a:solidFill>
                <a:sym typeface="+mn-ea"/>
              </a:rPr>
              <a:t>System Execution</a:t>
            </a:r>
            <a:endParaRPr lang="en-US"/>
          </a:p>
        </p:txBody>
      </p:sp>
      <p:sp>
        <p:nvSpPr>
          <p:cNvPr id="4" name="Date Placeholder 3"/>
          <p:cNvSpPr>
            <a:spLocks noGrp="1"/>
          </p:cNvSpPr>
          <p:nvPr>
            <p:ph type="dt" sz="half" idx="10"/>
          </p:nvPr>
        </p:nvSpPr>
        <p:spPr/>
        <p:txBody>
          <a:bodyPr/>
          <a:p>
            <a:fld id="{864BFFB7-4443-4602-A990-B076C1CFE86C}" type="datetime1">
              <a:rPr lang="en-IN" smtClean="0"/>
            </a:fld>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pic>
        <p:nvPicPr>
          <p:cNvPr id="8" name="Content Placeholder 5" descr="Screenshot (12)"/>
          <p:cNvPicPr>
            <a:picLocks noChangeAspect="1"/>
          </p:cNvPicPr>
          <p:nvPr/>
        </p:nvPicPr>
        <p:blipFill>
          <a:blip r:embed="rId1"/>
          <a:stretch>
            <a:fillRect/>
          </a:stretch>
        </p:blipFill>
        <p:spPr>
          <a:xfrm>
            <a:off x="1040130" y="1202690"/>
            <a:ext cx="10717530" cy="46164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smtClean="0">
                <a:solidFill>
                  <a:schemeClr val="accent1">
                    <a:lumMod val="75000"/>
                  </a:schemeClr>
                </a:solidFill>
                <a:latin typeface="Times New Roman" panose="02020603050405020304" pitchFamily="18" charset="0"/>
                <a:cs typeface="Times New Roman" panose="02020603050405020304" pitchFamily="18" charset="0"/>
                <a:sym typeface="+mn-ea"/>
              </a:rPr>
              <a:t>Internship Road Map</a:t>
            </a:r>
            <a:endParaRPr lang="en-US" sz="3200" b="1" dirty="0" smtClean="0">
              <a:solidFill>
                <a:schemeClr val="accent1">
                  <a:lumMod val="75000"/>
                </a:schemeClr>
              </a:solidFill>
              <a:latin typeface="Times New Roman" panose="02020603050405020304" pitchFamily="18" charset="0"/>
              <a:cs typeface="Times New Roman" panose="02020603050405020304" pitchFamily="18" charset="0"/>
              <a:sym typeface="+mn-ea"/>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graphicFrame>
        <p:nvGraphicFramePr>
          <p:cNvPr id="7" name="Diagram 6"/>
          <p:cNvGraphicFramePr>
            <a:graphicFrameLocks noGrp="1"/>
          </p:cNvGraphicFramePr>
          <p:nvPr/>
        </p:nvGraphicFramePr>
        <p:xfrm>
          <a:off x="732155" y="1118416"/>
          <a:ext cx="10515600" cy="405819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0" name="Text Box 9"/>
          <p:cNvSpPr txBox="1"/>
          <p:nvPr/>
        </p:nvSpPr>
        <p:spPr>
          <a:xfrm>
            <a:off x="2735580" y="1936115"/>
            <a:ext cx="1297305" cy="2985770"/>
          </a:xfrm>
          <a:prstGeom prst="rect">
            <a:avLst/>
          </a:prstGeom>
          <a:noFill/>
        </p:spPr>
        <p:txBody>
          <a:bodyPr wrap="square" rtlCol="0">
            <a:noAutofit/>
          </a:bodyPr>
          <a:p>
            <a:pPr marL="285750" indent="-285750">
              <a:buFont typeface="Arial" panose="020B0604020202020204" pitchFamily="34" charset="0"/>
              <a:buChar char="•"/>
            </a:pPr>
            <a:r>
              <a:rPr lang="en-US" altLang="en-US" sz="800" b="1"/>
              <a:t>Understanding project requirements</a:t>
            </a:r>
            <a:endParaRPr lang="en-US" altLang="en-US" sz="800" b="1"/>
          </a:p>
          <a:p>
            <a:pPr marL="285750" indent="-285750">
              <a:buFont typeface="Arial" panose="020B0604020202020204" pitchFamily="34" charset="0"/>
              <a:buChar char="•"/>
            </a:pPr>
            <a:endParaRPr lang="en-US" altLang="en-US" sz="800" b="1"/>
          </a:p>
          <a:p>
            <a:pPr marL="285750" indent="-285750">
              <a:buFont typeface="Arial" panose="020B0604020202020204" pitchFamily="34" charset="0"/>
              <a:buChar char="•"/>
            </a:pPr>
            <a:r>
              <a:rPr lang="en-US" altLang="en-US" sz="800" b="1"/>
              <a:t>Studying basics of Computer Vision and Object Detection</a:t>
            </a:r>
            <a:endParaRPr lang="en-US" altLang="en-US" sz="800" b="1"/>
          </a:p>
          <a:p>
            <a:pPr marL="285750" indent="-285750">
              <a:buFont typeface="Arial" panose="020B0604020202020204" pitchFamily="34" charset="0"/>
              <a:buChar char="•"/>
            </a:pPr>
            <a:endParaRPr lang="en-US" altLang="en-US" sz="800" b="1"/>
          </a:p>
          <a:p>
            <a:pPr marL="285750" indent="-285750">
              <a:buFont typeface="Arial" panose="020B0604020202020204" pitchFamily="34" charset="0"/>
              <a:buChar char="•"/>
            </a:pPr>
            <a:r>
              <a:rPr lang="en-US" altLang="en-US" sz="800" b="1"/>
              <a:t>Learning Python and OpenCV basics</a:t>
            </a:r>
            <a:endParaRPr lang="en-US" altLang="en-US" sz="800" b="1"/>
          </a:p>
          <a:p>
            <a:pPr marL="285750" indent="-285750">
              <a:buFont typeface="Arial" panose="020B0604020202020204" pitchFamily="34" charset="0"/>
              <a:buChar char="•"/>
            </a:pPr>
            <a:endParaRPr lang="en-US" altLang="en-US" sz="800" b="1"/>
          </a:p>
          <a:p>
            <a:pPr marL="285750" indent="-285750">
              <a:buFont typeface="Arial" panose="020B0604020202020204" pitchFamily="34" charset="0"/>
              <a:buChar char="•"/>
            </a:pPr>
            <a:r>
              <a:rPr lang="en-US" altLang="en-US" sz="800" b="1"/>
              <a:t>Understanding vehicle monitoring problem</a:t>
            </a:r>
            <a:endParaRPr lang="en-US" altLang="en-US" sz="800" b="1"/>
          </a:p>
          <a:p>
            <a:pPr marL="285750" indent="-285750">
              <a:buFont typeface="Arial" panose="020B0604020202020204" pitchFamily="34" charset="0"/>
              <a:buChar char="•"/>
            </a:pPr>
            <a:endParaRPr lang="en-US" altLang="en-US" sz="800" b="1"/>
          </a:p>
          <a:p>
            <a:pPr marL="285750" indent="-285750">
              <a:buFont typeface="Arial" panose="020B0604020202020204" pitchFamily="34" charset="0"/>
              <a:buChar char="•"/>
            </a:pPr>
            <a:r>
              <a:rPr lang="en-US" altLang="en-US" sz="800" b="1"/>
              <a:t>Literature survey and problem identification</a:t>
            </a:r>
            <a:endParaRPr lang="en-US" altLang="en-US" sz="800" b="1"/>
          </a:p>
        </p:txBody>
      </p:sp>
      <p:sp>
        <p:nvSpPr>
          <p:cNvPr id="11" name="Text Box 10"/>
          <p:cNvSpPr txBox="1"/>
          <p:nvPr/>
        </p:nvSpPr>
        <p:spPr>
          <a:xfrm>
            <a:off x="4120515" y="2021840"/>
            <a:ext cx="1372235" cy="2610485"/>
          </a:xfrm>
          <a:prstGeom prst="rect">
            <a:avLst/>
          </a:prstGeom>
          <a:noFill/>
        </p:spPr>
        <p:txBody>
          <a:bodyPr wrap="square" rtlCol="0">
            <a:noAutofit/>
          </a:bodyPr>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Studying object detection techniques</a:t>
            </a: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Understanding OpenCV image processing</a:t>
            </a: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Designing system architecture</a:t>
            </a: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Planning backend and database structure</a:t>
            </a: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Preparing initial project design</a:t>
            </a:r>
            <a:endParaRPr lang="en-US" altLang="en-US" sz="900" b="1">
              <a:latin typeface="Times New Roman" panose="02020603050405020304" pitchFamily="18" charset="0"/>
              <a:cs typeface="Times New Roman" panose="02020603050405020304" pitchFamily="18" charset="0"/>
            </a:endParaRPr>
          </a:p>
        </p:txBody>
      </p:sp>
      <p:sp>
        <p:nvSpPr>
          <p:cNvPr id="12" name="Text Box 11"/>
          <p:cNvSpPr txBox="1"/>
          <p:nvPr/>
        </p:nvSpPr>
        <p:spPr>
          <a:xfrm>
            <a:off x="5375275" y="1936115"/>
            <a:ext cx="1229995" cy="2931160"/>
          </a:xfrm>
          <a:prstGeom prst="rect">
            <a:avLst/>
          </a:prstGeom>
          <a:noFill/>
        </p:spPr>
        <p:txBody>
          <a:bodyPr wrap="square" rtlCol="0">
            <a:noAutofit/>
          </a:bodyPr>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Developing backend using Flask</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Integrating object detection module</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Creating SQL database tables</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Testing vehicle detection and wheel counting</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Initial system workflow implementation</a:t>
            </a:r>
            <a:endParaRPr lang="en-US" altLang="en-US" sz="900" b="1">
              <a:latin typeface="Times New Roman" panose="02020603050405020304" pitchFamily="18" charset="0"/>
              <a:cs typeface="Times New Roman" panose="02020603050405020304" pitchFamily="18" charset="0"/>
            </a:endParaRPr>
          </a:p>
        </p:txBody>
      </p:sp>
      <p:sp>
        <p:nvSpPr>
          <p:cNvPr id="13" name="Text Box 12"/>
          <p:cNvSpPr txBox="1"/>
          <p:nvPr/>
        </p:nvSpPr>
        <p:spPr>
          <a:xfrm>
            <a:off x="6711950" y="1936115"/>
            <a:ext cx="1283970" cy="2999740"/>
          </a:xfrm>
          <a:prstGeom prst="rect">
            <a:avLst/>
          </a:prstGeom>
          <a:noFill/>
        </p:spPr>
        <p:txBody>
          <a:bodyPr wrap="square" rtlCol="0">
            <a:spAutoFit/>
          </a:bodyPr>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Integrating frontend dashboard with backend</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Connecting database with web dashboard</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Implementing real-time monitoring system</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Testing system performance and accuracy</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Improving detection performance</a:t>
            </a:r>
            <a:endParaRPr lang="en-US" altLang="en-US" sz="900" b="1">
              <a:latin typeface="Times New Roman" panose="02020603050405020304" pitchFamily="18" charset="0"/>
              <a:cs typeface="Times New Roman" panose="02020603050405020304" pitchFamily="18" charset="0"/>
            </a:endParaRPr>
          </a:p>
        </p:txBody>
      </p:sp>
      <p:sp>
        <p:nvSpPr>
          <p:cNvPr id="14" name="Text Box 13"/>
          <p:cNvSpPr txBox="1"/>
          <p:nvPr/>
        </p:nvSpPr>
        <p:spPr>
          <a:xfrm>
            <a:off x="7945120" y="2095500"/>
            <a:ext cx="1299210" cy="2861310"/>
          </a:xfrm>
          <a:prstGeom prst="rect">
            <a:avLst/>
          </a:prstGeom>
          <a:noFill/>
        </p:spPr>
        <p:txBody>
          <a:bodyPr wrap="square" rtlCol="0">
            <a:spAutoFit/>
          </a:bodyPr>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Final system testing and validation</a:t>
            </a: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Complete project demonstration</a:t>
            </a: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Documentation and report preparation</a:t>
            </a: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GitHub project submission</a:t>
            </a: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Internship completion</a:t>
            </a:r>
            <a:endParaRPr lang="en-US" altLang="en-US" sz="1000" b="1">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
        <p:nvSpPr>
          <p:cNvPr id="3" name="Content Placeholder 2"/>
          <p:cNvSpPr>
            <a:spLocks noGrp="1"/>
          </p:cNvSpPr>
          <p:nvPr>
            <p:ph idx="1"/>
          </p:nvPr>
        </p:nvSpPr>
        <p:spPr>
          <a:xfrm>
            <a:off x="446308" y="1061297"/>
            <a:ext cx="10515600" cy="4351338"/>
          </a:xfrm>
        </p:spPr>
        <p:txBody>
          <a:bodyPr vert="horz" lIns="91440" tIns="45720" rIns="91440" bIns="45720" rtlCol="0" anchor="t">
            <a:normAutofit/>
          </a:bodyPr>
          <a:lstStyle/>
          <a:p>
            <a:pPr marL="0" indent="0">
              <a:buNone/>
            </a:pPr>
            <a:r>
              <a:rPr lang="en-US" altLang="en-US" dirty="0">
                <a:sym typeface="+mn-ea"/>
              </a:rPr>
              <a:t>https://github.com/Karthik8844/INTERNSHIP</a:t>
            </a:r>
            <a:endParaRPr lang="en-US" dirty="0">
              <a:ea typeface="Calibri" panose="020F0502020204030204"/>
              <a:cs typeface="Calibri" panose="020F050202020403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tags/tag1.xml><?xml version="1.0" encoding="utf-8"?>
<p:tagLst xmlns:p="http://schemas.openxmlformats.org/presentationml/2006/main">
  <p:tag name="TABLE_ENDDRAG_ORIGIN_RECT" val="715*138"/>
  <p:tag name="TABLE_ENDDRAG_RECT" val="77*0*715*138"/>
</p:tagLst>
</file>

<file path=ppt/tags/tag2.xml><?xml version="1.0" encoding="utf-8"?>
<p:tagLst xmlns:p="http://schemas.openxmlformats.org/presentationml/2006/main">
  <p:tag name="TABLE_ENDDRAG_ORIGIN_RECT" val="831*370"/>
  <p:tag name="TABLE_ENDDRAG_RECT" val="85*79*831*37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8755</Words>
  <Application>WPS Presentation</Application>
  <PresentationFormat>Widescreen</PresentationFormat>
  <Paragraphs>456</Paragraphs>
  <Slides>20</Slides>
  <Notes>2</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20</vt:i4>
      </vt:variant>
    </vt:vector>
  </HeadingPairs>
  <TitlesOfParts>
    <vt:vector size="37" baseType="lpstr">
      <vt:lpstr>Arial</vt:lpstr>
      <vt:lpstr>SimSun</vt:lpstr>
      <vt:lpstr>Wingdings</vt:lpstr>
      <vt:lpstr>Arial</vt:lpstr>
      <vt:lpstr>Cambria</vt:lpstr>
      <vt:lpstr>Verdana</vt:lpstr>
      <vt:lpstr>Cambria</vt:lpstr>
      <vt:lpstr>Times New Roman</vt:lpstr>
      <vt:lpstr>Times New Roman</vt:lpstr>
      <vt:lpstr>Calibri</vt:lpstr>
      <vt:lpstr>Wingdings</vt:lpstr>
      <vt:lpstr>Calibri Light</vt:lpstr>
      <vt:lpstr>Microsoft YaHei</vt:lpstr>
      <vt:lpstr>Arial Unicode MS</vt:lpstr>
      <vt:lpstr>Calibri</vt:lpstr>
      <vt:lpstr>Calibri Light</vt:lpstr>
      <vt:lpstr>Office Theme</vt:lpstr>
      <vt:lpstr>PowerPoint 演示文稿</vt:lpstr>
      <vt:lpstr>Content</vt:lpstr>
      <vt:lpstr>About Company or Organization</vt:lpstr>
      <vt:lpstr>Working domain or the technology</vt:lpstr>
      <vt:lpstr>About your team and reporting Manager</vt:lpstr>
      <vt:lpstr>Challenges Faced in Internship</vt:lpstr>
      <vt:lpstr>Objectives of the work</vt:lpstr>
      <vt:lpstr>Literature Review</vt:lpstr>
      <vt:lpstr>Proposed System / Work</vt:lpstr>
      <vt:lpstr>Problem Statement</vt:lpstr>
      <vt:lpstr>System Requirements</vt:lpstr>
      <vt:lpstr>Advantages of Proposed System/Work</vt:lpstr>
      <vt:lpstr>System Design</vt:lpstr>
      <vt:lpstr>System Implementation (50%)</vt:lpstr>
      <vt:lpstr>System Output / Results</vt:lpstr>
      <vt:lpstr>PowerPoint 演示文稿</vt:lpstr>
      <vt:lpstr>PowerPoint 演示文稿</vt:lpstr>
      <vt:lpstr>Internship Road Map</vt:lpstr>
      <vt:lpstr>Github Link</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Karthik R</cp:lastModifiedBy>
  <cp:revision>1340</cp:revision>
  <dcterms:created xsi:type="dcterms:W3CDTF">2022-10-14T07:18:00Z</dcterms:created>
  <dcterms:modified xsi:type="dcterms:W3CDTF">2026-03-12T18:57:45Z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391044CF72C94705B16B5CC87CCECFC5_13</vt:lpwstr>
  </property>
  <property fmtid="{D5CDD505-2E9C-101B-9397-08002B2CF9AE}" pid="3" name="KSOProductBuildVer">
    <vt:lpwstr>1033-12.2.0.23196</vt:lpwstr>
  </property>
</Properties>
</file>